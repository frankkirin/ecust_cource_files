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2" r:id="rId3"/>
    <p:sldId id="282" r:id="rId4"/>
    <p:sldId id="286" r:id="rId5"/>
    <p:sldId id="287" r:id="rId6"/>
    <p:sldId id="288" r:id="rId7"/>
    <p:sldId id="289" r:id="rId8"/>
    <p:sldId id="290" r:id="rId9"/>
    <p:sldId id="285" r:id="rId10"/>
  </p:sldIdLst>
  <p:sldSz cx="9144000" cy="5145088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>
      <p:cViewPr varScale="1">
        <p:scale>
          <a:sx n="165" d="100"/>
          <a:sy n="165" d="100"/>
        </p:scale>
        <p:origin x="664" y="184"/>
      </p:cViewPr>
      <p:guideLst>
        <p:guide orient="horz" pos="162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B4A33-8CC6-4A9D-99BB-1801B6CFF545}" type="datetimeFigureOut">
              <a:rPr lang="zh-CN" altLang="en-US" smtClean="0"/>
              <a:pPr/>
              <a:t>2018/12/9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F57741-1FBC-46E9-B013-86EC6A7C2E1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691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4DF715-C661-4A4B-BB5A-CE67FF753190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9159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4DF715-C661-4A4B-BB5A-CE67FF753190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915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4DF715-C661-4A4B-BB5A-CE67FF753190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838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4DF715-C661-4A4B-BB5A-CE67FF753190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097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401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94198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0421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313"/>
            <a:ext cx="7772400" cy="110285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5550"/>
            <a:ext cx="6400800" cy="13148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886BA-5FC7-4C45-9AF2-D10BC1540A8E}" type="datetimeFigureOut">
              <a:rPr lang="zh-CN" altLang="en-US" smtClean="0"/>
              <a:pPr/>
              <a:t>2018/12/9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D0CF6-0F7D-4653-8535-B9F68734AF5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 advClick="0" advTm="0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886BA-5FC7-4C45-9AF2-D10BC1540A8E}" type="datetimeFigureOut">
              <a:rPr lang="zh-CN" altLang="en-US" smtClean="0"/>
              <a:pPr/>
              <a:t>2018/12/9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D0CF6-0F7D-4653-8535-B9F68734AF5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 advClick="0" advTm="0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6196"/>
            <a:ext cx="7772400" cy="102187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708"/>
            <a:ext cx="7772400" cy="112548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886BA-5FC7-4C45-9AF2-D10BC1540A8E}" type="datetimeFigureOut">
              <a:rPr lang="zh-CN" altLang="en-US" smtClean="0"/>
              <a:pPr/>
              <a:t>2018/12/9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D0CF6-0F7D-4653-8535-B9F68734AF5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 advClick="0" advTm="0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886BA-5FC7-4C45-9AF2-D10BC1540A8E}" type="datetimeFigureOut">
              <a:rPr lang="zh-CN" altLang="en-US" smtClean="0"/>
              <a:pPr/>
              <a:t>2018/12/9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D0CF6-0F7D-4653-8535-B9F68734AF5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 advClick="0" advTm="0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690"/>
            <a:ext cx="4040188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660"/>
            <a:ext cx="4040188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690"/>
            <a:ext cx="4041775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660"/>
            <a:ext cx="4041775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886BA-5FC7-4C45-9AF2-D10BC1540A8E}" type="datetimeFigureOut">
              <a:rPr lang="zh-CN" altLang="en-US" smtClean="0"/>
              <a:pPr/>
              <a:t>2018/12/9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D0CF6-0F7D-4653-8535-B9F68734AF5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 advClick="0" advTm="0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886BA-5FC7-4C45-9AF2-D10BC1540A8E}" type="datetimeFigureOut">
              <a:rPr lang="zh-CN" altLang="en-US" smtClean="0"/>
              <a:pPr/>
              <a:t>2018/12/9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D0CF6-0F7D-4653-8535-B9F68734AF5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 advClick="0" advTm="0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886BA-5FC7-4C45-9AF2-D10BC1540A8E}" type="datetimeFigureOut">
              <a:rPr lang="zh-CN" altLang="en-US" smtClean="0"/>
              <a:pPr/>
              <a:t>2018/12/9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D0CF6-0F7D-4653-8535-B9F68734AF5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3" y="196280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795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6" name="文本框 37"/>
          <p:cNvSpPr txBox="1"/>
          <p:nvPr userDrawn="1"/>
        </p:nvSpPr>
        <p:spPr>
          <a:xfrm>
            <a:off x="216310" y="196280"/>
            <a:ext cx="2190351" cy="315475"/>
          </a:xfrm>
          <a:prstGeom prst="rect">
            <a:avLst/>
          </a:prstGeom>
          <a:noFill/>
        </p:spPr>
        <p:txBody>
          <a:bodyPr wrap="none" lIns="68584" tIns="34292" rIns="68584" bIns="34292" rtlCol="0">
            <a:spAutoFit/>
          </a:bodyPr>
          <a:lstStyle/>
          <a:p>
            <a:pPr defTabSz="685795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</a:p>
        </p:txBody>
      </p:sp>
      <p:sp>
        <p:nvSpPr>
          <p:cNvPr id="7" name="文本框 38"/>
          <p:cNvSpPr txBox="1"/>
          <p:nvPr userDrawn="1"/>
        </p:nvSpPr>
        <p:spPr>
          <a:xfrm>
            <a:off x="265271" y="520316"/>
            <a:ext cx="2039271" cy="207753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algn="dist" defTabSz="685795"/>
            <a:r>
              <a:rPr lang="en-US" altLang="zh-CN" sz="9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ADD RELATED TITLE WORDS</a:t>
            </a:r>
            <a:endParaRPr lang="zh-CN" altLang="en-US" sz="900" dirty="0">
              <a:solidFill>
                <a:schemeClr val="bg1">
                  <a:lumMod val="7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med" advClick="0" advTm="0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851"/>
            <a:ext cx="3008313" cy="8718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851"/>
            <a:ext cx="5111750" cy="43911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658"/>
            <a:ext cx="3008313" cy="351938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886BA-5FC7-4C45-9AF2-D10BC1540A8E}" type="datetimeFigureOut">
              <a:rPr lang="zh-CN" altLang="en-US" smtClean="0"/>
              <a:pPr/>
              <a:t>2018/12/9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D0CF6-0F7D-4653-8535-B9F68734AF5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 advClick="0" advTm="0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1561"/>
            <a:ext cx="5486400" cy="42518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723"/>
            <a:ext cx="5486400" cy="30870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6746"/>
            <a:ext cx="5486400" cy="6038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886BA-5FC7-4C45-9AF2-D10BC1540A8E}" type="datetimeFigureOut">
              <a:rPr lang="zh-CN" altLang="en-US" smtClean="0"/>
              <a:pPr/>
              <a:t>2018/12/9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D0CF6-0F7D-4653-8535-B9F68734AF5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 advClick="0" advTm="0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886BA-5FC7-4C45-9AF2-D10BC1540A8E}" type="datetimeFigureOut">
              <a:rPr lang="zh-CN" altLang="en-US" smtClean="0"/>
              <a:pPr/>
              <a:t>2018/12/9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D0CF6-0F7D-4653-8535-B9F68734AF5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 advClick="0" advTm="0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6156176" y="4480756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829"/>
            <a:ext cx="2057400" cy="329309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829"/>
            <a:ext cx="6019800" cy="329309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886BA-5FC7-4C45-9AF2-D10BC1540A8E}" type="datetimeFigureOut">
              <a:rPr lang="zh-CN" altLang="en-US" smtClean="0"/>
              <a:pPr/>
              <a:t>2018/12/9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D0CF6-0F7D-4653-8535-B9F68734AF5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 advClick="0" advTm="0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1585768"/>
      </p:ext>
    </p:extLst>
  </p:cSld>
  <p:clrMapOvr>
    <a:masterClrMapping/>
  </p:clrMapOvr>
  <p:transition spd="med" advClick="0" advTm="0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1110394"/>
      </p:ext>
    </p:extLst>
  </p:cSld>
  <p:clrMapOvr>
    <a:masterClrMapping/>
  </p:clrMapOvr>
  <p:transition spd="med" advClick="0" advTm="0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521"/>
            <a:ext cx="8229600" cy="3395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886BA-5FC7-4C45-9AF2-D10BC1540A8E}" type="datetimeFigureOut">
              <a:rPr lang="zh-CN" altLang="en-US" smtClean="0"/>
              <a:pPr/>
              <a:t>2018/12/9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8735"/>
            <a:ext cx="2895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6D0CF6-0F7D-4653-8535-B9F68734AF5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3" r:id="rId13"/>
  </p:sldLayoutIdLst>
  <p:transition spd="med" advClick="0" advTm="0">
    <p:random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7" Type="http://schemas.openxmlformats.org/officeDocument/2006/relationships/image" Target="../media/image1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32" r="49845" b="47264"/>
          <a:stretch>
            <a:fillRect/>
          </a:stretch>
        </p:blipFill>
        <p:spPr>
          <a:xfrm>
            <a:off x="6192180" y="0"/>
            <a:ext cx="2124236" cy="36166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7" t="29111" r="82360" b="55664"/>
          <a:stretch>
            <a:fillRect/>
          </a:stretch>
        </p:blipFill>
        <p:spPr>
          <a:xfrm>
            <a:off x="2545537" y="1384412"/>
            <a:ext cx="936104" cy="1044116"/>
          </a:xfrm>
          <a:prstGeom prst="rect">
            <a:avLst/>
          </a:prstGeom>
        </p:spPr>
      </p:pic>
      <p:sp>
        <p:nvSpPr>
          <p:cNvPr id="6" name="PA_文本框 6"/>
          <p:cNvSpPr txBox="1"/>
          <p:nvPr>
            <p:custDataLst>
              <p:tags r:id="rId1"/>
            </p:custDataLst>
          </p:nvPr>
        </p:nvSpPr>
        <p:spPr>
          <a:xfrm>
            <a:off x="2128507" y="2871748"/>
            <a:ext cx="2392001" cy="70076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b="1" dirty="0">
                <a:solidFill>
                  <a:schemeClr val="accent1"/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</a:rPr>
              <a:t>算法第</a:t>
            </a:r>
            <a:r>
              <a:rPr lang="en-US" altLang="zh-CN" sz="3600" b="1" dirty="0">
                <a:solidFill>
                  <a:schemeClr val="accent1"/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</a:rPr>
              <a:t>8</a:t>
            </a:r>
            <a:r>
              <a:rPr lang="zh-CN" altLang="en-US" sz="3600" b="1" dirty="0">
                <a:solidFill>
                  <a:schemeClr val="accent1"/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</a:rPr>
              <a:t>组</a:t>
            </a:r>
          </a:p>
        </p:txBody>
      </p:sp>
      <p:sp>
        <p:nvSpPr>
          <p:cNvPr id="7" name="PA_半闭框 7"/>
          <p:cNvSpPr/>
          <p:nvPr>
            <p:custDataLst>
              <p:tags r:id="rId2"/>
            </p:custDataLst>
          </p:nvPr>
        </p:nvSpPr>
        <p:spPr>
          <a:xfrm>
            <a:off x="1835696" y="2779146"/>
            <a:ext cx="1260140" cy="793371"/>
          </a:xfrm>
          <a:prstGeom prst="halfFrame">
            <a:avLst>
              <a:gd name="adj1" fmla="val 889"/>
              <a:gd name="adj2" fmla="val 1333"/>
            </a:avLst>
          </a:prstGeom>
          <a:solidFill>
            <a:srgbClr val="656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文本框 9"/>
          <p:cNvSpPr txBox="1"/>
          <p:nvPr/>
        </p:nvSpPr>
        <p:spPr>
          <a:xfrm>
            <a:off x="1979712" y="3571254"/>
            <a:ext cx="1728192" cy="110453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方正兰亭超细黑简体" pitchFamily="2" charset="-122"/>
                <a:ea typeface="方正兰亭超细黑简体" pitchFamily="2" charset="-122"/>
              </a:rPr>
              <a:t>汇报人：叶凯灵</a:t>
            </a:r>
            <a:r>
              <a:rPr lang="en-US" altLang="zh-CN" sz="14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方正兰亭超细黑简体" pitchFamily="2" charset="-122"/>
                <a:ea typeface="方正兰亭超细黑简体" pitchFamily="2" charset="-122"/>
              </a:rPr>
              <a:t>        </a:t>
            </a:r>
          </a:p>
          <a:p>
            <a:pPr algn="ctr">
              <a:lnSpc>
                <a:spcPct val="120000"/>
              </a:lnSpc>
            </a:pPr>
            <a:r>
              <a:rPr lang="en-US" altLang="zh-CN" sz="14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方正兰亭超细黑简体" pitchFamily="2" charset="-122"/>
                <a:ea typeface="方正兰亭超细黑简体" pitchFamily="2" charset="-122"/>
              </a:rPr>
              <a:t>         </a:t>
            </a:r>
            <a:r>
              <a:rPr lang="zh-CN" altLang="en-US" sz="14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方正兰亭超细黑简体" pitchFamily="2" charset="-122"/>
                <a:ea typeface="方正兰亭超细黑简体" pitchFamily="2" charset="-122"/>
              </a:rPr>
              <a:t>黄雪茹</a:t>
            </a:r>
            <a:endParaRPr lang="en-US" altLang="zh-CN" sz="1400" spc="300" dirty="0">
              <a:solidFill>
                <a:schemeClr val="tx1">
                  <a:lumMod val="65000"/>
                  <a:lumOff val="35000"/>
                </a:schemeClr>
              </a:solidFill>
              <a:latin typeface="方正兰亭超细黑简体" pitchFamily="2" charset="-122"/>
              <a:ea typeface="方正兰亭超细黑简体" pitchFamily="2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4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方正兰亭超细黑简体" pitchFamily="2" charset="-122"/>
                <a:ea typeface="方正兰亭超细黑简体" pitchFamily="2" charset="-122"/>
              </a:rPr>
              <a:t>         </a:t>
            </a:r>
            <a:r>
              <a:rPr lang="zh-CN" altLang="en-US" sz="14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方正兰亭超细黑简体" pitchFamily="2" charset="-122"/>
                <a:ea typeface="方正兰亭超细黑简体" pitchFamily="2" charset="-122"/>
              </a:rPr>
              <a:t>周子宜</a:t>
            </a:r>
            <a:r>
              <a:rPr lang="en-US" altLang="zh-CN" sz="14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方正兰亭超细黑简体" pitchFamily="2" charset="-122"/>
                <a:ea typeface="方正兰亭超细黑简体" pitchFamily="2" charset="-122"/>
              </a:rPr>
              <a:t>      </a:t>
            </a:r>
          </a:p>
          <a:p>
            <a:pPr algn="ctr">
              <a:lnSpc>
                <a:spcPct val="120000"/>
              </a:lnSpc>
            </a:pPr>
            <a:r>
              <a:rPr lang="zh-CN" altLang="en-US" sz="14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方正兰亭超细黑简体" pitchFamily="2" charset="-122"/>
                <a:ea typeface="方正兰亭超细黑简体" pitchFamily="2" charset="-122"/>
              </a:rPr>
              <a:t>        许 力</a:t>
            </a:r>
            <a:endParaRPr lang="en-US" altLang="zh-CN" sz="1200" spc="300" dirty="0">
              <a:solidFill>
                <a:schemeClr val="tx1">
                  <a:lumMod val="65000"/>
                  <a:lumOff val="35000"/>
                </a:schemeClr>
              </a:solidFill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10" name="PA_文本框 6"/>
          <p:cNvSpPr txBox="1"/>
          <p:nvPr>
            <p:custDataLst>
              <p:tags r:id="rId3"/>
            </p:custDataLst>
          </p:nvPr>
        </p:nvSpPr>
        <p:spPr>
          <a:xfrm>
            <a:off x="1691680" y="1104016"/>
            <a:ext cx="853857" cy="146852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8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PA_文本框 6"/>
          <p:cNvSpPr txBox="1"/>
          <p:nvPr>
            <p:custDataLst>
              <p:tags r:id="rId4"/>
            </p:custDataLst>
          </p:nvPr>
        </p:nvSpPr>
        <p:spPr>
          <a:xfrm>
            <a:off x="3445637" y="1140020"/>
            <a:ext cx="1386918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endParaRPr lang="zh-CN" altLang="en-US" sz="8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PA_半闭框 7"/>
          <p:cNvSpPr/>
          <p:nvPr>
            <p:custDataLst>
              <p:tags r:id="rId5"/>
            </p:custDataLst>
          </p:nvPr>
        </p:nvSpPr>
        <p:spPr>
          <a:xfrm flipH="1" flipV="1">
            <a:off x="4004320" y="3014481"/>
            <a:ext cx="1107740" cy="700769"/>
          </a:xfrm>
          <a:prstGeom prst="halfFrame">
            <a:avLst>
              <a:gd name="adj1" fmla="val 889"/>
              <a:gd name="adj2" fmla="val 1333"/>
            </a:avLst>
          </a:prstGeom>
          <a:solidFill>
            <a:srgbClr val="656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00"/>
                            </p:stCondLst>
                            <p:childTnLst>
                              <p:par>
                                <p:cTn id="2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000"/>
                            </p:stCondLst>
                            <p:childTnLst>
                              <p:par>
                                <p:cTn id="4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 autoUpdateAnimBg="0"/>
      <p:bldP spid="9" grpId="0"/>
      <p:bldP spid="10" grpId="0"/>
      <p:bldP spid="11" grpId="0"/>
      <p:bldP spid="12" grpId="0" animBg="1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2"/>
          <p:cNvSpPr txBox="1">
            <a:spLocks noChangeArrowheads="1"/>
          </p:cNvSpPr>
          <p:nvPr/>
        </p:nvSpPr>
        <p:spPr bwMode="auto">
          <a:xfrm>
            <a:off x="3023828" y="2848712"/>
            <a:ext cx="4064705" cy="5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algn="ctr"/>
            <a:r>
              <a:rPr lang="en-US" altLang="zh-CN" sz="2800" b="1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方正兰亭超细黑简体" pitchFamily="2" charset="-122"/>
                <a:ea typeface="方正兰亭超细黑简体" pitchFamily="2" charset="-122"/>
                <a:cs typeface="Times New Roman" panose="02020603050405020304" pitchFamily="18" charset="0"/>
              </a:rPr>
              <a:t>Floyd</a:t>
            </a:r>
            <a:r>
              <a:rPr lang="zh-CN" altLang="en-US" sz="2800" b="1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方正兰亭超细黑简体" pitchFamily="2" charset="-122"/>
                <a:ea typeface="方正兰亭超细黑简体" pitchFamily="2" charset="-122"/>
                <a:cs typeface="Times New Roman" panose="02020603050405020304" pitchFamily="18" charset="0"/>
              </a:rPr>
              <a:t>弗洛伊德算法</a:t>
            </a:r>
            <a:endParaRPr lang="zh-CN" altLang="en-US" sz="2800" b="1" dirty="0">
              <a:solidFill>
                <a:srgbClr val="093B5C"/>
              </a:solidFill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16" name="文本框 14"/>
          <p:cNvSpPr txBox="1">
            <a:spLocks noChangeArrowheads="1"/>
          </p:cNvSpPr>
          <p:nvPr/>
        </p:nvSpPr>
        <p:spPr bwMode="auto">
          <a:xfrm>
            <a:off x="4276746" y="2337506"/>
            <a:ext cx="1558868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algn="ctr" eaLnBrk="1" hangingPunct="1"/>
            <a:r>
              <a:rPr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黄雪茹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32" r="49845" b="47264"/>
          <a:stretch>
            <a:fillRect/>
          </a:stretch>
        </p:blipFill>
        <p:spPr>
          <a:xfrm flipH="1">
            <a:off x="2159732" y="0"/>
            <a:ext cx="2088232" cy="3040091"/>
          </a:xfrm>
          <a:prstGeom prst="rect">
            <a:avLst/>
          </a:prstGeom>
        </p:spPr>
      </p:pic>
      <p:sp>
        <p:nvSpPr>
          <p:cNvPr id="10" name="PA_半闭框 7"/>
          <p:cNvSpPr/>
          <p:nvPr>
            <p:custDataLst>
              <p:tags r:id="rId1"/>
            </p:custDataLst>
          </p:nvPr>
        </p:nvSpPr>
        <p:spPr>
          <a:xfrm flipH="1">
            <a:off x="3563888" y="2738741"/>
            <a:ext cx="3288157" cy="720080"/>
          </a:xfrm>
          <a:prstGeom prst="halfFrame">
            <a:avLst>
              <a:gd name="adj1" fmla="val 889"/>
              <a:gd name="adj2" fmla="val 1333"/>
            </a:avLst>
          </a:prstGeom>
          <a:solidFill>
            <a:srgbClr val="656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90391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07407E-6 L 0.34896 -4.07407E-6 " pathEditMode="relative" rAng="0" ptsTypes="AA">
                                      <p:cBhvr>
                                        <p:cTn id="22" dur="10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4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16" grpId="0"/>
      <p:bldP spid="10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FD359CD-5847-41A4-A3F0-89783D028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-2996"/>
            <a:ext cx="7268985" cy="489654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32" r="49845" b="47264"/>
          <a:stretch>
            <a:fillRect/>
          </a:stretch>
        </p:blipFill>
        <p:spPr>
          <a:xfrm flipH="1">
            <a:off x="-180528" y="0"/>
            <a:ext cx="2088232" cy="304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0391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2"/>
          <p:cNvSpPr txBox="1">
            <a:spLocks noChangeArrowheads="1"/>
          </p:cNvSpPr>
          <p:nvPr/>
        </p:nvSpPr>
        <p:spPr bwMode="auto">
          <a:xfrm>
            <a:off x="3023828" y="2848712"/>
            <a:ext cx="4064705" cy="561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algn="ctr"/>
            <a:r>
              <a:rPr lang="ja-JP" altLang="en-US" sz="3200" b="1" kern="100">
                <a:solidFill>
                  <a:schemeClr val="tx1">
                    <a:lumMod val="50000"/>
                    <a:lumOff val="50000"/>
                  </a:schemeClr>
                </a:solidFill>
                <a:cs typeface="Times New Roman" panose="02020603050405020304" pitchFamily="18" charset="0"/>
              </a:rPr>
              <a:t>矩阵连乘</a:t>
            </a:r>
            <a:r>
              <a:rPr lang="en-US" altLang="ja-JP" sz="3200" b="1" kern="100" dirty="0">
                <a:solidFill>
                  <a:schemeClr val="tx1">
                    <a:lumMod val="50000"/>
                    <a:lumOff val="50000"/>
                  </a:schemeClr>
                </a:solidFill>
                <a:ea typeface="方正兰亭超细黑简体" pitchFamily="2" charset="-122"/>
                <a:cs typeface="Times New Roman" panose="02020603050405020304" pitchFamily="18" charset="0"/>
              </a:rPr>
              <a:t>(</a:t>
            </a:r>
            <a:r>
              <a:rPr lang="ja-JP" altLang="en-US" sz="3200" b="1" kern="100">
                <a:solidFill>
                  <a:schemeClr val="tx1">
                    <a:lumMod val="50000"/>
                    <a:lumOff val="50000"/>
                  </a:schemeClr>
                </a:solidFill>
                <a:cs typeface="Times New Roman" panose="02020603050405020304" pitchFamily="18" charset="0"/>
              </a:rPr>
              <a:t>动态规划</a:t>
            </a:r>
            <a:r>
              <a:rPr lang="en-US" altLang="ja-JP" sz="3200" b="1" kern="100" dirty="0">
                <a:solidFill>
                  <a:schemeClr val="tx1">
                    <a:lumMod val="50000"/>
                    <a:lumOff val="50000"/>
                  </a:schemeClr>
                </a:solidFill>
                <a:ea typeface="方正兰亭超细黑简体" pitchFamily="2" charset="-122"/>
                <a:cs typeface="Times New Roman" panose="02020603050405020304" pitchFamily="18" charset="0"/>
              </a:rPr>
              <a:t>)</a:t>
            </a:r>
            <a:endParaRPr lang="zh-CN" altLang="en-US" sz="3200" b="1" kern="100" dirty="0">
              <a:solidFill>
                <a:schemeClr val="tx1">
                  <a:lumMod val="50000"/>
                  <a:lumOff val="50000"/>
                </a:schemeClr>
              </a:solidFill>
              <a:ea typeface="方正兰亭超细黑简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4"/>
          <p:cNvSpPr txBox="1">
            <a:spLocks noChangeArrowheads="1"/>
          </p:cNvSpPr>
          <p:nvPr/>
        </p:nvSpPr>
        <p:spPr bwMode="auto">
          <a:xfrm>
            <a:off x="4276746" y="2337506"/>
            <a:ext cx="1558868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algn="ctr" eaLnBrk="1" hangingPunct="1"/>
            <a:r>
              <a:rPr lang="ja-JP" alt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叶凯灵</a:t>
            </a:r>
            <a:endParaRPr lang="zh-CN" altLang="en-US" sz="1800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32" r="49845" b="47264"/>
          <a:stretch>
            <a:fillRect/>
          </a:stretch>
        </p:blipFill>
        <p:spPr>
          <a:xfrm flipH="1">
            <a:off x="2159732" y="0"/>
            <a:ext cx="2088232" cy="3040091"/>
          </a:xfrm>
          <a:prstGeom prst="rect">
            <a:avLst/>
          </a:prstGeom>
        </p:spPr>
      </p:pic>
      <p:sp>
        <p:nvSpPr>
          <p:cNvPr id="10" name="PA_半闭框 7"/>
          <p:cNvSpPr/>
          <p:nvPr>
            <p:custDataLst>
              <p:tags r:id="rId1"/>
            </p:custDataLst>
          </p:nvPr>
        </p:nvSpPr>
        <p:spPr>
          <a:xfrm flipH="1">
            <a:off x="3563888" y="2738741"/>
            <a:ext cx="3288157" cy="720080"/>
          </a:xfrm>
          <a:prstGeom prst="halfFrame">
            <a:avLst>
              <a:gd name="adj1" fmla="val 889"/>
              <a:gd name="adj2" fmla="val 1333"/>
            </a:avLst>
          </a:prstGeom>
          <a:solidFill>
            <a:srgbClr val="656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86330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07407E-6 L 0.34896 -4.07407E-6 " pathEditMode="relative" rAng="0" ptsTypes="AA">
                                      <p:cBhvr>
                                        <p:cTn id="22" dur="10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4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16" grpId="0"/>
      <p:bldP spid="10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32" r="49845" b="47264"/>
          <a:stretch>
            <a:fillRect/>
          </a:stretch>
        </p:blipFill>
        <p:spPr>
          <a:xfrm flipH="1">
            <a:off x="-180528" y="0"/>
            <a:ext cx="2088232" cy="30400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09EA65-E8F2-F541-9BD0-2FB8DC5DE3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520316"/>
            <a:ext cx="6783574" cy="375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7913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_文本框 9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355976" y="1584535"/>
            <a:ext cx="4499992" cy="2028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例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：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{A1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A2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A3}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；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维数分别为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10*100 , 100*5 , 5*50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按此顺序计算需要的次数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((A1*A2)*A3):10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*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100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*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5+10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*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5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*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50=7500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(A1*(A2*A3)):10*5*50+10*100*50=75000</a:t>
            </a: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PA_文本框 39"/>
          <p:cNvSpPr txBox="1"/>
          <p:nvPr>
            <p:custDataLst>
              <p:tags r:id="rId2"/>
            </p:custDataLst>
          </p:nvPr>
        </p:nvSpPr>
        <p:spPr>
          <a:xfrm>
            <a:off x="610408" y="2000034"/>
            <a:ext cx="3242663" cy="16130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由于矩阵乘法满足结合律，故计算矩阵的连乘积可以有许多不同的计算次序。这种计算次序可以用加括号的方式来确定。</a:t>
            </a:r>
            <a:endParaRPr lang="zh-CN" altLang="en-US" sz="600" dirty="0">
              <a:solidFill>
                <a:schemeClr val="bg1">
                  <a:lumMod val="6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139952" y="1780455"/>
            <a:ext cx="0" cy="20522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253" y="196280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795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6" name="文本框 37"/>
          <p:cNvSpPr txBox="1"/>
          <p:nvPr/>
        </p:nvSpPr>
        <p:spPr>
          <a:xfrm>
            <a:off x="216310" y="196280"/>
            <a:ext cx="2015430" cy="561696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defTabSz="685795"/>
            <a:r>
              <a:rPr lang="ja-JP" altLang="en-US" sz="3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矩阵连乘</a:t>
            </a:r>
            <a:endParaRPr lang="zh-CN" altLang="en-US" sz="3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317698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_文本框 39"/>
          <p:cNvSpPr txBox="1"/>
          <p:nvPr>
            <p:custDataLst>
              <p:tags r:id="rId1"/>
            </p:custDataLst>
          </p:nvPr>
        </p:nvSpPr>
        <p:spPr>
          <a:xfrm>
            <a:off x="2159732" y="1492424"/>
            <a:ext cx="5436604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将大问题划分为具有</a:t>
            </a:r>
            <a:r>
              <a:rPr lang="ja-JP" altLang="en-US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相同特征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的小问题；</a:t>
            </a:r>
            <a:endParaRPr lang="en-US" altLang="ja-JP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ja-JP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小问题之间往往相互联系；</a:t>
            </a:r>
            <a:endParaRPr lang="en-US" altLang="ja-JP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ja-JP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3.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从小问题一步步求解大问题。</a:t>
            </a:r>
            <a:endParaRPr lang="en-US" altLang="ja-JP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b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4.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适合求解最优解问题</a:t>
            </a:r>
          </a:p>
        </p:txBody>
      </p:sp>
      <p:sp>
        <p:nvSpPr>
          <p:cNvPr id="15" name="矩形 14"/>
          <p:cNvSpPr/>
          <p:nvPr/>
        </p:nvSpPr>
        <p:spPr>
          <a:xfrm>
            <a:off x="253" y="196280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795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6" name="文本框 37"/>
          <p:cNvSpPr txBox="1"/>
          <p:nvPr/>
        </p:nvSpPr>
        <p:spPr>
          <a:xfrm>
            <a:off x="216310" y="196280"/>
            <a:ext cx="2015430" cy="561696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defTabSz="685795"/>
            <a:r>
              <a:rPr lang="ja-JP" altLang="en-US" sz="3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动态规划</a:t>
            </a:r>
            <a:endParaRPr lang="zh-CN" altLang="en-US" sz="3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670737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_文本框 39"/>
          <p:cNvSpPr txBox="1"/>
          <p:nvPr>
            <p:custDataLst>
              <p:tags r:id="rId1"/>
            </p:custDataLst>
          </p:nvPr>
        </p:nvSpPr>
        <p:spPr>
          <a:xfrm>
            <a:off x="1402781" y="2392524"/>
            <a:ext cx="6228692" cy="16130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当 </a:t>
            </a:r>
            <a:r>
              <a:rPr lang="en-US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=j 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时，单一矩阵，无需计算。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m[</a:t>
            </a:r>
            <a:r>
              <a:rPr lang="en-US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][j]=0，i=0,1，....n-1</a:t>
            </a:r>
          </a:p>
          <a:p>
            <a:pPr>
              <a:lnSpc>
                <a:spcPct val="150000"/>
              </a:lnSpc>
            </a:pPr>
            <a:b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当 </a:t>
            </a:r>
            <a:r>
              <a:rPr lang="en-US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&lt; j 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时，利用最优子结构，计算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m[</a:t>
            </a:r>
            <a:r>
              <a:rPr lang="en-US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][j]。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即寻找断开位置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k(</a:t>
            </a:r>
            <a:r>
              <a:rPr lang="en-US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&lt;= k &lt; j)，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使得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m[</a:t>
            </a:r>
            <a:r>
              <a:rPr lang="en-US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][k]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m[k+1][j]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r>
              <a:rPr lang="en-US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i-1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*P</a:t>
            </a:r>
            <a:r>
              <a:rPr lang="en-US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k+1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lang="en-US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r>
              <a:rPr lang="en-US" baseline="-25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j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最小。</a:t>
            </a:r>
          </a:p>
        </p:txBody>
      </p:sp>
      <p:sp>
        <p:nvSpPr>
          <p:cNvPr id="15" name="矩形 14"/>
          <p:cNvSpPr/>
          <p:nvPr/>
        </p:nvSpPr>
        <p:spPr>
          <a:xfrm>
            <a:off x="253" y="196280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795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6" name="文本框 37"/>
          <p:cNvSpPr txBox="1"/>
          <p:nvPr/>
        </p:nvSpPr>
        <p:spPr>
          <a:xfrm>
            <a:off x="216310" y="196280"/>
            <a:ext cx="3599606" cy="561696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defTabSz="685795"/>
            <a:r>
              <a:rPr lang="ja-JP" altLang="en-US" sz="3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矩阵连乘动态规划</a:t>
            </a:r>
            <a:endParaRPr lang="zh-CN" altLang="en-US" sz="3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1FEBC2-3164-9D49-B5AA-44B6548189D7}"/>
              </a:ext>
            </a:extLst>
          </p:cNvPr>
          <p:cNvSpPr/>
          <p:nvPr/>
        </p:nvSpPr>
        <p:spPr>
          <a:xfrm>
            <a:off x="1331640" y="1228566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关键是找出矩阵的最优子结构</a:t>
            </a:r>
            <a:endParaRPr lang="en-US" altLang="ja-JP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95C73F-B86A-404C-A8A0-EFBF68F0BF7A}"/>
              </a:ext>
            </a:extLst>
          </p:cNvPr>
          <p:cNvSpPr txBox="1"/>
          <p:nvPr/>
        </p:nvSpPr>
        <p:spPr>
          <a:xfrm>
            <a:off x="1331640" y="1810545"/>
            <a:ext cx="59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m[</a:t>
            </a:r>
            <a:r>
              <a:rPr lang="en-US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][j]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存储矩阵连乘最优次数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避免重复计算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提高效率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6457788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32" r="49845" b="47264"/>
          <a:stretch>
            <a:fillRect/>
          </a:stretch>
        </p:blipFill>
        <p:spPr>
          <a:xfrm>
            <a:off x="6192180" y="0"/>
            <a:ext cx="2124236" cy="36166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7" t="29111" r="82360" b="55664"/>
          <a:stretch>
            <a:fillRect/>
          </a:stretch>
        </p:blipFill>
        <p:spPr>
          <a:xfrm>
            <a:off x="2545537" y="1420416"/>
            <a:ext cx="936104" cy="1044116"/>
          </a:xfrm>
          <a:prstGeom prst="rect">
            <a:avLst/>
          </a:prstGeom>
        </p:spPr>
      </p:pic>
      <p:sp>
        <p:nvSpPr>
          <p:cNvPr id="6" name="PA_文本框 6"/>
          <p:cNvSpPr txBox="1"/>
          <p:nvPr>
            <p:custDataLst>
              <p:tags r:id="rId1"/>
            </p:custDataLst>
          </p:nvPr>
        </p:nvSpPr>
        <p:spPr>
          <a:xfrm>
            <a:off x="2688863" y="2864750"/>
            <a:ext cx="1107996" cy="70076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b="1" dirty="0">
                <a:solidFill>
                  <a:schemeClr val="accent1"/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</a:rPr>
              <a:t>谢谢</a:t>
            </a:r>
          </a:p>
        </p:txBody>
      </p:sp>
      <p:sp>
        <p:nvSpPr>
          <p:cNvPr id="7" name="PA_半闭框 7"/>
          <p:cNvSpPr/>
          <p:nvPr>
            <p:custDataLst>
              <p:tags r:id="rId2"/>
            </p:custDataLst>
          </p:nvPr>
        </p:nvSpPr>
        <p:spPr>
          <a:xfrm>
            <a:off x="2088247" y="2844171"/>
            <a:ext cx="817853" cy="700769"/>
          </a:xfrm>
          <a:prstGeom prst="halfFrame">
            <a:avLst>
              <a:gd name="adj1" fmla="val 889"/>
              <a:gd name="adj2" fmla="val 1333"/>
            </a:avLst>
          </a:prstGeom>
          <a:solidFill>
            <a:srgbClr val="656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PA_文本框 6"/>
          <p:cNvSpPr txBox="1"/>
          <p:nvPr>
            <p:custDataLst>
              <p:tags r:id="rId3"/>
            </p:custDataLst>
          </p:nvPr>
        </p:nvSpPr>
        <p:spPr>
          <a:xfrm>
            <a:off x="1691680" y="1158966"/>
            <a:ext cx="817853" cy="145975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</a:rPr>
              <a:t>2</a:t>
            </a:r>
            <a:endParaRPr lang="zh-CN" altLang="en-US" sz="8000" b="1" dirty="0">
              <a:solidFill>
                <a:schemeClr val="tx1">
                  <a:lumMod val="75000"/>
                  <a:lumOff val="25000"/>
                </a:schemeClr>
              </a:solidFill>
              <a:latin typeface="方正兰亭超细黑简体" panose="02000000000000000000" pitchFamily="2" charset="-122"/>
              <a:ea typeface="方正兰亭超细黑简体" panose="02000000000000000000" pitchFamily="2" charset="-122"/>
            </a:endParaRPr>
          </a:p>
        </p:txBody>
      </p:sp>
      <p:sp>
        <p:nvSpPr>
          <p:cNvPr id="11" name="PA_文本框 6"/>
          <p:cNvSpPr txBox="1"/>
          <p:nvPr>
            <p:custDataLst>
              <p:tags r:id="rId4"/>
            </p:custDataLst>
          </p:nvPr>
        </p:nvSpPr>
        <p:spPr>
          <a:xfrm>
            <a:off x="3445637" y="1194970"/>
            <a:ext cx="1519968" cy="145975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</a:rPr>
              <a:t>18</a:t>
            </a:r>
            <a:endParaRPr lang="zh-CN" altLang="en-US" sz="8000" b="1" dirty="0">
              <a:solidFill>
                <a:schemeClr val="tx1">
                  <a:lumMod val="75000"/>
                  <a:lumOff val="25000"/>
                </a:schemeClr>
              </a:solidFill>
              <a:latin typeface="方正兰亭超细黑简体" panose="02000000000000000000" pitchFamily="2" charset="-122"/>
              <a:ea typeface="方正兰亭超细黑简体" panose="02000000000000000000" pitchFamily="2" charset="-122"/>
            </a:endParaRPr>
          </a:p>
        </p:txBody>
      </p:sp>
      <p:sp>
        <p:nvSpPr>
          <p:cNvPr id="12" name="PA_半闭框 7"/>
          <p:cNvSpPr/>
          <p:nvPr>
            <p:custDataLst>
              <p:tags r:id="rId5"/>
            </p:custDataLst>
          </p:nvPr>
        </p:nvSpPr>
        <p:spPr>
          <a:xfrm flipH="1" flipV="1">
            <a:off x="3481641" y="2915892"/>
            <a:ext cx="973179" cy="700768"/>
          </a:xfrm>
          <a:prstGeom prst="halfFrame">
            <a:avLst>
              <a:gd name="adj1" fmla="val 889"/>
              <a:gd name="adj2" fmla="val 1333"/>
            </a:avLst>
          </a:prstGeom>
          <a:solidFill>
            <a:srgbClr val="656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00"/>
                            </p:stCondLst>
                            <p:childTnLst>
                              <p:par>
                                <p:cTn id="2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000"/>
                            </p:stCondLst>
                            <p:childTnLst>
                              <p:par>
                                <p:cTn id="4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 autoUpdateAnimBg="0"/>
      <p:bldP spid="10" grpId="0"/>
      <p:bldP spid="11" grpId="0"/>
      <p:bldP spid="12" grpId="0" animBg="1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第一PPT，www.1ppt.com">
  <a:themeElements>
    <a:clrScheme name="自定义 54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585251"/>
      </a:accent1>
      <a:accent2>
        <a:srgbClr val="EEE895"/>
      </a:accent2>
      <a:accent3>
        <a:srgbClr val="585251"/>
      </a:accent3>
      <a:accent4>
        <a:srgbClr val="EEE895"/>
      </a:accent4>
      <a:accent5>
        <a:srgbClr val="585251"/>
      </a:accent5>
      <a:accent6>
        <a:srgbClr val="EEE89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</TotalTime>
  <Words>234</Words>
  <Application>Microsoft Macintosh PowerPoint</Application>
  <PresentationFormat>Custom</PresentationFormat>
  <Paragraphs>37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Microsoft YaHei</vt:lpstr>
      <vt:lpstr>Microsoft YaHei</vt:lpstr>
      <vt:lpstr>ＭＳ Ｐゴシック</vt:lpstr>
      <vt:lpstr>宋体</vt:lpstr>
      <vt:lpstr>方正兰亭超细黑简体</vt:lpstr>
      <vt:lpstr>方正正黑简体</vt:lpstr>
      <vt:lpstr>Arial</vt:lpstr>
      <vt:lpstr>Calibri</vt:lpstr>
      <vt:lpstr>Times New Roman</vt:lpstr>
      <vt:lpstr>第一PPT，www.1ppt.com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第一PPT，www.1ppt.com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dc:description>www.1ppt.com</dc:description>
  <cp:lastModifiedBy>Microsoft Office User</cp:lastModifiedBy>
  <cp:revision>307</cp:revision>
  <dcterms:created xsi:type="dcterms:W3CDTF">2017-06-09T15:26:17Z</dcterms:created>
  <dcterms:modified xsi:type="dcterms:W3CDTF">2018-12-09T12:11:01Z</dcterms:modified>
</cp:coreProperties>
</file>