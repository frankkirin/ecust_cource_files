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2" r:id="rId1"/>
  </p:sldMasterIdLst>
  <p:sldIdLst>
    <p:sldId id="256" r:id="rId2"/>
    <p:sldId id="257" r:id="rId3"/>
    <p:sldId id="258" r:id="rId4"/>
    <p:sldId id="259" r:id="rId5"/>
    <p:sldId id="260" r:id="rId6"/>
    <p:sldId id="261" r:id="rId7"/>
    <p:sldId id="282" r:id="rId8"/>
    <p:sldId id="262" r:id="rId9"/>
    <p:sldId id="291" r:id="rId10"/>
    <p:sldId id="312" r:id="rId11"/>
    <p:sldId id="313" r:id="rId12"/>
    <p:sldId id="266" r:id="rId13"/>
    <p:sldId id="292" r:id="rId14"/>
    <p:sldId id="293" r:id="rId15"/>
    <p:sldId id="294" r:id="rId16"/>
    <p:sldId id="295" r:id="rId17"/>
    <p:sldId id="264" r:id="rId18"/>
    <p:sldId id="267" r:id="rId19"/>
    <p:sldId id="269" r:id="rId20"/>
    <p:sldId id="270" r:id="rId21"/>
    <p:sldId id="271" r:id="rId22"/>
    <p:sldId id="272" r:id="rId23"/>
    <p:sldId id="275" r:id="rId24"/>
    <p:sldId id="273" r:id="rId25"/>
    <p:sldId id="285" r:id="rId26"/>
    <p:sldId id="296" r:id="rId27"/>
    <p:sldId id="276" r:id="rId28"/>
    <p:sldId id="274" r:id="rId29"/>
    <p:sldId id="277" r:id="rId30"/>
    <p:sldId id="297" r:id="rId31"/>
    <p:sldId id="298" r:id="rId32"/>
    <p:sldId id="299" r:id="rId33"/>
    <p:sldId id="300" r:id="rId34"/>
    <p:sldId id="301" r:id="rId35"/>
    <p:sldId id="302" r:id="rId36"/>
    <p:sldId id="278" r:id="rId37"/>
    <p:sldId id="279" r:id="rId38"/>
    <p:sldId id="280" r:id="rId39"/>
    <p:sldId id="281" r:id="rId40"/>
    <p:sldId id="284" r:id="rId41"/>
    <p:sldId id="305" r:id="rId42"/>
    <p:sldId id="303" r:id="rId43"/>
    <p:sldId id="304" r:id="rId44"/>
    <p:sldId id="306" r:id="rId45"/>
    <p:sldId id="310" r:id="rId46"/>
    <p:sldId id="311"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6429" autoAdjust="0"/>
  </p:normalViewPr>
  <p:slideViewPr>
    <p:cSldViewPr snapToGrid="0">
      <p:cViewPr varScale="1">
        <p:scale>
          <a:sx n="116" d="100"/>
          <a:sy n="116" d="100"/>
        </p:scale>
        <p:origin x="39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5923F103-BC34-4FE4-A40E-EDDEECFDA5D0}" type="datetimeFigureOut">
              <a:rPr lang="en-US" smtClean="0"/>
              <a:pPr/>
              <a:t>12/5/2018</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2292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smtClean="0"/>
              <a:t>12/5/2018</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35728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F34E6425-0181-43F2-84FC-787E803FD2F8}" type="datetimeFigureOut">
              <a:rPr lang="en-US" smtClean="0"/>
              <a:t>12/5/2018</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8270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smtClean="0"/>
              <a:t>12/5/2018</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3781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097280" y="2582334"/>
            <a:ext cx="4937760" cy="3378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217920" y="2582334"/>
            <a:ext cx="4937760" cy="3378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smtClean="0"/>
              <a:t>12/5/2018</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00817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smtClean="0"/>
              <a:t>12/5/2018</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83054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C8D7E02-BCB8-4D50-A234-369438C08659}" type="datetimeFigureOut">
              <a:rPr lang="en-US" smtClean="0"/>
              <a:t>12/5/2018</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
              </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02385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6E86A4C-8E40-4F87-A4F0-01A0687C5742}" type="datetimeFigureOut">
              <a:rPr lang="en-US" smtClean="0"/>
              <a:t>12/5/2018</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
              </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64052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5E72C73-2D91-4E12-BA25-F0AA0C03599B}" type="datetimeFigureOut">
              <a:rPr lang="en-US" smtClean="0"/>
              <a:t>12/5/2018</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61017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3086D93-FCAC-47E0-A2EE-787E62CA814C}" type="datetimeFigureOut">
              <a:rPr lang="en-US" smtClean="0"/>
              <a:t>12/5/2018</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16771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DA879A6-0FD0-4734-A311-86BFCA472E6E}" type="datetimeFigureOut">
              <a:rPr lang="en-US" smtClean="0"/>
              <a:t>12/5/2018</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18938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BE451C3-0FF4-47C4-B829-773ADF60F88C}" type="datetimeFigureOut">
              <a:rPr lang="en-US" smtClean="0"/>
              <a:t>12/5/2018</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
              </a:t>
            </a:r>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217C01CDF565}"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0062841"/>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smtClean="0"/>
              <a:t>Plagiarism,</a:t>
            </a:r>
            <a:br>
              <a:rPr lang="en-US" altLang="zh-CN" dirty="0" smtClean="0"/>
            </a:br>
            <a:r>
              <a:rPr lang="en-US" altLang="zh-CN" dirty="0" smtClean="0"/>
              <a:t>Paraphrasing </a:t>
            </a:r>
            <a:r>
              <a:rPr lang="en-US" altLang="zh-CN" dirty="0"/>
              <a:t>&amp;      </a:t>
            </a:r>
            <a:br>
              <a:rPr lang="en-US" altLang="zh-CN" dirty="0"/>
            </a:br>
            <a:r>
              <a:rPr lang="en-US" altLang="zh-CN" dirty="0"/>
              <a:t>                     summarizing</a:t>
            </a:r>
            <a:endParaRPr lang="zh-CN" altLang="en-US" dirty="0"/>
          </a:p>
        </p:txBody>
      </p:sp>
      <p:sp>
        <p:nvSpPr>
          <p:cNvPr id="3" name="副标题 2"/>
          <p:cNvSpPr>
            <a:spLocks noGrp="1"/>
          </p:cNvSpPr>
          <p:nvPr>
            <p:ph type="subTitle" idx="1"/>
          </p:nvPr>
        </p:nvSpPr>
        <p:spPr/>
        <p:txBody>
          <a:bodyPr>
            <a:normAutofit fontScale="92500" lnSpcReduction="10000"/>
          </a:bodyPr>
          <a:lstStyle/>
          <a:p>
            <a:pPr algn="ctr"/>
            <a:r>
              <a:rPr lang="en-US" altLang="zh-CN" sz="4000" b="1" dirty="0">
                <a:solidFill>
                  <a:srgbClr val="C00000"/>
                </a:solidFill>
              </a:rPr>
              <a:t>Week </a:t>
            </a:r>
            <a:r>
              <a:rPr lang="en-US" altLang="zh-CN" sz="4000" b="1" dirty="0" smtClean="0">
                <a:solidFill>
                  <a:srgbClr val="C00000"/>
                </a:solidFill>
              </a:rPr>
              <a:t>12</a:t>
            </a:r>
          </a:p>
          <a:p>
            <a:pPr algn="r"/>
            <a:r>
              <a:rPr lang="en-US" altLang="zh-CN" sz="3000" b="1" cap="none" dirty="0" smtClean="0">
                <a:solidFill>
                  <a:srgbClr val="7030A0"/>
                </a:solidFill>
                <a:latin typeface="Bradley Hand ITC" panose="03070402050302030203" pitchFamily="66" charset="0"/>
              </a:rPr>
              <a:t>Diana Yang</a:t>
            </a:r>
            <a:endParaRPr lang="zh-CN" altLang="en-US" sz="3000" b="1" cap="none" dirty="0">
              <a:solidFill>
                <a:srgbClr val="7030A0"/>
              </a:solidFill>
              <a:latin typeface="Bradley Hand ITC" panose="03070402050302030203" pitchFamily="66" charset="0"/>
            </a:endParaRPr>
          </a:p>
        </p:txBody>
      </p:sp>
    </p:spTree>
    <p:extLst>
      <p:ext uri="{BB962C8B-B14F-4D97-AF65-F5344CB8AC3E}">
        <p14:creationId xmlns:p14="http://schemas.microsoft.com/office/powerpoint/2010/main" val="12801767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a:bodyPr>
          <a:lstStyle/>
          <a:p>
            <a:r>
              <a:rPr lang="en-US" altLang="zh-CN" sz="3200" dirty="0"/>
              <a:t>In the English-speaking academic world it is essential </a:t>
            </a:r>
            <a:r>
              <a:rPr lang="en-US" altLang="zh-CN" sz="3200" dirty="0">
                <a:solidFill>
                  <a:srgbClr val="C00000"/>
                </a:solidFill>
              </a:rPr>
              <a:t>to use a wide range of sources for your writing</a:t>
            </a:r>
            <a:r>
              <a:rPr lang="en-US" altLang="zh-CN" sz="3200" dirty="0"/>
              <a:t>, and to </a:t>
            </a:r>
            <a:r>
              <a:rPr lang="en-US" altLang="zh-CN" sz="3200" dirty="0">
                <a:solidFill>
                  <a:srgbClr val="C00000"/>
                </a:solidFill>
              </a:rPr>
              <a:t>acknowledge these sources clearly</a:t>
            </a:r>
            <a:r>
              <a:rPr lang="en-US" altLang="zh-CN" sz="3200" dirty="0"/>
              <a:t>. </a:t>
            </a:r>
          </a:p>
          <a:p>
            <a:r>
              <a:rPr lang="en-US" altLang="zh-CN" sz="3200" dirty="0"/>
              <a:t>This unit </a:t>
            </a:r>
            <a:r>
              <a:rPr lang="en-US" altLang="zh-CN" sz="3200" u="sng" dirty="0"/>
              <a:t>explains why this is vital</a:t>
            </a:r>
            <a:r>
              <a:rPr lang="en-US" altLang="zh-CN" sz="3200" dirty="0"/>
              <a:t>, and </a:t>
            </a:r>
            <a:r>
              <a:rPr lang="en-US" altLang="zh-CN" sz="3200" u="sng" dirty="0"/>
              <a:t>introduces the techniques</a:t>
            </a:r>
            <a:r>
              <a:rPr lang="en-US" altLang="zh-CN" sz="3200" dirty="0"/>
              <a:t> students need to use. </a:t>
            </a:r>
            <a:endParaRPr lang="zh-CN" altLang="en-US" sz="3200" dirty="0"/>
          </a:p>
        </p:txBody>
      </p:sp>
    </p:spTree>
    <p:extLst>
      <p:ext uri="{BB962C8B-B14F-4D97-AF65-F5344CB8AC3E}">
        <p14:creationId xmlns:p14="http://schemas.microsoft.com/office/powerpoint/2010/main" val="1925947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 What is plagiarism?</a:t>
            </a:r>
            <a:endParaRPr lang="zh-CN" altLang="en-US" dirty="0"/>
          </a:p>
        </p:txBody>
      </p:sp>
      <p:sp>
        <p:nvSpPr>
          <p:cNvPr id="3" name="内容占位符 2"/>
          <p:cNvSpPr>
            <a:spLocks noGrp="1"/>
          </p:cNvSpPr>
          <p:nvPr>
            <p:ph idx="1"/>
          </p:nvPr>
        </p:nvSpPr>
        <p:spPr>
          <a:xfrm>
            <a:off x="837127" y="1845734"/>
            <a:ext cx="10934163" cy="4323246"/>
          </a:xfrm>
        </p:spPr>
        <p:txBody>
          <a:bodyPr>
            <a:noAutofit/>
          </a:bodyPr>
          <a:lstStyle/>
          <a:p>
            <a:r>
              <a:rPr lang="en-US" altLang="zh-CN" sz="3200" dirty="0"/>
              <a:t>Basically plagiarism means </a:t>
            </a:r>
            <a:r>
              <a:rPr lang="en-US" altLang="zh-CN" sz="3200" dirty="0">
                <a:solidFill>
                  <a:srgbClr val="C00000"/>
                </a:solidFill>
              </a:rPr>
              <a:t>taking ideas or words from a source without giving credit (acknowledgement) to the author. </a:t>
            </a:r>
          </a:p>
          <a:p>
            <a:r>
              <a:rPr lang="en-US" altLang="zh-CN" sz="3200" dirty="0"/>
              <a:t>It is seen as a kind of theft, and is considered to be an academic crime. In academic work, ideas and words are seen as private property belonging to the person who ﬁrst thought or wrote them. </a:t>
            </a:r>
          </a:p>
          <a:p>
            <a:r>
              <a:rPr lang="en-US" altLang="zh-CN" sz="3200" dirty="0">
                <a:solidFill>
                  <a:srgbClr val="0070C0"/>
                </a:solidFill>
              </a:rPr>
              <a:t>Therefore it is important for all students, including international ones, to understand the meaning of plagiarism and learn how to prevent it in their work.</a:t>
            </a:r>
            <a:endParaRPr lang="zh-CN" altLang="en-US" sz="3200" dirty="0">
              <a:solidFill>
                <a:srgbClr val="0070C0"/>
              </a:solidFill>
            </a:endParaRPr>
          </a:p>
        </p:txBody>
      </p:sp>
    </p:spTree>
    <p:extLst>
      <p:ext uri="{BB962C8B-B14F-4D97-AF65-F5344CB8AC3E}">
        <p14:creationId xmlns:p14="http://schemas.microsoft.com/office/powerpoint/2010/main" val="3361254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The main difﬁculty that students face is that they are expected:</a:t>
            </a:r>
            <a:endParaRPr lang="zh-CN" altLang="en-US" dirty="0"/>
          </a:p>
        </p:txBody>
      </p:sp>
      <p:sp>
        <p:nvSpPr>
          <p:cNvPr id="3" name="内容占位符 2"/>
          <p:cNvSpPr>
            <a:spLocks noGrp="1"/>
          </p:cNvSpPr>
          <p:nvPr>
            <p:ph idx="1"/>
          </p:nvPr>
        </p:nvSpPr>
        <p:spPr/>
        <p:txBody>
          <a:bodyPr>
            <a:normAutofit/>
          </a:bodyPr>
          <a:lstStyle/>
          <a:p>
            <a:r>
              <a:rPr lang="en-US" altLang="zh-CN" sz="3200" dirty="0">
                <a:solidFill>
                  <a:srgbClr val="7030A0"/>
                </a:solidFill>
              </a:rPr>
              <a:t>(a) to show that they have read the principal experts on a subject – by giving citations</a:t>
            </a:r>
          </a:p>
          <a:p>
            <a:endParaRPr lang="en-US" altLang="zh-CN" sz="3200" dirty="0">
              <a:solidFill>
                <a:srgbClr val="7030A0"/>
              </a:solidFill>
            </a:endParaRPr>
          </a:p>
          <a:p>
            <a:r>
              <a:rPr lang="en-US" altLang="zh-CN" sz="3200" dirty="0">
                <a:solidFill>
                  <a:srgbClr val="7030A0"/>
                </a:solidFill>
              </a:rPr>
              <a:t>(b) to explain these ideas in their own words and come to their own original conclusions</a:t>
            </a:r>
          </a:p>
        </p:txBody>
      </p:sp>
    </p:spTree>
    <p:extLst>
      <p:ext uri="{BB962C8B-B14F-4D97-AF65-F5344CB8AC3E}">
        <p14:creationId xmlns:p14="http://schemas.microsoft.com/office/powerpoint/2010/main" val="3388651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There are several reasons why students must avoid plagiarism:</a:t>
            </a:r>
            <a:endParaRPr lang="zh-CN" altLang="en-US" dirty="0"/>
          </a:p>
        </p:txBody>
      </p:sp>
      <p:sp>
        <p:nvSpPr>
          <p:cNvPr id="3" name="内容占位符 2"/>
          <p:cNvSpPr>
            <a:spLocks noGrp="1"/>
          </p:cNvSpPr>
          <p:nvPr>
            <p:ph idx="1"/>
          </p:nvPr>
        </p:nvSpPr>
        <p:spPr/>
        <p:txBody>
          <a:bodyPr>
            <a:normAutofit lnSpcReduction="10000"/>
          </a:bodyPr>
          <a:lstStyle/>
          <a:p>
            <a:r>
              <a:rPr lang="en-US" altLang="zh-CN" sz="3200" dirty="0">
                <a:solidFill>
                  <a:srgbClr val="C00000"/>
                </a:solidFill>
              </a:rPr>
              <a:t>• Copying the work of others will not help you develop your own understanding</a:t>
            </a:r>
          </a:p>
          <a:p>
            <a:r>
              <a:rPr lang="en-US" altLang="zh-CN" sz="3200" dirty="0">
                <a:solidFill>
                  <a:srgbClr val="C00000"/>
                </a:solidFill>
              </a:rPr>
              <a:t>• To show that you understand the rules of the academic community</a:t>
            </a:r>
          </a:p>
          <a:p>
            <a:r>
              <a:rPr lang="en-US" altLang="zh-CN" sz="3200" dirty="0">
                <a:solidFill>
                  <a:srgbClr val="C00000"/>
                </a:solidFill>
              </a:rPr>
              <a:t>• Plagiarism is easily detected by teachers and computer software</a:t>
            </a:r>
          </a:p>
          <a:p>
            <a:r>
              <a:rPr lang="en-US" altLang="zh-CN" sz="3200" dirty="0">
                <a:solidFill>
                  <a:srgbClr val="C00000"/>
                </a:solidFill>
              </a:rPr>
              <a:t>• It may lead to failing a course or even having to leave college</a:t>
            </a:r>
          </a:p>
          <a:p>
            <a:endParaRPr lang="zh-CN" altLang="en-US" dirty="0"/>
          </a:p>
        </p:txBody>
      </p:sp>
    </p:spTree>
    <p:extLst>
      <p:ext uri="{BB962C8B-B14F-4D97-AF65-F5344CB8AC3E}">
        <p14:creationId xmlns:p14="http://schemas.microsoft.com/office/powerpoint/2010/main" val="4111666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 Acknowledging sources</a:t>
            </a:r>
            <a:endParaRPr lang="zh-CN" altLang="en-US" dirty="0"/>
          </a:p>
        </p:txBody>
      </p:sp>
      <p:sp>
        <p:nvSpPr>
          <p:cNvPr id="3" name="内容占位符 2"/>
          <p:cNvSpPr>
            <a:spLocks noGrp="1"/>
          </p:cNvSpPr>
          <p:nvPr>
            <p:ph idx="1"/>
          </p:nvPr>
        </p:nvSpPr>
        <p:spPr>
          <a:xfrm>
            <a:off x="364472" y="1917664"/>
            <a:ext cx="11317954" cy="4727834"/>
          </a:xfrm>
        </p:spPr>
        <p:txBody>
          <a:bodyPr>
            <a:normAutofit/>
          </a:bodyPr>
          <a:lstStyle/>
          <a:p>
            <a:r>
              <a:rPr lang="en-US" altLang="zh-CN" sz="2800" dirty="0"/>
              <a:t>If you borrow from or refer to the work of another person, you must show that you have done this by providing the correct acknowledgement. There are two ways to do this:</a:t>
            </a:r>
          </a:p>
          <a:p>
            <a:r>
              <a:rPr lang="en-US" altLang="zh-CN" sz="2800" b="1" dirty="0">
                <a:solidFill>
                  <a:srgbClr val="FF0000"/>
                </a:solidFill>
              </a:rPr>
              <a:t>Summary and citation </a:t>
            </a:r>
          </a:p>
          <a:p>
            <a:pPr lvl="1"/>
            <a:r>
              <a:rPr lang="en-US" altLang="zh-CN" sz="2800" dirty="0"/>
              <a:t>Smith (2009) claims that the modern state wields power in new ways.</a:t>
            </a:r>
          </a:p>
          <a:p>
            <a:r>
              <a:rPr lang="en-US" altLang="zh-CN" sz="2800" b="1" dirty="0">
                <a:solidFill>
                  <a:srgbClr val="FF0000"/>
                </a:solidFill>
              </a:rPr>
              <a:t>Quotation and citation </a:t>
            </a:r>
          </a:p>
          <a:p>
            <a:pPr lvl="1"/>
            <a:r>
              <a:rPr lang="en-US" altLang="zh-CN" sz="2800" dirty="0"/>
              <a:t>According to Smith: ‘The point is not that the state is in retreat but that it is developing new forms of power . . .’ (Smith, 2009: 103).</a:t>
            </a:r>
            <a:endParaRPr lang="zh-CN" altLang="en-US" sz="2800" dirty="0"/>
          </a:p>
        </p:txBody>
      </p:sp>
    </p:spTree>
    <p:extLst>
      <p:ext uri="{BB962C8B-B14F-4D97-AF65-F5344CB8AC3E}">
        <p14:creationId xmlns:p14="http://schemas.microsoft.com/office/powerpoint/2010/main" val="871956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sz="3600" dirty="0"/>
              <a:t>These in-text </a:t>
            </a:r>
            <a:r>
              <a:rPr lang="en-US" altLang="zh-CN" sz="3600" b="1" dirty="0"/>
              <a:t>citations</a:t>
            </a:r>
            <a:r>
              <a:rPr lang="en-US" altLang="zh-CN" sz="3600" dirty="0"/>
              <a:t> are linked to </a:t>
            </a:r>
            <a:r>
              <a:rPr lang="en-US" altLang="zh-CN" sz="3600" b="1" dirty="0"/>
              <a:t>a list of references </a:t>
            </a:r>
            <a:r>
              <a:rPr lang="en-US" altLang="zh-CN" sz="3600" dirty="0"/>
              <a:t>at the end of the main text, which includes the following details:</a:t>
            </a:r>
            <a:endParaRPr lang="zh-CN" altLang="en-US" sz="3600" dirty="0"/>
          </a:p>
        </p:txBody>
      </p:sp>
      <p:sp>
        <p:nvSpPr>
          <p:cNvPr id="3" name="内容占位符 2"/>
          <p:cNvSpPr>
            <a:spLocks noGrp="1"/>
          </p:cNvSpPr>
          <p:nvPr>
            <p:ph idx="1"/>
          </p:nvPr>
        </p:nvSpPr>
        <p:spPr>
          <a:xfrm>
            <a:off x="1097279" y="1845734"/>
            <a:ext cx="10738405" cy="4023360"/>
          </a:xfrm>
        </p:spPr>
        <p:txBody>
          <a:bodyPr>
            <a:normAutofit/>
          </a:bodyPr>
          <a:lstStyle/>
          <a:p>
            <a:r>
              <a:rPr lang="en-US" altLang="zh-CN" sz="3200" dirty="0">
                <a:solidFill>
                  <a:srgbClr val="FF0000"/>
                </a:solidFill>
              </a:rPr>
              <a:t>Author       Date      Title      Place of publication      Publisher</a:t>
            </a:r>
          </a:p>
          <a:p>
            <a:r>
              <a:rPr lang="en-US" altLang="zh-CN" sz="3200" dirty="0"/>
              <a:t>Smith, M. </a:t>
            </a:r>
          </a:p>
          <a:p>
            <a:r>
              <a:rPr lang="en-US" altLang="zh-CN" sz="3200" dirty="0"/>
              <a:t>                  (2009) </a:t>
            </a:r>
          </a:p>
          <a:p>
            <a:r>
              <a:rPr lang="en-US" altLang="zh-CN" sz="3200" dirty="0"/>
              <a:t>                         </a:t>
            </a:r>
            <a:r>
              <a:rPr lang="en-US" altLang="zh-CN" sz="3200" i="1" dirty="0"/>
              <a:t>Power and the State </a:t>
            </a:r>
          </a:p>
          <a:p>
            <a:r>
              <a:rPr lang="en-US" altLang="zh-CN" sz="3200" dirty="0"/>
              <a:t>                                                Basingstoke Palgrave</a:t>
            </a:r>
          </a:p>
          <a:p>
            <a:r>
              <a:rPr lang="en-US" altLang="zh-CN" sz="3200" dirty="0"/>
              <a:t>                                                                                          Macmillan</a:t>
            </a:r>
            <a:endParaRPr lang="zh-CN" altLang="en-US" sz="3200" dirty="0"/>
          </a:p>
        </p:txBody>
      </p:sp>
    </p:spTree>
    <p:extLst>
      <p:ext uri="{BB962C8B-B14F-4D97-AF65-F5344CB8AC3E}">
        <p14:creationId xmlns:p14="http://schemas.microsoft.com/office/powerpoint/2010/main" val="1442054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3. Degrees of plagiarism</a:t>
            </a:r>
            <a:endParaRPr lang="zh-CN" altLang="en-US" dirty="0"/>
          </a:p>
        </p:txBody>
      </p:sp>
      <p:sp>
        <p:nvSpPr>
          <p:cNvPr id="3" name="内容占位符 2"/>
          <p:cNvSpPr>
            <a:spLocks noGrp="1"/>
          </p:cNvSpPr>
          <p:nvPr>
            <p:ph idx="1"/>
          </p:nvPr>
        </p:nvSpPr>
        <p:spPr/>
        <p:txBody>
          <a:bodyPr>
            <a:normAutofit/>
          </a:bodyPr>
          <a:lstStyle/>
          <a:p>
            <a:r>
              <a:rPr lang="en-US" altLang="zh-CN" sz="3200" dirty="0"/>
              <a:t>Although plagiarism essentially means copying somebody else’s work, </a:t>
            </a:r>
            <a:r>
              <a:rPr lang="en-US" altLang="zh-CN" sz="3200" dirty="0">
                <a:solidFill>
                  <a:srgbClr val="C00000"/>
                </a:solidFill>
              </a:rPr>
              <a:t>it is not always easy to deﬁne</a:t>
            </a:r>
            <a:r>
              <a:rPr lang="en-US" altLang="zh-CN" sz="3200" dirty="0"/>
              <a:t>.</a:t>
            </a:r>
          </a:p>
          <a:p>
            <a:endParaRPr lang="en-US" altLang="zh-CN" sz="3200" dirty="0">
              <a:solidFill>
                <a:srgbClr val="00B050"/>
              </a:solidFill>
            </a:endParaRPr>
          </a:p>
          <a:p>
            <a:r>
              <a:rPr lang="en-US" altLang="zh-CN" sz="3200" b="1" u="sng" dirty="0">
                <a:solidFill>
                  <a:srgbClr val="00B050"/>
                </a:solidFill>
              </a:rPr>
              <a:t>Practice:</a:t>
            </a:r>
            <a:r>
              <a:rPr lang="en-US" altLang="zh-CN" sz="3200" dirty="0">
                <a:solidFill>
                  <a:srgbClr val="00B050"/>
                </a:solidFill>
              </a:rPr>
              <a:t/>
            </a:r>
            <a:br>
              <a:rPr lang="en-US" altLang="zh-CN" sz="3200" dirty="0">
                <a:solidFill>
                  <a:srgbClr val="00B050"/>
                </a:solidFill>
              </a:rPr>
            </a:br>
            <a:r>
              <a:rPr lang="en-US" altLang="zh-CN" sz="3200" dirty="0">
                <a:solidFill>
                  <a:srgbClr val="00B050"/>
                </a:solidFill>
              </a:rPr>
              <a:t>Working with your partner, consider the following academic situations and decide if they are plagiarism.</a:t>
            </a:r>
            <a:endParaRPr lang="zh-CN" altLang="en-US" sz="3200" dirty="0">
              <a:solidFill>
                <a:srgbClr val="00B050"/>
              </a:solidFill>
            </a:endParaRPr>
          </a:p>
        </p:txBody>
      </p:sp>
    </p:spTree>
    <p:extLst>
      <p:ext uri="{BB962C8B-B14F-4D97-AF65-F5344CB8AC3E}">
        <p14:creationId xmlns:p14="http://schemas.microsoft.com/office/powerpoint/2010/main" val="29498831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655203123"/>
              </p:ext>
            </p:extLst>
          </p:nvPr>
        </p:nvGraphicFramePr>
        <p:xfrm>
          <a:off x="1087395" y="304797"/>
          <a:ext cx="8847438" cy="5536064"/>
        </p:xfrm>
        <a:graphic>
          <a:graphicData uri="http://schemas.openxmlformats.org/drawingml/2006/table">
            <a:tbl>
              <a:tblPr firstRow="1" firstCol="1" bandRow="1">
                <a:tableStyleId>{5C22544A-7EE6-4342-B048-85BDC9FD1C3A}</a:tableStyleId>
              </a:tblPr>
              <a:tblGrid>
                <a:gridCol w="595696">
                  <a:extLst>
                    <a:ext uri="{9D8B030D-6E8A-4147-A177-3AD203B41FA5}">
                      <a16:colId xmlns:a16="http://schemas.microsoft.com/office/drawing/2014/main" xmlns="" val="20000"/>
                    </a:ext>
                  </a:extLst>
                </a:gridCol>
                <a:gridCol w="7196581">
                  <a:extLst>
                    <a:ext uri="{9D8B030D-6E8A-4147-A177-3AD203B41FA5}">
                      <a16:colId xmlns:a16="http://schemas.microsoft.com/office/drawing/2014/main" xmlns="" val="20001"/>
                    </a:ext>
                  </a:extLst>
                </a:gridCol>
                <a:gridCol w="1055161">
                  <a:extLst>
                    <a:ext uri="{9D8B030D-6E8A-4147-A177-3AD203B41FA5}">
                      <a16:colId xmlns:a16="http://schemas.microsoft.com/office/drawing/2014/main" xmlns="" val="20002"/>
                    </a:ext>
                  </a:extLst>
                </a:gridCol>
              </a:tblGrid>
              <a:tr h="383648">
                <a:tc>
                  <a:txBody>
                    <a:bodyPr/>
                    <a:lstStyle/>
                    <a:p>
                      <a:pPr algn="just">
                        <a:spcAft>
                          <a:spcPts val="0"/>
                        </a:spcAft>
                      </a:pPr>
                      <a:r>
                        <a:rPr lang="en-US" sz="1050" kern="100" dirty="0">
                          <a:effectLst/>
                        </a:rPr>
                        <a:t> </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Situation </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050" kern="100">
                          <a:effectLst/>
                        </a:rPr>
                        <a:t>Yes/No</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00"/>
                  </a:ext>
                </a:extLst>
              </a:tr>
              <a:tr h="383648">
                <a:tc>
                  <a:txBody>
                    <a:bodyPr/>
                    <a:lstStyle/>
                    <a:p>
                      <a:pPr algn="just">
                        <a:spcAft>
                          <a:spcPts val="0"/>
                        </a:spcAft>
                      </a:pPr>
                      <a:r>
                        <a:rPr lang="en-US" sz="1050" kern="100">
                          <a:effectLst/>
                        </a:rPr>
                        <a:t>1</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Copying a paragraph, but changing a few words and giving a citation.</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050" kern="100">
                          <a:effectLst/>
                        </a:rPr>
                        <a:t> </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01"/>
                  </a:ext>
                </a:extLst>
              </a:tr>
              <a:tr h="383648">
                <a:tc>
                  <a:txBody>
                    <a:bodyPr/>
                    <a:lstStyle/>
                    <a:p>
                      <a:pPr algn="just">
                        <a:spcAft>
                          <a:spcPts val="0"/>
                        </a:spcAft>
                      </a:pPr>
                      <a:r>
                        <a:rPr lang="en-US" sz="1050" kern="100">
                          <a:effectLst/>
                        </a:rPr>
                        <a:t>2</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Cutting and pasting a short article from a website, with no citation.</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050" kern="100">
                          <a:effectLst/>
                        </a:rPr>
                        <a:t> </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02"/>
                  </a:ext>
                </a:extLst>
              </a:tr>
              <a:tr h="383648">
                <a:tc>
                  <a:txBody>
                    <a:bodyPr/>
                    <a:lstStyle/>
                    <a:p>
                      <a:pPr algn="just">
                        <a:spcAft>
                          <a:spcPts val="0"/>
                        </a:spcAft>
                      </a:pPr>
                      <a:r>
                        <a:rPr lang="en-US" sz="1050" kern="100">
                          <a:effectLst/>
                        </a:rPr>
                        <a:t>3</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Taking two paragraphs from a classmate’s essay, without citation.</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050" kern="100">
                          <a:effectLst/>
                        </a:rPr>
                        <a:t> </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03"/>
                  </a:ext>
                </a:extLst>
              </a:tr>
              <a:tr h="383648">
                <a:tc>
                  <a:txBody>
                    <a:bodyPr/>
                    <a:lstStyle/>
                    <a:p>
                      <a:pPr algn="just">
                        <a:spcAft>
                          <a:spcPts val="0"/>
                        </a:spcAft>
                      </a:pPr>
                      <a:r>
                        <a:rPr lang="en-US" sz="1050" kern="100" dirty="0">
                          <a:effectLst/>
                        </a:rPr>
                        <a:t>4</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Taking a graph from a textbook, giving the source.</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050" kern="100">
                          <a:effectLst/>
                        </a:rPr>
                        <a:t> </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04"/>
                  </a:ext>
                </a:extLst>
              </a:tr>
              <a:tr h="383648">
                <a:tc>
                  <a:txBody>
                    <a:bodyPr/>
                    <a:lstStyle/>
                    <a:p>
                      <a:pPr algn="just">
                        <a:spcAft>
                          <a:spcPts val="0"/>
                        </a:spcAft>
                      </a:pPr>
                      <a:r>
                        <a:rPr lang="en-US" sz="1050" kern="100">
                          <a:effectLst/>
                        </a:rPr>
                        <a:t>5</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Taking a quotation from a source, giving a citation but not using quotation marks.</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050" kern="100">
                          <a:effectLst/>
                        </a:rPr>
                        <a:t> </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05"/>
                  </a:ext>
                </a:extLst>
              </a:tr>
              <a:tr h="767296">
                <a:tc>
                  <a:txBody>
                    <a:bodyPr/>
                    <a:lstStyle/>
                    <a:p>
                      <a:pPr algn="just">
                        <a:spcAft>
                          <a:spcPts val="0"/>
                        </a:spcAft>
                      </a:pPr>
                      <a:r>
                        <a:rPr lang="en-US" sz="1050" kern="100">
                          <a:effectLst/>
                        </a:rPr>
                        <a:t>6</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Using something that you think of as general knowledge, e.g. large areas of rainforest have been cut down in recent years.</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050" kern="100">
                          <a:effectLst/>
                        </a:rPr>
                        <a:t> </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06"/>
                  </a:ext>
                </a:extLst>
              </a:tr>
              <a:tr h="767296">
                <a:tc>
                  <a:txBody>
                    <a:bodyPr/>
                    <a:lstStyle/>
                    <a:p>
                      <a:pPr algn="just">
                        <a:spcAft>
                          <a:spcPts val="0"/>
                        </a:spcAft>
                      </a:pPr>
                      <a:r>
                        <a:rPr lang="en-US" sz="1050" kern="100">
                          <a:effectLst/>
                        </a:rPr>
                        <a:t>7</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Using a paragraph from an essay you wrote and had </a:t>
                      </a:r>
                      <a:r>
                        <a:rPr lang="en-US" sz="1800" kern="100" dirty="0" smtClean="0">
                          <a:effectLst/>
                        </a:rPr>
                        <a:t>been marked </a:t>
                      </a:r>
                      <a:r>
                        <a:rPr lang="en-US" sz="1800" kern="100" dirty="0">
                          <a:effectLst/>
                        </a:rPr>
                        <a:t>the previous semester, without citation.</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050" kern="100">
                          <a:effectLst/>
                        </a:rPr>
                        <a:t> </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07"/>
                  </a:ext>
                </a:extLst>
              </a:tr>
              <a:tr h="383648">
                <a:tc>
                  <a:txBody>
                    <a:bodyPr/>
                    <a:lstStyle/>
                    <a:p>
                      <a:pPr algn="just">
                        <a:spcAft>
                          <a:spcPts val="0"/>
                        </a:spcAft>
                      </a:pPr>
                      <a:r>
                        <a:rPr lang="en-US" sz="1050" kern="100">
                          <a:effectLst/>
                        </a:rPr>
                        <a:t>8</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Using the results of your own research, e.g. from a survey, without citation.</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050" kern="100">
                          <a:effectLst/>
                        </a:rPr>
                        <a:t> </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08"/>
                  </a:ext>
                </a:extLst>
              </a:tr>
              <a:tr h="767296">
                <a:tc>
                  <a:txBody>
                    <a:bodyPr/>
                    <a:lstStyle/>
                    <a:p>
                      <a:pPr algn="just">
                        <a:spcAft>
                          <a:spcPts val="0"/>
                        </a:spcAft>
                      </a:pPr>
                      <a:r>
                        <a:rPr lang="en-US" sz="1050" kern="100">
                          <a:effectLst/>
                        </a:rPr>
                        <a:t>9</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Discussing an essay topic with a group of classmates and using some of their ideas in your own work.</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050" kern="100">
                          <a:effectLst/>
                        </a:rPr>
                        <a:t> </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09"/>
                  </a:ext>
                </a:extLst>
              </a:tr>
              <a:tr h="383648">
                <a:tc>
                  <a:txBody>
                    <a:bodyPr/>
                    <a:lstStyle/>
                    <a:p>
                      <a:pPr algn="just">
                        <a:spcAft>
                          <a:spcPts val="0"/>
                        </a:spcAft>
                      </a:pPr>
                      <a:r>
                        <a:rPr lang="en-US" sz="1050" kern="100">
                          <a:effectLst/>
                        </a:rPr>
                        <a:t>10</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800" kern="100" dirty="0">
                          <a:effectLst/>
                        </a:rPr>
                        <a:t>Giving a citation for some information but </a:t>
                      </a:r>
                      <a:r>
                        <a:rPr lang="en-US" sz="1800" kern="100" dirty="0" err="1">
                          <a:effectLst/>
                        </a:rPr>
                        <a:t>mis</a:t>
                      </a:r>
                      <a:r>
                        <a:rPr lang="en-US" sz="1800" kern="100" dirty="0">
                          <a:effectLst/>
                        </a:rPr>
                        <a:t>-spelling the author’s name.</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1050" kern="100" dirty="0">
                          <a:effectLst/>
                        </a:rPr>
                        <a:t> </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xmlns="" val="10010"/>
                  </a:ext>
                </a:extLst>
              </a:tr>
            </a:tbl>
          </a:graphicData>
        </a:graphic>
      </p:graphicFrame>
    </p:spTree>
    <p:extLst>
      <p:ext uri="{BB962C8B-B14F-4D97-AF65-F5344CB8AC3E}">
        <p14:creationId xmlns:p14="http://schemas.microsoft.com/office/powerpoint/2010/main" val="361823581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Degree of plagiarism</a:t>
            </a:r>
            <a:endParaRPr lang="zh-CN" altLang="en-US" dirty="0"/>
          </a:p>
        </p:txBody>
      </p:sp>
      <p:sp>
        <p:nvSpPr>
          <p:cNvPr id="3" name="内容占位符 2"/>
          <p:cNvSpPr>
            <a:spLocks noGrp="1"/>
          </p:cNvSpPr>
          <p:nvPr>
            <p:ph idx="1"/>
          </p:nvPr>
        </p:nvSpPr>
        <p:spPr/>
        <p:txBody>
          <a:bodyPr/>
          <a:lstStyle/>
          <a:p>
            <a:r>
              <a:rPr lang="es-ES" altLang="zh-CN" dirty="0"/>
              <a:t>(1) Y (2) Y (3) Y (4) </a:t>
            </a:r>
            <a:r>
              <a:rPr lang="es-ES" altLang="zh-CN" dirty="0">
                <a:solidFill>
                  <a:srgbClr val="FF0000"/>
                </a:solidFill>
              </a:rPr>
              <a:t>N</a:t>
            </a:r>
            <a:r>
              <a:rPr lang="es-ES" altLang="zh-CN" dirty="0"/>
              <a:t> (5) Y (6) </a:t>
            </a:r>
            <a:r>
              <a:rPr lang="es-ES" altLang="zh-CN" dirty="0">
                <a:solidFill>
                  <a:srgbClr val="FF0000"/>
                </a:solidFill>
              </a:rPr>
              <a:t>N </a:t>
            </a:r>
            <a:r>
              <a:rPr lang="es-ES" altLang="zh-CN" dirty="0"/>
              <a:t>(7) Y (8) </a:t>
            </a:r>
            <a:r>
              <a:rPr lang="es-ES" altLang="zh-CN" dirty="0">
                <a:solidFill>
                  <a:srgbClr val="FF0000"/>
                </a:solidFill>
              </a:rPr>
              <a:t>N</a:t>
            </a:r>
            <a:r>
              <a:rPr lang="es-ES" altLang="zh-CN" dirty="0"/>
              <a:t> (9) </a:t>
            </a:r>
            <a:r>
              <a:rPr lang="es-ES" altLang="zh-CN" dirty="0">
                <a:solidFill>
                  <a:srgbClr val="FF0000"/>
                </a:solidFill>
              </a:rPr>
              <a:t>Y/N </a:t>
            </a:r>
            <a:r>
              <a:rPr lang="es-ES" altLang="zh-CN" dirty="0"/>
              <a:t>(10) Y </a:t>
            </a:r>
            <a:endParaRPr lang="zh-CN" altLang="en-US" dirty="0"/>
          </a:p>
        </p:txBody>
      </p:sp>
    </p:spTree>
    <p:extLst>
      <p:ext uri="{BB962C8B-B14F-4D97-AF65-F5344CB8AC3E}">
        <p14:creationId xmlns:p14="http://schemas.microsoft.com/office/powerpoint/2010/main" val="30558243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Avoiding plagiarism in</a:t>
            </a:r>
            <a:br>
              <a:rPr lang="en-US" altLang="zh-CN" dirty="0" smtClean="0"/>
            </a:br>
            <a:r>
              <a:rPr lang="en-US" altLang="zh-CN" dirty="0" smtClean="0"/>
              <a:t>Dissertation for master’s degree</a:t>
            </a:r>
            <a:endParaRPr lang="zh-CN" altLang="en-US" dirty="0"/>
          </a:p>
        </p:txBody>
      </p:sp>
      <p:sp>
        <p:nvSpPr>
          <p:cNvPr id="3" name="内容占位符 2"/>
          <p:cNvSpPr>
            <a:spLocks noGrp="1"/>
          </p:cNvSpPr>
          <p:nvPr>
            <p:ph idx="1"/>
          </p:nvPr>
        </p:nvSpPr>
        <p:spPr/>
        <p:txBody>
          <a:bodyPr>
            <a:normAutofit/>
          </a:bodyPr>
          <a:lstStyle/>
          <a:p>
            <a:r>
              <a:rPr lang="zh-CN" altLang="en-US" b="1" dirty="0" smtClean="0"/>
              <a:t>（四）检测结果认定</a:t>
            </a:r>
            <a:endParaRPr lang="zh-CN" altLang="en-US" dirty="0" smtClean="0"/>
          </a:p>
          <a:p>
            <a:r>
              <a:rPr lang="en-US" altLang="zh-CN" dirty="0" smtClean="0"/>
              <a:t>1</a:t>
            </a:r>
            <a:r>
              <a:rPr lang="zh-CN" altLang="en-US" dirty="0" smtClean="0"/>
              <a:t>、检测结果中“去除本人文献”比值原则上不能超过</a:t>
            </a:r>
            <a:r>
              <a:rPr lang="en-US" altLang="zh-CN" dirty="0" smtClean="0"/>
              <a:t>15%</a:t>
            </a:r>
            <a:r>
              <a:rPr lang="zh-CN" altLang="en-US" dirty="0" smtClean="0"/>
              <a:t>；（</a:t>
            </a:r>
            <a:r>
              <a:rPr lang="en-US" altLang="zh-CN" dirty="0" smtClean="0"/>
              <a:t>1</a:t>
            </a:r>
            <a:r>
              <a:rPr lang="zh-CN" altLang="en-US" dirty="0" smtClean="0"/>
              <a:t>）文献综述、基本概念与理论基础部分文字重复率不得超过</a:t>
            </a:r>
            <a:r>
              <a:rPr lang="en-US" altLang="zh-CN" dirty="0" smtClean="0"/>
              <a:t>25</a:t>
            </a:r>
            <a:r>
              <a:rPr lang="zh-CN" altLang="en-US" dirty="0" smtClean="0"/>
              <a:t>％；（</a:t>
            </a:r>
            <a:r>
              <a:rPr lang="en-US" altLang="zh-CN" dirty="0" smtClean="0"/>
              <a:t>2</a:t>
            </a:r>
            <a:r>
              <a:rPr lang="zh-CN" altLang="en-US" dirty="0" smtClean="0"/>
              <a:t>）其它部分文字重复率分别查询，各部分均不得超过</a:t>
            </a:r>
            <a:r>
              <a:rPr lang="en-US" altLang="zh-CN" dirty="0" smtClean="0"/>
              <a:t>10</a:t>
            </a:r>
            <a:r>
              <a:rPr lang="zh-CN" altLang="en-US" dirty="0" smtClean="0"/>
              <a:t>％；作者本人在学期间发表的论文除外，但也必须正确引注； </a:t>
            </a:r>
          </a:p>
          <a:p>
            <a:r>
              <a:rPr lang="en-US" altLang="zh-CN" dirty="0" smtClean="0"/>
              <a:t>2</a:t>
            </a:r>
            <a:r>
              <a:rPr lang="zh-CN" altLang="en-US" dirty="0" smtClean="0"/>
              <a:t>、论文查重结果低于</a:t>
            </a:r>
            <a:r>
              <a:rPr lang="en-US" altLang="zh-CN" dirty="0" smtClean="0"/>
              <a:t>15%</a:t>
            </a:r>
            <a:r>
              <a:rPr lang="zh-CN" altLang="en-US" dirty="0" smtClean="0"/>
              <a:t>，通过相似度检测的，进入论文抽检程序； </a:t>
            </a:r>
          </a:p>
          <a:p>
            <a:r>
              <a:rPr lang="en-US" altLang="zh-CN" dirty="0" smtClean="0"/>
              <a:t>3</a:t>
            </a:r>
            <a:r>
              <a:rPr lang="zh-CN" altLang="en-US" dirty="0" smtClean="0"/>
              <a:t>、若一次检测超过</a:t>
            </a:r>
            <a:r>
              <a:rPr lang="en-US" altLang="zh-CN" dirty="0" smtClean="0"/>
              <a:t>15%</a:t>
            </a:r>
            <a:r>
              <a:rPr lang="zh-CN" altLang="en-US" dirty="0" smtClean="0"/>
              <a:t>，在规定时间内可申请二次检测，如仍超过</a:t>
            </a:r>
            <a:r>
              <a:rPr lang="en-US" altLang="zh-CN" dirty="0" smtClean="0"/>
              <a:t>15%</a:t>
            </a:r>
            <a:r>
              <a:rPr lang="zh-CN" altLang="en-US" dirty="0" smtClean="0"/>
              <a:t>，将检测报告反馈本人及导师。论文修改三个月后，可再次申请查重。</a:t>
            </a:r>
            <a:endParaRPr lang="en-US" altLang="zh-CN" dirty="0" smtClean="0"/>
          </a:p>
          <a:p>
            <a:endParaRPr lang="zh-CN" altLang="en-US" dirty="0" smtClean="0"/>
          </a:p>
          <a:p>
            <a:r>
              <a:rPr lang="en-US" altLang="zh-CN" dirty="0" smtClean="0"/>
              <a:t>May be more strict in your own area!</a:t>
            </a:r>
            <a:endParaRPr lang="zh-CN" altLang="zh-CN" dirty="0"/>
          </a:p>
          <a:p>
            <a:endParaRPr lang="zh-CN" altLang="en-US" dirty="0"/>
          </a:p>
        </p:txBody>
      </p:sp>
    </p:spTree>
    <p:extLst>
      <p:ext uri="{BB962C8B-B14F-4D97-AF65-F5344CB8AC3E}">
        <p14:creationId xmlns:p14="http://schemas.microsoft.com/office/powerpoint/2010/main" val="41999375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Avoid plagiarism</a:t>
            </a:r>
            <a:endParaRPr lang="zh-CN" altLang="en-US" b="1" dirty="0"/>
          </a:p>
        </p:txBody>
      </p:sp>
      <p:sp>
        <p:nvSpPr>
          <p:cNvPr id="3" name="内容占位符 2"/>
          <p:cNvSpPr>
            <a:spLocks noGrp="1"/>
          </p:cNvSpPr>
          <p:nvPr>
            <p:ph idx="1"/>
          </p:nvPr>
        </p:nvSpPr>
        <p:spPr>
          <a:xfrm>
            <a:off x="1097280" y="1845733"/>
            <a:ext cx="10058400" cy="4503551"/>
          </a:xfrm>
        </p:spPr>
        <p:txBody>
          <a:bodyPr>
            <a:normAutofit lnSpcReduction="10000"/>
          </a:bodyPr>
          <a:lstStyle/>
          <a:p>
            <a:r>
              <a:rPr lang="en-US" altLang="zh-CN" sz="3200" dirty="0">
                <a:solidFill>
                  <a:srgbClr val="C00000"/>
                </a:solidFill>
              </a:rPr>
              <a:t>Academic writing normally requires that you support your ideas and opinions with facts, statistics, quotations, and similar kinds of information. </a:t>
            </a:r>
          </a:p>
          <a:p>
            <a:r>
              <a:rPr lang="en-US" altLang="zh-CN" sz="3200" dirty="0"/>
              <a:t>There are </a:t>
            </a:r>
            <a:r>
              <a:rPr lang="en-US" altLang="zh-CN" sz="3200" u="sng" dirty="0"/>
              <a:t>four ways </a:t>
            </a:r>
            <a:r>
              <a:rPr lang="en-US" altLang="zh-CN" sz="3200" dirty="0"/>
              <a:t>to use information from outside sources. </a:t>
            </a:r>
          </a:p>
          <a:p>
            <a:r>
              <a:rPr lang="en-US" altLang="zh-CN" sz="3200" dirty="0"/>
              <a:t>You can </a:t>
            </a:r>
            <a:r>
              <a:rPr lang="en-US" altLang="zh-CN" sz="3200" dirty="0">
                <a:solidFill>
                  <a:srgbClr val="C00000"/>
                </a:solidFill>
              </a:rPr>
              <a:t>quote it directly or indirectly</a:t>
            </a:r>
            <a:r>
              <a:rPr lang="en-US" altLang="zh-CN" sz="3200" dirty="0"/>
              <a:t>. You can also </a:t>
            </a:r>
            <a:r>
              <a:rPr lang="en-US" altLang="zh-CN" sz="3200" dirty="0">
                <a:solidFill>
                  <a:srgbClr val="C00000"/>
                </a:solidFill>
              </a:rPr>
              <a:t>paraphrase</a:t>
            </a:r>
            <a:r>
              <a:rPr lang="en-US" altLang="zh-CN" sz="3200" dirty="0"/>
              <a:t> or </a:t>
            </a:r>
            <a:r>
              <a:rPr lang="en-US" altLang="zh-CN" sz="3200" dirty="0">
                <a:solidFill>
                  <a:srgbClr val="C00000"/>
                </a:solidFill>
              </a:rPr>
              <a:t>summarize</a:t>
            </a:r>
            <a:r>
              <a:rPr lang="en-US" altLang="zh-CN" sz="3200" dirty="0"/>
              <a:t> it. </a:t>
            </a:r>
          </a:p>
          <a:p>
            <a:r>
              <a:rPr lang="en-US" altLang="zh-CN" sz="3200" dirty="0"/>
              <a:t>Writing paraphrases and summaries are important tools in academic writing.</a:t>
            </a:r>
          </a:p>
          <a:p>
            <a:endParaRPr lang="zh-CN" altLang="en-US" dirty="0"/>
          </a:p>
        </p:txBody>
      </p:sp>
    </p:spTree>
    <p:extLst>
      <p:ext uri="{BB962C8B-B14F-4D97-AF65-F5344CB8AC3E}">
        <p14:creationId xmlns:p14="http://schemas.microsoft.com/office/powerpoint/2010/main" val="3799963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Model Study: </a:t>
            </a:r>
            <a:endParaRPr lang="zh-CN" altLang="en-US" dirty="0"/>
          </a:p>
        </p:txBody>
      </p:sp>
      <p:sp>
        <p:nvSpPr>
          <p:cNvPr id="3" name="内容占位符 2"/>
          <p:cNvSpPr>
            <a:spLocks noGrp="1"/>
          </p:cNvSpPr>
          <p:nvPr>
            <p:ph idx="1"/>
          </p:nvPr>
        </p:nvSpPr>
        <p:spPr/>
        <p:txBody>
          <a:bodyPr/>
          <a:lstStyle/>
          <a:p>
            <a:r>
              <a:rPr lang="en-US" altLang="zh-CN" sz="3200" dirty="0">
                <a:solidFill>
                  <a:srgbClr val="C00000"/>
                </a:solidFill>
              </a:rPr>
              <a:t>Decide which kind of plagiarism each example is guilty of.</a:t>
            </a:r>
          </a:p>
          <a:p>
            <a:r>
              <a:rPr lang="en-US" altLang="zh-CN" sz="3200" dirty="0"/>
              <a:t>1. When you use information from an outside source without citing the source (telling where you got the information), you are guilty of plagiarism. </a:t>
            </a:r>
          </a:p>
          <a:p>
            <a:r>
              <a:rPr lang="en-US" altLang="zh-CN" sz="3200" dirty="0"/>
              <a:t>2. Even when you cite your source, if your paraphrase is too similar to the original, you are guilty of plagiarism.</a:t>
            </a:r>
          </a:p>
          <a:p>
            <a:endParaRPr lang="zh-CN" altLang="en-US" dirty="0"/>
          </a:p>
        </p:txBody>
      </p:sp>
    </p:spTree>
    <p:extLst>
      <p:ext uri="{BB962C8B-B14F-4D97-AF65-F5344CB8AC3E}">
        <p14:creationId xmlns:p14="http://schemas.microsoft.com/office/powerpoint/2010/main" val="2760127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152674" y="1894702"/>
            <a:ext cx="10690007" cy="2759675"/>
          </a:xfrm>
          <a:prstGeom prst="rect">
            <a:avLst/>
          </a:prstGeom>
        </p:spPr>
      </p:pic>
    </p:spTree>
    <p:extLst>
      <p:ext uri="{BB962C8B-B14F-4D97-AF65-F5344CB8AC3E}">
        <p14:creationId xmlns:p14="http://schemas.microsoft.com/office/powerpoint/2010/main" val="8247143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rotWithShape="1">
          <a:blip r:embed="rId2"/>
          <a:srcRect l="8694" t="9858" r="14008" b="6526"/>
          <a:stretch/>
        </p:blipFill>
        <p:spPr bwMode="auto">
          <a:xfrm>
            <a:off x="848497" y="131805"/>
            <a:ext cx="9448799" cy="6096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343979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Analysis </a:t>
            </a:r>
            <a:endParaRPr lang="zh-CN" altLang="en-US" dirty="0"/>
          </a:p>
        </p:txBody>
      </p:sp>
      <p:sp>
        <p:nvSpPr>
          <p:cNvPr id="3" name="内容占位符 2"/>
          <p:cNvSpPr>
            <a:spLocks noGrp="1"/>
          </p:cNvSpPr>
          <p:nvPr>
            <p:ph idx="1"/>
          </p:nvPr>
        </p:nvSpPr>
        <p:spPr/>
        <p:txBody>
          <a:bodyPr>
            <a:normAutofit/>
          </a:bodyPr>
          <a:lstStyle/>
          <a:p>
            <a:r>
              <a:rPr lang="en-US" altLang="zh-CN" sz="3200" dirty="0">
                <a:solidFill>
                  <a:srgbClr val="C00000"/>
                </a:solidFill>
              </a:rPr>
              <a:t>Paraphrase 1 is plagiarism because the source is not cited. Paraphrase 2 is plagiarism because it is too similar to the original passage. </a:t>
            </a:r>
            <a:r>
              <a:rPr lang="en-US" altLang="zh-CN" sz="3200" dirty="0"/>
              <a:t>For example, in the first sentence, only one word has been changed: </a:t>
            </a:r>
            <a:r>
              <a:rPr lang="en-US" altLang="zh-CN" sz="3200" i="1" dirty="0">
                <a:solidFill>
                  <a:srgbClr val="00B050"/>
                </a:solidFill>
              </a:rPr>
              <a:t>main</a:t>
            </a:r>
            <a:r>
              <a:rPr lang="en-US" altLang="zh-CN" sz="3200" dirty="0">
                <a:solidFill>
                  <a:srgbClr val="00B050"/>
                </a:solidFill>
              </a:rPr>
              <a:t> </a:t>
            </a:r>
            <a:r>
              <a:rPr lang="en-US" altLang="zh-CN" sz="3200" dirty="0"/>
              <a:t>replaces </a:t>
            </a:r>
            <a:r>
              <a:rPr lang="en-US" altLang="zh-CN" sz="3200" i="1" dirty="0">
                <a:solidFill>
                  <a:srgbClr val="00B050"/>
                </a:solidFill>
              </a:rPr>
              <a:t>principal</a:t>
            </a:r>
            <a:r>
              <a:rPr lang="en-US" altLang="zh-CN" sz="3200" dirty="0"/>
              <a:t>. In the second sentence, only a few words have been changed. </a:t>
            </a:r>
          </a:p>
          <a:p>
            <a:r>
              <a:rPr lang="en-US" altLang="zh-CN" sz="3200" dirty="0">
                <a:solidFill>
                  <a:srgbClr val="7030A0"/>
                </a:solidFill>
              </a:rPr>
              <a:t>You can avoid the first kind of plagiarism by always citing your sources. You can avoid the second kind of plagiarism by learning to paraphrase correctly. </a:t>
            </a:r>
            <a:endParaRPr lang="zh-CN" altLang="en-US" sz="3200" dirty="0">
              <a:solidFill>
                <a:srgbClr val="7030A0"/>
              </a:solidFill>
            </a:endParaRPr>
          </a:p>
        </p:txBody>
      </p:sp>
    </p:spTree>
    <p:extLst>
      <p:ext uri="{BB962C8B-B14F-4D97-AF65-F5344CB8AC3E}">
        <p14:creationId xmlns:p14="http://schemas.microsoft.com/office/powerpoint/2010/main" val="436627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en-US" altLang="zh-CN" dirty="0"/>
              <a:t>Paraphrasing </a:t>
            </a:r>
            <a:endParaRPr lang="zh-CN" altLang="en-US" dirty="0"/>
          </a:p>
        </p:txBody>
      </p:sp>
      <p:sp>
        <p:nvSpPr>
          <p:cNvPr id="5" name="副标题 4"/>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1121461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Paraphrasing </a:t>
            </a:r>
            <a:endParaRPr lang="zh-CN" altLang="en-US" dirty="0"/>
          </a:p>
        </p:txBody>
      </p:sp>
      <p:sp>
        <p:nvSpPr>
          <p:cNvPr id="3" name="内容占位符 2"/>
          <p:cNvSpPr>
            <a:spLocks noGrp="1"/>
          </p:cNvSpPr>
          <p:nvPr>
            <p:ph idx="1"/>
          </p:nvPr>
        </p:nvSpPr>
        <p:spPr/>
        <p:txBody>
          <a:bodyPr/>
          <a:lstStyle/>
          <a:p>
            <a:r>
              <a:rPr lang="en-US" altLang="zh-CN" sz="3200" dirty="0"/>
              <a:t>When you paraphrase, </a:t>
            </a:r>
            <a:r>
              <a:rPr lang="en-US" altLang="zh-CN" sz="3200" dirty="0">
                <a:solidFill>
                  <a:srgbClr val="C00000"/>
                </a:solidFill>
              </a:rPr>
              <a:t>you rewrite information from an outside source in your own words without changing the meaning. </a:t>
            </a:r>
          </a:p>
          <a:p>
            <a:r>
              <a:rPr lang="en-US" altLang="zh-CN" sz="3200" dirty="0"/>
              <a:t>Because you include in your rewriting all or nearly all of the content of the original passage, a paraphrase is </a:t>
            </a:r>
            <a:r>
              <a:rPr lang="en-US" altLang="zh-CN" sz="3200" dirty="0">
                <a:solidFill>
                  <a:srgbClr val="C00000"/>
                </a:solidFill>
              </a:rPr>
              <a:t>almost as long as the original</a:t>
            </a:r>
            <a:r>
              <a:rPr lang="en-US" altLang="zh-CN" sz="3200" dirty="0"/>
              <a:t>. </a:t>
            </a:r>
          </a:p>
          <a:p>
            <a:r>
              <a:rPr lang="en-US" altLang="zh-CN" sz="3200" dirty="0"/>
              <a:t>(A summary, by contrast, is much shorter than the original.)</a:t>
            </a:r>
          </a:p>
          <a:p>
            <a:endParaRPr lang="zh-CN" altLang="en-US" dirty="0"/>
          </a:p>
        </p:txBody>
      </p:sp>
    </p:spTree>
    <p:extLst>
      <p:ext uri="{BB962C8B-B14F-4D97-AF65-F5344CB8AC3E}">
        <p14:creationId xmlns:p14="http://schemas.microsoft.com/office/powerpoint/2010/main" val="423886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How to Write a Good Paraphrase</a:t>
            </a:r>
            <a:endParaRPr lang="zh-CN" altLang="en-US" dirty="0"/>
          </a:p>
        </p:txBody>
      </p:sp>
      <p:sp>
        <p:nvSpPr>
          <p:cNvPr id="3" name="内容占位符 2"/>
          <p:cNvSpPr>
            <a:spLocks noGrp="1"/>
          </p:cNvSpPr>
          <p:nvPr>
            <p:ph idx="1"/>
          </p:nvPr>
        </p:nvSpPr>
        <p:spPr/>
        <p:txBody>
          <a:bodyPr>
            <a:normAutofit/>
          </a:bodyPr>
          <a:lstStyle/>
          <a:p>
            <a:r>
              <a:rPr lang="en-US" altLang="zh-CN" sz="3200" dirty="0">
                <a:solidFill>
                  <a:srgbClr val="C00000"/>
                </a:solidFill>
              </a:rPr>
              <a:t>There are three keys to writing a good paraphrase:</a:t>
            </a:r>
          </a:p>
          <a:p>
            <a:r>
              <a:rPr lang="en-US" altLang="zh-CN" sz="3200" dirty="0"/>
              <a:t>1. Use your </a:t>
            </a:r>
            <a:r>
              <a:rPr lang="en-US" altLang="zh-CN" sz="3200" b="1" dirty="0"/>
              <a:t>own</a:t>
            </a:r>
            <a:r>
              <a:rPr lang="en-US" altLang="zh-CN" sz="3200" dirty="0"/>
              <a:t> words and your </a:t>
            </a:r>
            <a:r>
              <a:rPr lang="en-US" altLang="zh-CN" sz="3200" b="1" dirty="0"/>
              <a:t>own</a:t>
            </a:r>
            <a:r>
              <a:rPr lang="en-US" altLang="zh-CN" sz="3200" dirty="0"/>
              <a:t> sentence structure. </a:t>
            </a:r>
          </a:p>
          <a:p>
            <a:r>
              <a:rPr lang="en-US" altLang="zh-CN" sz="3200" dirty="0"/>
              <a:t>2. Make your paraphrase </a:t>
            </a:r>
            <a:r>
              <a:rPr lang="en-US" altLang="zh-CN" sz="3200" b="1" dirty="0"/>
              <a:t>approximately the same length </a:t>
            </a:r>
            <a:r>
              <a:rPr lang="en-US" altLang="zh-CN" sz="3200" dirty="0"/>
              <a:t>as the original. </a:t>
            </a:r>
          </a:p>
          <a:p>
            <a:r>
              <a:rPr lang="en-US" altLang="zh-CN" sz="3200" dirty="0"/>
              <a:t>3. </a:t>
            </a:r>
            <a:r>
              <a:rPr lang="en-US" altLang="zh-CN" sz="3200" b="1" dirty="0"/>
              <a:t>Do not change the meaning </a:t>
            </a:r>
            <a:r>
              <a:rPr lang="en-US" altLang="zh-CN" sz="3200" dirty="0"/>
              <a:t>of the original.</a:t>
            </a:r>
          </a:p>
          <a:p>
            <a:endParaRPr lang="zh-CN" altLang="en-US" sz="3200" dirty="0"/>
          </a:p>
        </p:txBody>
      </p:sp>
    </p:spTree>
    <p:extLst>
      <p:ext uri="{BB962C8B-B14F-4D97-AF65-F5344CB8AC3E}">
        <p14:creationId xmlns:p14="http://schemas.microsoft.com/office/powerpoint/2010/main" val="3325683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You can write a good paraphrase if you follow these steps:</a:t>
            </a:r>
            <a:endParaRPr lang="zh-CN" altLang="en-US" dirty="0"/>
          </a:p>
        </p:txBody>
      </p:sp>
      <p:sp>
        <p:nvSpPr>
          <p:cNvPr id="3" name="内容占位符 2"/>
          <p:cNvSpPr>
            <a:spLocks noGrp="1"/>
          </p:cNvSpPr>
          <p:nvPr>
            <p:ph idx="1"/>
          </p:nvPr>
        </p:nvSpPr>
        <p:spPr/>
        <p:txBody>
          <a:bodyPr>
            <a:normAutofit/>
          </a:bodyPr>
          <a:lstStyle/>
          <a:p>
            <a:r>
              <a:rPr lang="en-US" altLang="zh-CN" sz="3200" dirty="0">
                <a:solidFill>
                  <a:srgbClr val="C00000"/>
                </a:solidFill>
              </a:rPr>
              <a:t>Step 1 </a:t>
            </a:r>
            <a:r>
              <a:rPr lang="en-US" altLang="zh-CN" sz="3200" dirty="0"/>
              <a:t>Read the original passage several times until you understand it fully. </a:t>
            </a:r>
          </a:p>
          <a:p>
            <a:r>
              <a:rPr lang="en-US" altLang="zh-CN" sz="3200" dirty="0"/>
              <a:t>Look up unfamiliar words, and find </a:t>
            </a:r>
            <a:r>
              <a:rPr lang="en-US" altLang="zh-CN" sz="3200" b="1" dirty="0"/>
              <a:t>synonyms</a:t>
            </a:r>
            <a:r>
              <a:rPr lang="en-US" altLang="zh-CN" sz="3200" dirty="0"/>
              <a:t> for them. It may not be possible to find synonyms for every word, especially technical vocabulary. In this case, use the original word. </a:t>
            </a:r>
            <a:endParaRPr lang="zh-CN" altLang="en-US" sz="3200" dirty="0"/>
          </a:p>
        </p:txBody>
      </p:sp>
    </p:spTree>
    <p:extLst>
      <p:ext uri="{BB962C8B-B14F-4D97-AF65-F5344CB8AC3E}">
        <p14:creationId xmlns:p14="http://schemas.microsoft.com/office/powerpoint/2010/main" val="33457929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C00000"/>
                </a:solidFill>
              </a:rPr>
              <a:t>Step 2 </a:t>
            </a:r>
            <a:r>
              <a:rPr lang="en-US" altLang="zh-CN" dirty="0"/>
              <a:t>It helps to take notes.</a:t>
            </a:r>
            <a:endParaRPr lang="zh-CN" altLang="en-US" dirty="0"/>
          </a:p>
        </p:txBody>
      </p:sp>
      <p:sp>
        <p:nvSpPr>
          <p:cNvPr id="3" name="内容占位符 2"/>
          <p:cNvSpPr>
            <a:spLocks noGrp="1"/>
          </p:cNvSpPr>
          <p:nvPr>
            <p:ph idx="1"/>
          </p:nvPr>
        </p:nvSpPr>
        <p:spPr/>
        <p:txBody>
          <a:bodyPr/>
          <a:lstStyle/>
          <a:p>
            <a:r>
              <a:rPr lang="en-US" altLang="zh-CN" sz="3200" dirty="0">
                <a:solidFill>
                  <a:srgbClr val="FF0000"/>
                </a:solidFill>
              </a:rPr>
              <a:t>Write down only a few words for each idea- not complete sentences. </a:t>
            </a:r>
          </a:p>
          <a:p>
            <a:r>
              <a:rPr lang="en-US" altLang="zh-CN" sz="3200" dirty="0"/>
              <a:t>Here are one writer's notes on the original passage about universal language:</a:t>
            </a:r>
          </a:p>
          <a:p>
            <a:pPr lvl="1"/>
            <a:r>
              <a:rPr lang="en-US" altLang="zh-CN" sz="3000" dirty="0">
                <a:solidFill>
                  <a:srgbClr val="00B050"/>
                </a:solidFill>
              </a:rPr>
              <a:t>Language--people use to communicate--but so many--difficult to understand one another--people wish--universal international language--reasons: cultural, economic bonds, better feelings between countries</a:t>
            </a:r>
          </a:p>
          <a:p>
            <a:endParaRPr lang="zh-CN" altLang="en-US" dirty="0"/>
          </a:p>
        </p:txBody>
      </p:sp>
    </p:spTree>
    <p:extLst>
      <p:ext uri="{BB962C8B-B14F-4D97-AF65-F5344CB8AC3E}">
        <p14:creationId xmlns:p14="http://schemas.microsoft.com/office/powerpoint/2010/main" val="3973869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It may be helpful to make </a:t>
            </a:r>
            <a:r>
              <a:rPr lang="en-US" altLang="zh-CN" u="sng" dirty="0"/>
              <a:t>a brief outline </a:t>
            </a:r>
            <a:r>
              <a:rPr lang="en-US" altLang="zh-CN" dirty="0"/>
              <a:t>such as the following:</a:t>
            </a:r>
            <a:endParaRPr lang="zh-CN" altLang="en-US" dirty="0"/>
          </a:p>
        </p:txBody>
      </p:sp>
      <p:sp>
        <p:nvSpPr>
          <p:cNvPr id="3" name="内容占位符 2"/>
          <p:cNvSpPr>
            <a:spLocks noGrp="1"/>
          </p:cNvSpPr>
          <p:nvPr>
            <p:ph idx="1"/>
          </p:nvPr>
        </p:nvSpPr>
        <p:spPr/>
        <p:txBody>
          <a:bodyPr>
            <a:normAutofit/>
          </a:bodyPr>
          <a:lstStyle/>
          <a:p>
            <a:r>
              <a:rPr lang="en-US" altLang="zh-CN" sz="3200" dirty="0">
                <a:solidFill>
                  <a:srgbClr val="00B050"/>
                </a:solidFill>
              </a:rPr>
              <a:t>A. Language--people use to communicate </a:t>
            </a:r>
          </a:p>
          <a:p>
            <a:pPr lvl="1"/>
            <a:r>
              <a:rPr lang="en-US" altLang="zh-CN" sz="3000" dirty="0">
                <a:solidFill>
                  <a:srgbClr val="00B050"/>
                </a:solidFill>
              </a:rPr>
              <a:t>1. So many languages make it difficult to understand one another. </a:t>
            </a:r>
          </a:p>
          <a:p>
            <a:pPr lvl="1"/>
            <a:r>
              <a:rPr lang="en-US" altLang="zh-CN" sz="3000" dirty="0">
                <a:solidFill>
                  <a:srgbClr val="00B050"/>
                </a:solidFill>
              </a:rPr>
              <a:t>2. People wish for one universal international language.</a:t>
            </a:r>
          </a:p>
          <a:p>
            <a:r>
              <a:rPr lang="en-US" altLang="zh-CN" sz="3200" dirty="0">
                <a:solidFill>
                  <a:srgbClr val="00B050"/>
                </a:solidFill>
              </a:rPr>
              <a:t>B. Reasons </a:t>
            </a:r>
          </a:p>
          <a:p>
            <a:pPr lvl="1"/>
            <a:r>
              <a:rPr lang="en-US" altLang="zh-CN" sz="3000" dirty="0">
                <a:solidFill>
                  <a:srgbClr val="00B050"/>
                </a:solidFill>
              </a:rPr>
              <a:t>1. Cultural, economic bonds </a:t>
            </a:r>
          </a:p>
          <a:p>
            <a:pPr lvl="1"/>
            <a:r>
              <a:rPr lang="en-US" altLang="zh-CN" sz="3000" dirty="0">
                <a:solidFill>
                  <a:srgbClr val="00B050"/>
                </a:solidFill>
              </a:rPr>
              <a:t>2. Better feelings between countries</a:t>
            </a:r>
          </a:p>
          <a:p>
            <a:endParaRPr lang="zh-CN" altLang="en-US" dirty="0"/>
          </a:p>
        </p:txBody>
      </p:sp>
    </p:spTree>
    <p:extLst>
      <p:ext uri="{BB962C8B-B14F-4D97-AF65-F5344CB8AC3E}">
        <p14:creationId xmlns:p14="http://schemas.microsoft.com/office/powerpoint/2010/main" val="2149917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olidFill>
                  <a:srgbClr val="C00000"/>
                </a:solidFill>
              </a:rPr>
              <a:t>Step 3 </a:t>
            </a:r>
            <a:r>
              <a:rPr lang="en-US" altLang="zh-CN" dirty="0"/>
              <a:t>Write your paraphrase from your notes. </a:t>
            </a:r>
            <a:endParaRPr lang="zh-CN" altLang="en-US" dirty="0"/>
          </a:p>
        </p:txBody>
      </p:sp>
      <p:sp>
        <p:nvSpPr>
          <p:cNvPr id="3" name="内容占位符 2"/>
          <p:cNvSpPr>
            <a:spLocks noGrp="1"/>
          </p:cNvSpPr>
          <p:nvPr>
            <p:ph idx="1"/>
          </p:nvPr>
        </p:nvSpPr>
        <p:spPr/>
        <p:txBody>
          <a:bodyPr>
            <a:normAutofit/>
          </a:bodyPr>
          <a:lstStyle/>
          <a:p>
            <a:r>
              <a:rPr lang="en-US" altLang="zh-CN" sz="3200" b="1" dirty="0">
                <a:solidFill>
                  <a:srgbClr val="C00000"/>
                </a:solidFill>
              </a:rPr>
              <a:t>Don't look at the original while you are writing.</a:t>
            </a:r>
          </a:p>
          <a:p>
            <a:endParaRPr lang="en-US" altLang="zh-CN" sz="3200" b="1" dirty="0">
              <a:solidFill>
                <a:srgbClr val="C00000"/>
              </a:solidFill>
            </a:endParaRPr>
          </a:p>
          <a:p>
            <a:r>
              <a:rPr lang="en-US" altLang="zh-CN" sz="4000" b="1" dirty="0">
                <a:solidFill>
                  <a:srgbClr val="00B050"/>
                </a:solidFill>
              </a:rPr>
              <a:t>Practice</a:t>
            </a:r>
            <a:endParaRPr lang="zh-CN" altLang="en-US" sz="4000" b="1" dirty="0">
              <a:solidFill>
                <a:srgbClr val="00B050"/>
              </a:solidFill>
            </a:endParaRPr>
          </a:p>
        </p:txBody>
      </p:sp>
    </p:spTree>
    <p:extLst>
      <p:ext uri="{BB962C8B-B14F-4D97-AF65-F5344CB8AC3E}">
        <p14:creationId xmlns:p14="http://schemas.microsoft.com/office/powerpoint/2010/main" val="27920260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sz="3200" dirty="0">
                <a:solidFill>
                  <a:srgbClr val="C00000"/>
                </a:solidFill>
              </a:rPr>
              <a:t>Step 4 </a:t>
            </a:r>
            <a:r>
              <a:rPr lang="en-US" altLang="zh-CN" sz="3200" dirty="0"/>
              <a:t>Check your paraphrase against the original to make sure you have not copied vocabulary or the sentence structure too closely. </a:t>
            </a:r>
          </a:p>
          <a:p>
            <a:r>
              <a:rPr lang="en-US" altLang="zh-CN" sz="3200" dirty="0"/>
              <a:t>Above all, make sure that you have not changed the meaning of the original or given any wrong information. </a:t>
            </a:r>
          </a:p>
          <a:p>
            <a:r>
              <a:rPr lang="en-US" altLang="zh-CN" sz="3200" dirty="0">
                <a:solidFill>
                  <a:srgbClr val="C00000"/>
                </a:solidFill>
              </a:rPr>
              <a:t>Step 5 </a:t>
            </a:r>
            <a:r>
              <a:rPr lang="en-US" altLang="zh-CN" sz="3200" u="sng" dirty="0"/>
              <a:t>Add an in-text citation at the end.</a:t>
            </a:r>
          </a:p>
          <a:p>
            <a:endParaRPr lang="zh-CN" altLang="en-US" dirty="0"/>
          </a:p>
        </p:txBody>
      </p:sp>
    </p:spTree>
    <p:extLst>
      <p:ext uri="{BB962C8B-B14F-4D97-AF65-F5344CB8AC3E}">
        <p14:creationId xmlns:p14="http://schemas.microsoft.com/office/powerpoint/2010/main" val="2623469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Paraphrase (63 words, about the same length as the original)</a:t>
            </a:r>
            <a:endParaRPr lang="zh-CN" altLang="en-US" dirty="0"/>
          </a:p>
        </p:txBody>
      </p:sp>
      <p:sp>
        <p:nvSpPr>
          <p:cNvPr id="3" name="内容占位符 2"/>
          <p:cNvSpPr>
            <a:spLocks noGrp="1"/>
          </p:cNvSpPr>
          <p:nvPr>
            <p:ph idx="1"/>
          </p:nvPr>
        </p:nvSpPr>
        <p:spPr/>
        <p:txBody>
          <a:bodyPr/>
          <a:lstStyle/>
          <a:p>
            <a:r>
              <a:rPr lang="en-US" altLang="zh-CN" sz="3200" dirty="0">
                <a:solidFill>
                  <a:srgbClr val="7030A0"/>
                </a:solidFill>
              </a:rPr>
              <a:t>Humans communicate through language. Because there are so many different languages, however, people around the world have a difficult time understanding one another. Some people have wished for a universal international language that speakers all over the world could understand. Their reasons are straightforward and clear. A universal language would build cultural and economic bonds. It would also create better feelings among countries (</a:t>
            </a:r>
            <a:r>
              <a:rPr lang="en-US" altLang="zh-CN" sz="3200" dirty="0" err="1">
                <a:solidFill>
                  <a:srgbClr val="7030A0"/>
                </a:solidFill>
              </a:rPr>
              <a:t>Kispert</a:t>
            </a:r>
            <a:r>
              <a:rPr lang="en-US" altLang="zh-CN" sz="3200" dirty="0">
                <a:solidFill>
                  <a:srgbClr val="7030A0"/>
                </a:solidFill>
              </a:rPr>
              <a:t>).</a:t>
            </a:r>
            <a:endParaRPr lang="zh-CN" altLang="zh-CN" sz="3200" dirty="0">
              <a:solidFill>
                <a:srgbClr val="7030A0"/>
              </a:solidFill>
            </a:endParaRPr>
          </a:p>
          <a:p>
            <a:endParaRPr lang="zh-CN" altLang="en-US" dirty="0">
              <a:solidFill>
                <a:srgbClr val="7030A0"/>
              </a:solidFill>
            </a:endParaRPr>
          </a:p>
        </p:txBody>
      </p:sp>
    </p:spTree>
    <p:extLst>
      <p:ext uri="{BB962C8B-B14F-4D97-AF65-F5344CB8AC3E}">
        <p14:creationId xmlns:p14="http://schemas.microsoft.com/office/powerpoint/2010/main" val="18557909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12027243" cy="5794954"/>
          </a:xfrm>
        </p:spPr>
        <p:txBody>
          <a:bodyPr>
            <a:noAutofit/>
          </a:bodyPr>
          <a:lstStyle/>
          <a:p>
            <a:pPr algn="just"/>
            <a:r>
              <a:rPr lang="en-US" altLang="zh-CN" sz="3200" dirty="0" smtClean="0"/>
              <a:t>Practice A:</a:t>
            </a:r>
          </a:p>
          <a:p>
            <a:pPr algn="just"/>
            <a:r>
              <a:rPr lang="en-US" altLang="zh-CN" sz="3200" dirty="0" smtClean="0"/>
              <a:t>Allen </a:t>
            </a:r>
            <a:r>
              <a:rPr lang="en-US" altLang="zh-CN" sz="3200" dirty="0"/>
              <a:t>(2009) argues that the best explanation for the </a:t>
            </a:r>
            <a:r>
              <a:rPr lang="en-US" altLang="zh-CN" sz="3200" dirty="0" smtClean="0"/>
              <a:t>British location </a:t>
            </a:r>
            <a:r>
              <a:rPr lang="en-US" altLang="zh-CN" sz="3200" dirty="0"/>
              <a:t>of the industrial revolution is found by </a:t>
            </a:r>
            <a:r>
              <a:rPr lang="en-US" altLang="zh-CN" sz="3200" dirty="0" smtClean="0"/>
              <a:t>studying demand </a:t>
            </a:r>
            <a:r>
              <a:rPr lang="en-US" altLang="zh-CN" sz="3200" dirty="0"/>
              <a:t>factors. By the early eighteenth century high </a:t>
            </a:r>
            <a:r>
              <a:rPr lang="en-US" altLang="zh-CN" sz="3200" dirty="0" smtClean="0"/>
              <a:t>wages and </a:t>
            </a:r>
            <a:r>
              <a:rPr lang="en-US" altLang="zh-CN" sz="3200" dirty="0"/>
              <a:t>cheap energy were both features of the British economy</a:t>
            </a:r>
            <a:r>
              <a:rPr lang="en-US" altLang="zh-CN" sz="3200" dirty="0" smtClean="0"/>
              <a:t>. Consequently</a:t>
            </a:r>
            <a:r>
              <a:rPr lang="en-US" altLang="zh-CN" sz="3200" dirty="0"/>
              <a:t>, the </a:t>
            </a:r>
            <a:r>
              <a:rPr lang="en-US" altLang="zh-CN" sz="3200" dirty="0" err="1"/>
              <a:t>mechanisation</a:t>
            </a:r>
            <a:r>
              <a:rPr lang="en-US" altLang="zh-CN" sz="3200" dirty="0"/>
              <a:t> of industry through </a:t>
            </a:r>
            <a:r>
              <a:rPr lang="en-US" altLang="zh-CN" sz="3200" dirty="0" smtClean="0"/>
              <a:t>such inventions </a:t>
            </a:r>
            <a:r>
              <a:rPr lang="en-US" altLang="zh-CN" sz="3200" dirty="0"/>
              <a:t>as the steam engine and mechanical spinning </a:t>
            </a:r>
            <a:r>
              <a:rPr lang="en-US" altLang="zh-CN" sz="3200" dirty="0" smtClean="0"/>
              <a:t>was proﬁtable </a:t>
            </a:r>
            <a:r>
              <a:rPr lang="en-US" altLang="zh-CN" sz="3200" dirty="0"/>
              <a:t>because employers were able to </a:t>
            </a:r>
            <a:r>
              <a:rPr lang="en-US" altLang="zh-CN" sz="3200" dirty="0" err="1"/>
              <a:t>economise</a:t>
            </a:r>
            <a:r>
              <a:rPr lang="en-US" altLang="zh-CN" sz="3200" dirty="0"/>
              <a:t> on</a:t>
            </a:r>
          </a:p>
          <a:p>
            <a:pPr algn="just"/>
            <a:r>
              <a:rPr lang="en-US" altLang="zh-CN" sz="3200" dirty="0" err="1"/>
              <a:t>labour</a:t>
            </a:r>
            <a:r>
              <a:rPr lang="en-US" altLang="zh-CN" sz="3200" dirty="0"/>
              <a:t> by spending on coal. At that time, no other country </a:t>
            </a:r>
            <a:r>
              <a:rPr lang="en-US" altLang="zh-CN" sz="3200" dirty="0" smtClean="0"/>
              <a:t> had </a:t>
            </a:r>
            <a:r>
              <a:rPr lang="en-US" altLang="zh-CN" sz="3200" dirty="0"/>
              <a:t>this particular combination of expensive </a:t>
            </a:r>
            <a:r>
              <a:rPr lang="en-US" altLang="zh-CN" sz="3200" dirty="0" err="1"/>
              <a:t>labour</a:t>
            </a:r>
            <a:r>
              <a:rPr lang="en-US" altLang="zh-CN" sz="3200" dirty="0"/>
              <a:t> </a:t>
            </a:r>
            <a:r>
              <a:rPr lang="en-US" altLang="zh-CN" sz="3200" dirty="0" smtClean="0"/>
              <a:t>and abundant </a:t>
            </a:r>
            <a:r>
              <a:rPr lang="en-US" altLang="zh-CN" sz="3200" dirty="0"/>
              <a:t>fuel.</a:t>
            </a:r>
            <a:endParaRPr lang="zh-CN" altLang="en-US" sz="3200" dirty="0"/>
          </a:p>
        </p:txBody>
      </p:sp>
    </p:spTree>
    <p:extLst>
      <p:ext uri="{BB962C8B-B14F-4D97-AF65-F5344CB8AC3E}">
        <p14:creationId xmlns:p14="http://schemas.microsoft.com/office/powerpoint/2010/main" val="640970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Note that an </a:t>
            </a:r>
            <a:r>
              <a:rPr lang="en-US" altLang="zh-CN" dirty="0">
                <a:solidFill>
                  <a:srgbClr val="C00000"/>
                </a:solidFill>
              </a:rPr>
              <a:t>effective</a:t>
            </a:r>
            <a:r>
              <a:rPr lang="en-US" altLang="zh-CN" dirty="0"/>
              <a:t> paraphrase usually:</a:t>
            </a:r>
            <a:endParaRPr lang="zh-CN" altLang="en-US" dirty="0"/>
          </a:p>
        </p:txBody>
      </p:sp>
      <p:sp>
        <p:nvSpPr>
          <p:cNvPr id="3" name="内容占位符 2"/>
          <p:cNvSpPr>
            <a:spLocks noGrp="1"/>
          </p:cNvSpPr>
          <p:nvPr>
            <p:ph idx="1"/>
          </p:nvPr>
        </p:nvSpPr>
        <p:spPr/>
        <p:txBody>
          <a:bodyPr/>
          <a:lstStyle/>
          <a:p>
            <a:r>
              <a:rPr lang="en-US" altLang="zh-CN" sz="3200" dirty="0"/>
              <a:t>• has a different structure to the original</a:t>
            </a:r>
          </a:p>
          <a:p>
            <a:r>
              <a:rPr lang="en-US" altLang="zh-CN" sz="3200" dirty="0"/>
              <a:t>• has mainly different vocabulary</a:t>
            </a:r>
          </a:p>
          <a:p>
            <a:r>
              <a:rPr lang="en-US" altLang="zh-CN" sz="3200" dirty="0"/>
              <a:t>• retains the same meaning</a:t>
            </a:r>
          </a:p>
          <a:p>
            <a:r>
              <a:rPr lang="en-US" altLang="zh-CN" sz="3200" dirty="0"/>
              <a:t>• keeps some phrases from the original that are in common use </a:t>
            </a:r>
          </a:p>
          <a:p>
            <a:pPr lvl="1"/>
            <a:r>
              <a:rPr lang="en-US" altLang="zh-CN" sz="3000" dirty="0">
                <a:solidFill>
                  <a:srgbClr val="00B050"/>
                </a:solidFill>
              </a:rPr>
              <a:t>e.g. ‘industrial revolution’ or ‘eighteenth century’</a:t>
            </a:r>
          </a:p>
          <a:p>
            <a:endParaRPr lang="zh-CN" altLang="en-US" dirty="0"/>
          </a:p>
        </p:txBody>
      </p:sp>
    </p:spTree>
    <p:extLst>
      <p:ext uri="{BB962C8B-B14F-4D97-AF65-F5344CB8AC3E}">
        <p14:creationId xmlns:p14="http://schemas.microsoft.com/office/powerpoint/2010/main" val="1896574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Techniques for paraphrasing</a:t>
            </a:r>
            <a:endParaRPr lang="zh-CN" altLang="en-US" dirty="0"/>
          </a:p>
        </p:txBody>
      </p:sp>
      <p:sp>
        <p:nvSpPr>
          <p:cNvPr id="3" name="内容占位符 2"/>
          <p:cNvSpPr>
            <a:spLocks noGrp="1"/>
          </p:cNvSpPr>
          <p:nvPr>
            <p:ph idx="1"/>
          </p:nvPr>
        </p:nvSpPr>
        <p:spPr/>
        <p:txBody>
          <a:bodyPr>
            <a:normAutofit/>
          </a:bodyPr>
          <a:lstStyle/>
          <a:p>
            <a:r>
              <a:rPr lang="en-US" altLang="zh-CN" sz="3200" dirty="0"/>
              <a:t> </a:t>
            </a:r>
            <a:r>
              <a:rPr lang="en-US" altLang="zh-CN" sz="3200" dirty="0">
                <a:solidFill>
                  <a:srgbClr val="C00000"/>
                </a:solidFill>
              </a:rPr>
              <a:t>(a) Changing vocabulary by using synonyms:</a:t>
            </a:r>
          </a:p>
          <a:p>
            <a:r>
              <a:rPr lang="en-US" altLang="zh-CN" sz="3200" dirty="0">
                <a:solidFill>
                  <a:srgbClr val="00B050"/>
                </a:solidFill>
              </a:rPr>
              <a:t>argues</a:t>
            </a:r>
            <a:r>
              <a:rPr lang="en-US" altLang="zh-CN" sz="3200" dirty="0"/>
              <a:t> &gt; claims/ </a:t>
            </a:r>
            <a:r>
              <a:rPr lang="en-US" altLang="zh-CN" sz="3200" dirty="0">
                <a:solidFill>
                  <a:srgbClr val="00B050"/>
                </a:solidFill>
              </a:rPr>
              <a:t>eighteenth century </a:t>
            </a:r>
            <a:r>
              <a:rPr lang="en-US" altLang="zh-CN" sz="3200" dirty="0"/>
              <a:t>&gt; 1700s/ </a:t>
            </a:r>
            <a:r>
              <a:rPr lang="en-US" altLang="zh-CN" sz="3200" dirty="0">
                <a:solidFill>
                  <a:srgbClr val="00B050"/>
                </a:solidFill>
              </a:rPr>
              <a:t>wages</a:t>
            </a:r>
            <a:r>
              <a:rPr lang="en-US" altLang="zh-CN" sz="3200" dirty="0"/>
              <a:t> &gt; </a:t>
            </a:r>
            <a:r>
              <a:rPr lang="en-US" altLang="zh-CN" sz="3200" dirty="0" err="1"/>
              <a:t>labour</a:t>
            </a:r>
            <a:r>
              <a:rPr lang="en-US" altLang="zh-CN" sz="3200" dirty="0"/>
              <a:t> costs/ </a:t>
            </a:r>
            <a:r>
              <a:rPr lang="en-US" altLang="zh-CN" sz="3200" dirty="0" err="1">
                <a:solidFill>
                  <a:srgbClr val="00B050"/>
                </a:solidFill>
              </a:rPr>
              <a:t>economise</a:t>
            </a:r>
            <a:r>
              <a:rPr lang="en-US" altLang="zh-CN" sz="3200" dirty="0">
                <a:solidFill>
                  <a:srgbClr val="00B050"/>
                </a:solidFill>
              </a:rPr>
              <a:t> </a:t>
            </a:r>
            <a:r>
              <a:rPr lang="en-US" altLang="zh-CN" sz="3200" dirty="0"/>
              <a:t>&gt; saving</a:t>
            </a:r>
          </a:p>
          <a:p>
            <a:endParaRPr lang="en-US" altLang="zh-CN" sz="3200" dirty="0"/>
          </a:p>
          <a:p>
            <a:r>
              <a:rPr lang="en-US" altLang="zh-CN" sz="3200" dirty="0"/>
              <a:t>Do not attempt to paraphrase every word, since some have no true synonym, e.g. </a:t>
            </a:r>
            <a:r>
              <a:rPr lang="en-US" altLang="zh-CN" sz="3200" dirty="0">
                <a:solidFill>
                  <a:srgbClr val="00B050"/>
                </a:solidFill>
              </a:rPr>
              <a:t>demand, economy, energy</a:t>
            </a:r>
          </a:p>
          <a:p>
            <a:endParaRPr lang="zh-CN" altLang="en-US" dirty="0"/>
          </a:p>
        </p:txBody>
      </p:sp>
    </p:spTree>
    <p:extLst>
      <p:ext uri="{BB962C8B-B14F-4D97-AF65-F5344CB8AC3E}">
        <p14:creationId xmlns:p14="http://schemas.microsoft.com/office/powerpoint/2010/main" val="2696517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1097280" y="1737359"/>
            <a:ext cx="10058400" cy="4624803"/>
          </a:xfrm>
        </p:spPr>
        <p:txBody>
          <a:bodyPr>
            <a:normAutofit fontScale="92500" lnSpcReduction="10000"/>
          </a:bodyPr>
          <a:lstStyle/>
          <a:p>
            <a:r>
              <a:rPr lang="en-US" altLang="zh-CN" sz="3200" dirty="0">
                <a:solidFill>
                  <a:srgbClr val="C00000"/>
                </a:solidFill>
              </a:rPr>
              <a:t>(b) Changing word class:</a:t>
            </a:r>
          </a:p>
          <a:p>
            <a:r>
              <a:rPr lang="en-US" altLang="zh-CN" sz="3200" dirty="0">
                <a:solidFill>
                  <a:srgbClr val="00B050"/>
                </a:solidFill>
              </a:rPr>
              <a:t>explanation</a:t>
            </a:r>
            <a:r>
              <a:rPr lang="en-US" altLang="zh-CN" sz="3200" dirty="0"/>
              <a:t> (n.) &gt; explain (v.) / </a:t>
            </a:r>
            <a:r>
              <a:rPr lang="en-US" altLang="zh-CN" sz="3200" dirty="0">
                <a:solidFill>
                  <a:srgbClr val="00B050"/>
                </a:solidFill>
              </a:rPr>
              <a:t>mechanical</a:t>
            </a:r>
            <a:r>
              <a:rPr lang="en-US" altLang="zh-CN" sz="3200" dirty="0"/>
              <a:t> (adj.) &gt; </a:t>
            </a:r>
            <a:r>
              <a:rPr lang="en-US" altLang="zh-CN" sz="3200" dirty="0" err="1"/>
              <a:t>mechanise</a:t>
            </a:r>
            <a:r>
              <a:rPr lang="en-US" altLang="zh-CN" sz="3200" dirty="0"/>
              <a:t> (v.) / </a:t>
            </a:r>
            <a:r>
              <a:rPr lang="en-US" altLang="zh-CN" sz="3200" dirty="0">
                <a:solidFill>
                  <a:srgbClr val="00B050"/>
                </a:solidFill>
              </a:rPr>
              <a:t>proﬁtable</a:t>
            </a:r>
            <a:r>
              <a:rPr lang="en-US" altLang="zh-CN" sz="3200" dirty="0"/>
              <a:t> (adj.) &gt; proﬁtability (n.)</a:t>
            </a:r>
          </a:p>
          <a:p>
            <a:endParaRPr lang="en-US" altLang="zh-CN" sz="3200" dirty="0"/>
          </a:p>
          <a:p>
            <a:r>
              <a:rPr lang="en-US" altLang="zh-CN" sz="3200" dirty="0">
                <a:solidFill>
                  <a:srgbClr val="C00000"/>
                </a:solidFill>
              </a:rPr>
              <a:t>(c) Changing word order:</a:t>
            </a:r>
          </a:p>
          <a:p>
            <a:r>
              <a:rPr lang="en-US" altLang="zh-CN" sz="3200" dirty="0">
                <a:solidFill>
                  <a:srgbClr val="00B050"/>
                </a:solidFill>
              </a:rPr>
              <a:t>. . . the best explanation for the British location of the industrial revolution is found by studying demand factors.</a:t>
            </a:r>
          </a:p>
          <a:p>
            <a:r>
              <a:rPr lang="en-US" altLang="zh-CN" sz="3200" dirty="0"/>
              <a:t>&gt; A focus on demand may help explain the UK origin of the industrial revolution.</a:t>
            </a:r>
          </a:p>
          <a:p>
            <a:endParaRPr lang="zh-CN" altLang="en-US" dirty="0"/>
          </a:p>
        </p:txBody>
      </p:sp>
    </p:spTree>
    <p:extLst>
      <p:ext uri="{BB962C8B-B14F-4D97-AF65-F5344CB8AC3E}">
        <p14:creationId xmlns:p14="http://schemas.microsoft.com/office/powerpoint/2010/main" val="3487838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683741"/>
            <a:ext cx="10700951" cy="5412259"/>
          </a:xfrm>
        </p:spPr>
        <p:txBody>
          <a:bodyPr>
            <a:normAutofit/>
          </a:bodyPr>
          <a:lstStyle/>
          <a:p>
            <a:r>
              <a:rPr lang="en-US" altLang="zh-CN" sz="3200" dirty="0" smtClean="0">
                <a:solidFill>
                  <a:srgbClr val="FF0000"/>
                </a:solidFill>
              </a:rPr>
              <a:t>Reference Version:</a:t>
            </a:r>
          </a:p>
          <a:p>
            <a:r>
              <a:rPr lang="en-US" altLang="zh-CN" sz="3200" dirty="0" smtClean="0"/>
              <a:t>The </a:t>
            </a:r>
            <a:r>
              <a:rPr lang="en-US" altLang="zh-CN" sz="3200" dirty="0"/>
              <a:t>reason why Britain was the birthplace of the industrial</a:t>
            </a:r>
          </a:p>
          <a:p>
            <a:r>
              <a:rPr lang="en-US" altLang="zh-CN" sz="3200" dirty="0"/>
              <a:t>revolution can be understood by </a:t>
            </a:r>
            <a:r>
              <a:rPr lang="en-US" altLang="zh-CN" sz="3200" dirty="0" err="1"/>
              <a:t>analysing</a:t>
            </a:r>
            <a:r>
              <a:rPr lang="en-US" altLang="zh-CN" sz="3200" dirty="0"/>
              <a:t> demand in the</a:t>
            </a:r>
          </a:p>
          <a:p>
            <a:r>
              <a:rPr lang="en-US" altLang="zh-CN" sz="3200" dirty="0"/>
              <a:t>early 1700s, according to Allen (2009). He maintains that</a:t>
            </a:r>
            <a:r>
              <a:rPr lang="en-US" altLang="zh-CN" sz="3200" dirty="0" smtClean="0"/>
              <a:t>,</a:t>
            </a:r>
          </a:p>
          <a:p>
            <a:r>
              <a:rPr lang="en-US" altLang="zh-CN" sz="3200" dirty="0" smtClean="0"/>
              <a:t> </a:t>
            </a:r>
            <a:r>
              <a:rPr lang="en-US" altLang="zh-CN" sz="3200" dirty="0"/>
              <a:t>uniquely, Britain had the critical combination of cheap energy</a:t>
            </a:r>
          </a:p>
          <a:p>
            <a:r>
              <a:rPr lang="en-US" altLang="zh-CN" sz="3200" dirty="0"/>
              <a:t>from coal and high </a:t>
            </a:r>
            <a:r>
              <a:rPr lang="en-US" altLang="zh-CN" sz="3200" dirty="0" err="1"/>
              <a:t>labour</a:t>
            </a:r>
            <a:r>
              <a:rPr lang="en-US" altLang="zh-CN" sz="3200" dirty="0"/>
              <a:t> costs. This encouraged the adoption</a:t>
            </a:r>
          </a:p>
          <a:p>
            <a:r>
              <a:rPr lang="en-US" altLang="zh-CN" sz="3200" dirty="0"/>
              <a:t>of steam power to </a:t>
            </a:r>
            <a:r>
              <a:rPr lang="en-US" altLang="zh-CN" sz="3200" dirty="0" err="1"/>
              <a:t>mechanise</a:t>
            </a:r>
            <a:r>
              <a:rPr lang="en-US" altLang="zh-CN" sz="3200" dirty="0"/>
              <a:t> production, thus saving on</a:t>
            </a:r>
          </a:p>
          <a:p>
            <a:r>
              <a:rPr lang="en-US" altLang="zh-CN" sz="3200" dirty="0"/>
              <a:t>wages and increasing proﬁtability.</a:t>
            </a:r>
            <a:endParaRPr lang="zh-CN" altLang="en-US" sz="3200" dirty="0"/>
          </a:p>
        </p:txBody>
      </p:sp>
    </p:spTree>
    <p:extLst>
      <p:ext uri="{BB962C8B-B14F-4D97-AF65-F5344CB8AC3E}">
        <p14:creationId xmlns:p14="http://schemas.microsoft.com/office/powerpoint/2010/main" val="35427129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30660" y="0"/>
            <a:ext cx="10702599" cy="5811429"/>
          </a:xfrm>
        </p:spPr>
        <p:txBody>
          <a:bodyPr>
            <a:noAutofit/>
          </a:bodyPr>
          <a:lstStyle/>
          <a:p>
            <a:pPr marL="0" indent="0">
              <a:buNone/>
            </a:pPr>
            <a:r>
              <a:rPr lang="en-US" altLang="zh-CN" b="1" dirty="0" smtClean="0"/>
              <a:t>Practice B                                                        FOUR </a:t>
            </a:r>
            <a:r>
              <a:rPr lang="en-US" altLang="zh-CN" b="1" dirty="0"/>
              <a:t>WHEELS GOOD</a:t>
            </a:r>
            <a:endParaRPr lang="zh-CN" altLang="zh-CN" dirty="0"/>
          </a:p>
          <a:p>
            <a:pPr>
              <a:lnSpc>
                <a:spcPct val="150000"/>
              </a:lnSpc>
            </a:pPr>
            <a:r>
              <a:rPr lang="en-US" altLang="zh-CN" b="1" dirty="0"/>
              <a:t>The growth of the car industry parallels the development of modern capitalism. It began in France and Germany, but </a:t>
            </a:r>
            <a:r>
              <a:rPr lang="en-US" altLang="zh-CN" b="1" dirty="0" smtClean="0"/>
              <a:t>took off </a:t>
            </a:r>
            <a:r>
              <a:rPr lang="en-US" altLang="zh-CN" b="1" dirty="0"/>
              <a:t>in the United States. There Henry Ford adapted the moving production line from the Chicago meat industry to </a:t>
            </a:r>
            <a:r>
              <a:rPr lang="en-US" altLang="zh-CN" b="1" dirty="0" smtClean="0"/>
              <a:t>motor manufacturing</a:t>
            </a:r>
            <a:r>
              <a:rPr lang="en-US" altLang="zh-CN" b="1" dirty="0"/>
              <a:t>, thus inventing mass production. In the 1920s Alfred Sloan’s management theories helped General Motors to become the world’s dominant car company. After the second world war the car makers focused on the styling of </a:t>
            </a:r>
            <a:r>
              <a:rPr lang="en-US" altLang="zh-CN" b="1" dirty="0" smtClean="0"/>
              <a:t>their products </a:t>
            </a:r>
            <a:r>
              <a:rPr lang="en-US" altLang="zh-CN" b="1" dirty="0"/>
              <a:t>to encourage more frequent model changes. From the 1970s there was criticism of the industry due to </a:t>
            </a:r>
            <a:r>
              <a:rPr lang="en-US" altLang="zh-CN" b="1" dirty="0" smtClean="0"/>
              <a:t>the inefﬁciency </a:t>
            </a:r>
            <a:r>
              <a:rPr lang="en-US" altLang="zh-CN" b="1" dirty="0"/>
              <a:t>of most vehicles, which used petrol wastefully. At the same time, trades unions became increasingly militant in </a:t>
            </a:r>
            <a:r>
              <a:rPr lang="en-US" altLang="zh-CN" b="1" dirty="0" err="1"/>
              <a:t>defence</a:t>
            </a:r>
            <a:r>
              <a:rPr lang="en-US" altLang="zh-CN" b="1" dirty="0"/>
              <a:t> of their members’ jobs. Today the industry owns some of the most famous brands in the world. However, </a:t>
            </a:r>
            <a:r>
              <a:rPr lang="en-US" altLang="zh-CN" b="1" dirty="0" smtClean="0"/>
              <a:t>many car </a:t>
            </a:r>
            <a:r>
              <a:rPr lang="en-US" altLang="zh-CN" b="1" dirty="0"/>
              <a:t>makers are currently threatened by increased competition and saturated markets.</a:t>
            </a:r>
            <a:endParaRPr lang="zh-CN" altLang="zh-CN" dirty="0"/>
          </a:p>
          <a:p>
            <a:endParaRPr lang="zh-CN" altLang="en-US" dirty="0"/>
          </a:p>
        </p:txBody>
      </p:sp>
    </p:spTree>
    <p:extLst>
      <p:ext uri="{BB962C8B-B14F-4D97-AF65-F5344CB8AC3E}">
        <p14:creationId xmlns:p14="http://schemas.microsoft.com/office/powerpoint/2010/main" val="10529400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83096" y="453539"/>
            <a:ext cx="10058400" cy="4023360"/>
          </a:xfrm>
        </p:spPr>
        <p:txBody>
          <a:bodyPr>
            <a:noAutofit/>
          </a:bodyPr>
          <a:lstStyle/>
          <a:p>
            <a:r>
              <a:rPr lang="en-US" altLang="zh-CN" sz="3200" b="1" dirty="0"/>
              <a:t>(a) Find synonyms for the words underlined.</a:t>
            </a:r>
          </a:p>
          <a:p>
            <a:r>
              <a:rPr lang="en-US" altLang="zh-CN" sz="2400" b="1" dirty="0">
                <a:solidFill>
                  <a:srgbClr val="7030A0"/>
                </a:solidFill>
              </a:rPr>
              <a:t>(</a:t>
            </a:r>
            <a:r>
              <a:rPr lang="en-US" altLang="zh-CN" sz="2400" b="1" dirty="0" err="1">
                <a:solidFill>
                  <a:srgbClr val="7030A0"/>
                </a:solidFill>
              </a:rPr>
              <a:t>i</a:t>
            </a:r>
            <a:r>
              <a:rPr lang="en-US" altLang="zh-CN" sz="2400" b="1" dirty="0">
                <a:solidFill>
                  <a:srgbClr val="7030A0"/>
                </a:solidFill>
              </a:rPr>
              <a:t>) The </a:t>
            </a:r>
            <a:r>
              <a:rPr lang="en-US" altLang="zh-CN" sz="2400" b="1" u="sng" dirty="0">
                <a:solidFill>
                  <a:srgbClr val="7030A0"/>
                </a:solidFill>
              </a:rPr>
              <a:t>growth</a:t>
            </a:r>
            <a:r>
              <a:rPr lang="en-US" altLang="zh-CN" sz="2400" b="1" dirty="0">
                <a:solidFill>
                  <a:srgbClr val="7030A0"/>
                </a:solidFill>
              </a:rPr>
              <a:t> of the </a:t>
            </a:r>
            <a:r>
              <a:rPr lang="en-US" altLang="zh-CN" sz="2400" b="1" u="sng" dirty="0">
                <a:solidFill>
                  <a:srgbClr val="7030A0"/>
                </a:solidFill>
              </a:rPr>
              <a:t>car</a:t>
            </a:r>
            <a:r>
              <a:rPr lang="en-US" altLang="zh-CN" sz="2400" b="1" dirty="0">
                <a:solidFill>
                  <a:srgbClr val="7030A0"/>
                </a:solidFill>
              </a:rPr>
              <a:t> industry </a:t>
            </a:r>
            <a:r>
              <a:rPr lang="en-US" altLang="zh-CN" sz="2400" b="1" u="sng" dirty="0">
                <a:solidFill>
                  <a:srgbClr val="7030A0"/>
                </a:solidFill>
              </a:rPr>
              <a:t>parallels</a:t>
            </a:r>
            <a:r>
              <a:rPr lang="en-US" altLang="zh-CN" sz="2400" b="1" dirty="0">
                <a:solidFill>
                  <a:srgbClr val="7030A0"/>
                </a:solidFill>
              </a:rPr>
              <a:t> the </a:t>
            </a:r>
            <a:r>
              <a:rPr lang="en-US" altLang="zh-CN" sz="2400" b="1" u="sng" dirty="0">
                <a:solidFill>
                  <a:srgbClr val="7030A0"/>
                </a:solidFill>
              </a:rPr>
              <a:t>development </a:t>
            </a:r>
            <a:r>
              <a:rPr lang="en-US" altLang="zh-CN" sz="2400" b="1" dirty="0">
                <a:solidFill>
                  <a:srgbClr val="7030A0"/>
                </a:solidFill>
              </a:rPr>
              <a:t>of</a:t>
            </a:r>
          </a:p>
          <a:p>
            <a:r>
              <a:rPr lang="en-US" altLang="zh-CN" sz="2400" b="1" u="sng" dirty="0">
                <a:solidFill>
                  <a:srgbClr val="7030A0"/>
                </a:solidFill>
              </a:rPr>
              <a:t>modern</a:t>
            </a:r>
            <a:r>
              <a:rPr lang="en-US" altLang="zh-CN" sz="2400" b="1" dirty="0">
                <a:solidFill>
                  <a:srgbClr val="7030A0"/>
                </a:solidFill>
              </a:rPr>
              <a:t> capitalism.</a:t>
            </a:r>
          </a:p>
          <a:p>
            <a:r>
              <a:rPr lang="en-US" altLang="zh-CN" sz="2400" b="1" dirty="0">
                <a:solidFill>
                  <a:srgbClr val="7030A0"/>
                </a:solidFill>
              </a:rPr>
              <a:t>Example: The </a:t>
            </a:r>
            <a:r>
              <a:rPr lang="en-US" altLang="zh-CN" sz="2400" b="1" u="sng" dirty="0">
                <a:solidFill>
                  <a:srgbClr val="7030A0"/>
                </a:solidFill>
              </a:rPr>
              <a:t>rise</a:t>
            </a:r>
            <a:r>
              <a:rPr lang="en-US" altLang="zh-CN" sz="2400" b="1" dirty="0">
                <a:solidFill>
                  <a:srgbClr val="7030A0"/>
                </a:solidFill>
              </a:rPr>
              <a:t> of the </a:t>
            </a:r>
            <a:r>
              <a:rPr lang="en-US" altLang="zh-CN" sz="2400" b="1" u="sng" dirty="0">
                <a:solidFill>
                  <a:srgbClr val="7030A0"/>
                </a:solidFill>
              </a:rPr>
              <a:t>automobile</a:t>
            </a:r>
            <a:r>
              <a:rPr lang="en-US" altLang="zh-CN" sz="2400" b="1" dirty="0">
                <a:solidFill>
                  <a:srgbClr val="7030A0"/>
                </a:solidFill>
              </a:rPr>
              <a:t> industry </a:t>
            </a:r>
            <a:r>
              <a:rPr lang="en-US" altLang="zh-CN" sz="2400" b="1" u="sng" dirty="0">
                <a:solidFill>
                  <a:srgbClr val="7030A0"/>
                </a:solidFill>
              </a:rPr>
              <a:t>matches </a:t>
            </a:r>
            <a:r>
              <a:rPr lang="en-US" altLang="zh-CN" sz="2400" b="1" dirty="0">
                <a:solidFill>
                  <a:srgbClr val="7030A0"/>
                </a:solidFill>
              </a:rPr>
              <a:t>the</a:t>
            </a:r>
          </a:p>
          <a:p>
            <a:r>
              <a:rPr lang="en-US" altLang="zh-CN" sz="2400" b="1" u="sng" dirty="0">
                <a:solidFill>
                  <a:srgbClr val="7030A0"/>
                </a:solidFill>
              </a:rPr>
              <a:t>progress</a:t>
            </a:r>
            <a:r>
              <a:rPr lang="en-US" altLang="zh-CN" sz="2400" b="1" dirty="0">
                <a:solidFill>
                  <a:srgbClr val="7030A0"/>
                </a:solidFill>
              </a:rPr>
              <a:t> of </a:t>
            </a:r>
            <a:r>
              <a:rPr lang="en-US" altLang="zh-CN" sz="2400" b="1" u="sng" dirty="0">
                <a:solidFill>
                  <a:srgbClr val="7030A0"/>
                </a:solidFill>
              </a:rPr>
              <a:t>contemporary</a:t>
            </a:r>
            <a:r>
              <a:rPr lang="en-US" altLang="zh-CN" sz="2400" b="1" dirty="0">
                <a:solidFill>
                  <a:srgbClr val="7030A0"/>
                </a:solidFill>
              </a:rPr>
              <a:t> capitalism.</a:t>
            </a:r>
          </a:p>
          <a:p>
            <a:r>
              <a:rPr lang="en-US" altLang="zh-CN" sz="2400" b="1" dirty="0">
                <a:solidFill>
                  <a:srgbClr val="7030A0"/>
                </a:solidFill>
              </a:rPr>
              <a:t>(ii) It </a:t>
            </a:r>
            <a:r>
              <a:rPr lang="en-US" altLang="zh-CN" sz="2400" b="1" u="sng" dirty="0">
                <a:solidFill>
                  <a:srgbClr val="7030A0"/>
                </a:solidFill>
              </a:rPr>
              <a:t>began</a:t>
            </a:r>
            <a:r>
              <a:rPr lang="en-US" altLang="zh-CN" sz="2400" b="1" dirty="0">
                <a:solidFill>
                  <a:srgbClr val="7030A0"/>
                </a:solidFill>
              </a:rPr>
              <a:t> in France and Germany, but </a:t>
            </a:r>
            <a:r>
              <a:rPr lang="en-US" altLang="zh-CN" sz="2400" b="1" u="sng" dirty="0">
                <a:solidFill>
                  <a:srgbClr val="7030A0"/>
                </a:solidFill>
              </a:rPr>
              <a:t>took off </a:t>
            </a:r>
            <a:r>
              <a:rPr lang="en-US" altLang="zh-CN" sz="2400" b="1" dirty="0">
                <a:solidFill>
                  <a:srgbClr val="7030A0"/>
                </a:solidFill>
              </a:rPr>
              <a:t>in the United</a:t>
            </a:r>
          </a:p>
          <a:p>
            <a:r>
              <a:rPr lang="en-US" altLang="zh-CN" sz="2400" b="1" dirty="0">
                <a:solidFill>
                  <a:srgbClr val="7030A0"/>
                </a:solidFill>
              </a:rPr>
              <a:t>States.</a:t>
            </a:r>
          </a:p>
          <a:p>
            <a:r>
              <a:rPr lang="en-US" altLang="zh-CN" sz="2400" b="1" dirty="0">
                <a:solidFill>
                  <a:srgbClr val="7030A0"/>
                </a:solidFill>
              </a:rPr>
              <a:t>(iii) There Henry Ford </a:t>
            </a:r>
            <a:r>
              <a:rPr lang="en-US" altLang="zh-CN" sz="2400" b="1" u="sng" dirty="0">
                <a:solidFill>
                  <a:srgbClr val="7030A0"/>
                </a:solidFill>
              </a:rPr>
              <a:t>adapted</a:t>
            </a:r>
            <a:r>
              <a:rPr lang="en-US" altLang="zh-CN" sz="2400" b="1" dirty="0">
                <a:solidFill>
                  <a:srgbClr val="7030A0"/>
                </a:solidFill>
              </a:rPr>
              <a:t> the moving </a:t>
            </a:r>
            <a:r>
              <a:rPr lang="en-US" altLang="zh-CN" sz="2400" b="1" u="sng" dirty="0">
                <a:solidFill>
                  <a:srgbClr val="7030A0"/>
                </a:solidFill>
              </a:rPr>
              <a:t>production</a:t>
            </a:r>
            <a:r>
              <a:rPr lang="en-US" altLang="zh-CN" sz="2400" b="1" dirty="0">
                <a:solidFill>
                  <a:srgbClr val="7030A0"/>
                </a:solidFill>
              </a:rPr>
              <a:t> line from the</a:t>
            </a:r>
          </a:p>
          <a:p>
            <a:r>
              <a:rPr lang="en-US" altLang="zh-CN" sz="2400" b="1" dirty="0">
                <a:solidFill>
                  <a:srgbClr val="7030A0"/>
                </a:solidFill>
              </a:rPr>
              <a:t>Chicago meat industry to </a:t>
            </a:r>
            <a:r>
              <a:rPr lang="en-US" altLang="zh-CN" sz="2400" b="1" u="sng" dirty="0">
                <a:solidFill>
                  <a:srgbClr val="7030A0"/>
                </a:solidFill>
              </a:rPr>
              <a:t>motor</a:t>
            </a:r>
            <a:r>
              <a:rPr lang="en-US" altLang="zh-CN" sz="2400" b="1" dirty="0">
                <a:solidFill>
                  <a:srgbClr val="7030A0"/>
                </a:solidFill>
              </a:rPr>
              <a:t> manufacturing, thus inventing</a:t>
            </a:r>
          </a:p>
          <a:p>
            <a:r>
              <a:rPr lang="en-US" altLang="zh-CN" sz="2400" b="1" dirty="0">
                <a:solidFill>
                  <a:srgbClr val="7030A0"/>
                </a:solidFill>
              </a:rPr>
              <a:t>mass production.</a:t>
            </a:r>
            <a:endParaRPr lang="zh-CN" altLang="en-US" sz="2400" b="1" dirty="0">
              <a:solidFill>
                <a:srgbClr val="7030A0"/>
              </a:solidFill>
            </a:endParaRPr>
          </a:p>
        </p:txBody>
      </p:sp>
    </p:spTree>
    <p:extLst>
      <p:ext uri="{BB962C8B-B14F-4D97-AF65-F5344CB8AC3E}">
        <p14:creationId xmlns:p14="http://schemas.microsoft.com/office/powerpoint/2010/main" val="3312729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214184"/>
            <a:ext cx="10546080" cy="5654910"/>
          </a:xfrm>
        </p:spPr>
        <p:txBody>
          <a:bodyPr/>
          <a:lstStyle/>
          <a:p>
            <a:r>
              <a:rPr lang="en-US" altLang="zh-CN" sz="2800" b="1" dirty="0"/>
              <a:t>(b) Change the word class of the underlined words, and then re-write</a:t>
            </a:r>
          </a:p>
          <a:p>
            <a:r>
              <a:rPr lang="en-US" altLang="zh-CN" sz="2800" b="1" dirty="0"/>
              <a:t>the sentences.</a:t>
            </a:r>
          </a:p>
          <a:p>
            <a:endParaRPr lang="en-US" altLang="zh-CN" dirty="0" smtClean="0"/>
          </a:p>
          <a:p>
            <a:r>
              <a:rPr lang="en-US" altLang="zh-CN" sz="2800" dirty="0" smtClean="0">
                <a:solidFill>
                  <a:srgbClr val="7030A0"/>
                </a:solidFill>
              </a:rPr>
              <a:t>(</a:t>
            </a:r>
            <a:r>
              <a:rPr lang="en-US" altLang="zh-CN" sz="2800" dirty="0" err="1">
                <a:solidFill>
                  <a:srgbClr val="7030A0"/>
                </a:solidFill>
              </a:rPr>
              <a:t>i</a:t>
            </a:r>
            <a:r>
              <a:rPr lang="en-US" altLang="zh-CN" sz="2800" dirty="0">
                <a:solidFill>
                  <a:srgbClr val="7030A0"/>
                </a:solidFill>
              </a:rPr>
              <a:t>) In the 1920s Alfred Sloan’s </a:t>
            </a:r>
            <a:r>
              <a:rPr lang="en-US" altLang="zh-CN" sz="2800" u="sng" dirty="0">
                <a:solidFill>
                  <a:srgbClr val="7030A0"/>
                </a:solidFill>
              </a:rPr>
              <a:t>management </a:t>
            </a:r>
            <a:r>
              <a:rPr lang="en-US" altLang="zh-CN" sz="2800" dirty="0">
                <a:solidFill>
                  <a:srgbClr val="7030A0"/>
                </a:solidFill>
              </a:rPr>
              <a:t>theories </a:t>
            </a:r>
            <a:r>
              <a:rPr lang="en-US" altLang="zh-CN" sz="2800" u="sng" dirty="0" smtClean="0">
                <a:solidFill>
                  <a:srgbClr val="7030A0"/>
                </a:solidFill>
              </a:rPr>
              <a:t>helped </a:t>
            </a:r>
            <a:r>
              <a:rPr lang="en-US" altLang="zh-CN" sz="2800" dirty="0" smtClean="0">
                <a:solidFill>
                  <a:srgbClr val="7030A0"/>
                </a:solidFill>
              </a:rPr>
              <a:t>General </a:t>
            </a:r>
            <a:r>
              <a:rPr lang="en-US" altLang="zh-CN" sz="2800" dirty="0">
                <a:solidFill>
                  <a:srgbClr val="7030A0"/>
                </a:solidFill>
              </a:rPr>
              <a:t>Motors to become the world’s </a:t>
            </a:r>
            <a:r>
              <a:rPr lang="en-US" altLang="zh-CN" sz="2800" u="sng" dirty="0">
                <a:solidFill>
                  <a:srgbClr val="7030A0"/>
                </a:solidFill>
              </a:rPr>
              <a:t>dominant</a:t>
            </a:r>
            <a:r>
              <a:rPr lang="en-US" altLang="zh-CN" sz="2800" dirty="0">
                <a:solidFill>
                  <a:srgbClr val="7030A0"/>
                </a:solidFill>
              </a:rPr>
              <a:t> car company</a:t>
            </a:r>
            <a:r>
              <a:rPr lang="en-US" altLang="zh-CN" sz="2800" dirty="0" smtClean="0">
                <a:solidFill>
                  <a:srgbClr val="7030A0"/>
                </a:solidFill>
              </a:rPr>
              <a:t>.</a:t>
            </a:r>
          </a:p>
          <a:p>
            <a:r>
              <a:rPr lang="en-US" altLang="zh-CN" sz="2800" i="1" dirty="0" smtClean="0">
                <a:solidFill>
                  <a:srgbClr val="7030A0"/>
                </a:solidFill>
              </a:rPr>
              <a:t> Example</a:t>
            </a:r>
            <a:r>
              <a:rPr lang="en-US" altLang="zh-CN" sz="2800" dirty="0">
                <a:solidFill>
                  <a:srgbClr val="7030A0"/>
                </a:solidFill>
              </a:rPr>
              <a:t>: In the 1920s, with help from the managerial theories</a:t>
            </a:r>
          </a:p>
          <a:p>
            <a:r>
              <a:rPr lang="en-US" altLang="zh-CN" sz="2800" dirty="0">
                <a:solidFill>
                  <a:srgbClr val="7030A0"/>
                </a:solidFill>
              </a:rPr>
              <a:t>of Alfred Sloan, General Motors dominated the world’s </a:t>
            </a:r>
            <a:r>
              <a:rPr lang="en-US" altLang="zh-CN" sz="2800" dirty="0" smtClean="0">
                <a:solidFill>
                  <a:srgbClr val="7030A0"/>
                </a:solidFill>
              </a:rPr>
              <a:t>car companies. </a:t>
            </a:r>
            <a:endParaRPr lang="en-US" altLang="zh-CN" sz="2800" dirty="0">
              <a:solidFill>
                <a:srgbClr val="7030A0"/>
              </a:solidFill>
            </a:endParaRPr>
          </a:p>
          <a:p>
            <a:r>
              <a:rPr lang="en-US" altLang="zh-CN" sz="2800" dirty="0">
                <a:solidFill>
                  <a:srgbClr val="7030A0"/>
                </a:solidFill>
              </a:rPr>
              <a:t>(ii) After the second world war the car makers </a:t>
            </a:r>
            <a:r>
              <a:rPr lang="en-US" altLang="zh-CN" sz="2800" u="sng" dirty="0">
                <a:solidFill>
                  <a:srgbClr val="7030A0"/>
                </a:solidFill>
              </a:rPr>
              <a:t>focused</a:t>
            </a:r>
            <a:r>
              <a:rPr lang="en-US" altLang="zh-CN" sz="2800" dirty="0">
                <a:solidFill>
                  <a:srgbClr val="7030A0"/>
                </a:solidFill>
              </a:rPr>
              <a:t> on </a:t>
            </a:r>
            <a:r>
              <a:rPr lang="en-US" altLang="zh-CN" sz="2800" dirty="0" smtClean="0">
                <a:solidFill>
                  <a:srgbClr val="7030A0"/>
                </a:solidFill>
              </a:rPr>
              <a:t>the </a:t>
            </a:r>
            <a:r>
              <a:rPr lang="en-US" altLang="zh-CN" sz="2800" u="sng" dirty="0" smtClean="0">
                <a:solidFill>
                  <a:srgbClr val="7030A0"/>
                </a:solidFill>
              </a:rPr>
              <a:t>styling </a:t>
            </a:r>
            <a:r>
              <a:rPr lang="en-US" altLang="zh-CN" sz="2800" dirty="0">
                <a:solidFill>
                  <a:srgbClr val="7030A0"/>
                </a:solidFill>
              </a:rPr>
              <a:t>of their products, to encourage more frequent </a:t>
            </a:r>
            <a:r>
              <a:rPr lang="en-US" altLang="zh-CN" sz="2800" dirty="0" smtClean="0">
                <a:solidFill>
                  <a:srgbClr val="7030A0"/>
                </a:solidFill>
              </a:rPr>
              <a:t>model changes</a:t>
            </a:r>
            <a:r>
              <a:rPr lang="en-US" altLang="zh-CN" sz="2800" dirty="0">
                <a:solidFill>
                  <a:srgbClr val="7030A0"/>
                </a:solidFill>
              </a:rPr>
              <a:t>.</a:t>
            </a:r>
          </a:p>
          <a:p>
            <a:r>
              <a:rPr lang="en-US" altLang="zh-CN" sz="2800" dirty="0">
                <a:solidFill>
                  <a:srgbClr val="7030A0"/>
                </a:solidFill>
              </a:rPr>
              <a:t>(iii) From the 1970s there was </a:t>
            </a:r>
            <a:r>
              <a:rPr lang="en-US" altLang="zh-CN" sz="2800" u="sng" dirty="0">
                <a:solidFill>
                  <a:srgbClr val="7030A0"/>
                </a:solidFill>
              </a:rPr>
              <a:t>criticism </a:t>
            </a:r>
            <a:r>
              <a:rPr lang="en-US" altLang="zh-CN" sz="2800" dirty="0">
                <a:solidFill>
                  <a:srgbClr val="7030A0"/>
                </a:solidFill>
              </a:rPr>
              <a:t>of the industry due to </a:t>
            </a:r>
            <a:r>
              <a:rPr lang="en-US" altLang="zh-CN" sz="2800" dirty="0" smtClean="0">
                <a:solidFill>
                  <a:srgbClr val="7030A0"/>
                </a:solidFill>
              </a:rPr>
              <a:t>the </a:t>
            </a:r>
            <a:r>
              <a:rPr lang="en-US" altLang="zh-CN" sz="2800" u="sng" dirty="0" smtClean="0">
                <a:solidFill>
                  <a:srgbClr val="7030A0"/>
                </a:solidFill>
              </a:rPr>
              <a:t>inefﬁciency</a:t>
            </a:r>
            <a:r>
              <a:rPr lang="en-US" altLang="zh-CN" sz="2800" dirty="0" smtClean="0">
                <a:solidFill>
                  <a:srgbClr val="7030A0"/>
                </a:solidFill>
              </a:rPr>
              <a:t> </a:t>
            </a:r>
            <a:r>
              <a:rPr lang="en-US" altLang="zh-CN" sz="2800" dirty="0">
                <a:solidFill>
                  <a:srgbClr val="7030A0"/>
                </a:solidFill>
              </a:rPr>
              <a:t>of most vehicles, which used petrol </a:t>
            </a:r>
            <a:r>
              <a:rPr lang="en-US" altLang="zh-CN" sz="2800" u="sng" dirty="0">
                <a:solidFill>
                  <a:srgbClr val="7030A0"/>
                </a:solidFill>
              </a:rPr>
              <a:t>wastefully</a:t>
            </a:r>
            <a:r>
              <a:rPr lang="en-US" altLang="zh-CN" sz="2800" dirty="0">
                <a:solidFill>
                  <a:srgbClr val="7030A0"/>
                </a:solidFill>
              </a:rPr>
              <a:t>.</a:t>
            </a:r>
            <a:endParaRPr lang="zh-CN" altLang="en-US" sz="2800" dirty="0">
              <a:solidFill>
                <a:srgbClr val="7030A0"/>
              </a:solidFill>
            </a:endParaRPr>
          </a:p>
        </p:txBody>
      </p:sp>
    </p:spTree>
    <p:extLst>
      <p:ext uri="{BB962C8B-B14F-4D97-AF65-F5344CB8AC3E}">
        <p14:creationId xmlns:p14="http://schemas.microsoft.com/office/powerpoint/2010/main" val="31260259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50789" y="271849"/>
            <a:ext cx="10504891" cy="5597245"/>
          </a:xfrm>
        </p:spPr>
        <p:txBody>
          <a:bodyPr/>
          <a:lstStyle/>
          <a:p>
            <a:r>
              <a:rPr lang="en-US" altLang="zh-CN" sz="2800" b="1" dirty="0"/>
              <a:t>(c) Change the word order of the following sentences (other changes</a:t>
            </a:r>
          </a:p>
          <a:p>
            <a:r>
              <a:rPr lang="en-US" altLang="zh-CN" sz="2800" b="1" dirty="0"/>
              <a:t>may be needed).</a:t>
            </a:r>
          </a:p>
          <a:p>
            <a:r>
              <a:rPr lang="en-US" altLang="zh-CN" sz="2800" dirty="0">
                <a:solidFill>
                  <a:srgbClr val="7030A0"/>
                </a:solidFill>
              </a:rPr>
              <a:t>(</a:t>
            </a:r>
            <a:r>
              <a:rPr lang="en-US" altLang="zh-CN" sz="2800" dirty="0" err="1">
                <a:solidFill>
                  <a:srgbClr val="7030A0"/>
                </a:solidFill>
              </a:rPr>
              <a:t>i</a:t>
            </a:r>
            <a:r>
              <a:rPr lang="en-US" altLang="zh-CN" sz="2800" dirty="0">
                <a:solidFill>
                  <a:srgbClr val="7030A0"/>
                </a:solidFill>
              </a:rPr>
              <a:t>) At the same time, trades unions became increasingly </a:t>
            </a:r>
            <a:r>
              <a:rPr lang="en-US" altLang="zh-CN" sz="2800" dirty="0" smtClean="0">
                <a:solidFill>
                  <a:srgbClr val="7030A0"/>
                </a:solidFill>
              </a:rPr>
              <a:t>militant in </a:t>
            </a:r>
            <a:r>
              <a:rPr lang="en-US" altLang="zh-CN" sz="2800" dirty="0" err="1">
                <a:solidFill>
                  <a:srgbClr val="7030A0"/>
                </a:solidFill>
              </a:rPr>
              <a:t>defence</a:t>
            </a:r>
            <a:r>
              <a:rPr lang="en-US" altLang="zh-CN" sz="2800" dirty="0">
                <a:solidFill>
                  <a:srgbClr val="7030A0"/>
                </a:solidFill>
              </a:rPr>
              <a:t> of their members’ jobs.</a:t>
            </a:r>
          </a:p>
          <a:p>
            <a:r>
              <a:rPr lang="en-US" altLang="zh-CN" sz="2800" i="1" dirty="0">
                <a:solidFill>
                  <a:srgbClr val="7030A0"/>
                </a:solidFill>
              </a:rPr>
              <a:t>Example: At the same time increasingly militant trades </a:t>
            </a:r>
            <a:r>
              <a:rPr lang="en-US" altLang="zh-CN" sz="2800" i="1" dirty="0" smtClean="0">
                <a:solidFill>
                  <a:srgbClr val="7030A0"/>
                </a:solidFill>
              </a:rPr>
              <a:t>unions defended </a:t>
            </a:r>
            <a:r>
              <a:rPr lang="en-US" altLang="zh-CN" sz="2800" i="1" dirty="0">
                <a:solidFill>
                  <a:srgbClr val="7030A0"/>
                </a:solidFill>
              </a:rPr>
              <a:t>their members’ jobs.</a:t>
            </a:r>
          </a:p>
          <a:p>
            <a:r>
              <a:rPr lang="en-US" altLang="zh-CN" sz="2800" dirty="0">
                <a:solidFill>
                  <a:srgbClr val="7030A0"/>
                </a:solidFill>
              </a:rPr>
              <a:t>(ii) Today the industry owns some of the most famous brands </a:t>
            </a:r>
            <a:r>
              <a:rPr lang="en-US" altLang="zh-CN" sz="2800" dirty="0" smtClean="0">
                <a:solidFill>
                  <a:srgbClr val="7030A0"/>
                </a:solidFill>
              </a:rPr>
              <a:t>in the </a:t>
            </a:r>
            <a:r>
              <a:rPr lang="en-US" altLang="zh-CN" sz="2800" dirty="0">
                <a:solidFill>
                  <a:srgbClr val="7030A0"/>
                </a:solidFill>
              </a:rPr>
              <a:t>world.</a:t>
            </a:r>
          </a:p>
          <a:p>
            <a:r>
              <a:rPr lang="en-US" altLang="zh-CN" sz="2800" dirty="0">
                <a:solidFill>
                  <a:srgbClr val="7030A0"/>
                </a:solidFill>
              </a:rPr>
              <a:t>(iii) However, many car makers are currently threatened </a:t>
            </a:r>
            <a:r>
              <a:rPr lang="en-US" altLang="zh-CN" sz="2800" dirty="0" smtClean="0">
                <a:solidFill>
                  <a:srgbClr val="7030A0"/>
                </a:solidFill>
              </a:rPr>
              <a:t>by increased </a:t>
            </a:r>
            <a:r>
              <a:rPr lang="en-US" altLang="zh-CN" sz="2800" dirty="0">
                <a:solidFill>
                  <a:srgbClr val="7030A0"/>
                </a:solidFill>
              </a:rPr>
              <a:t>competition and saturated markets.</a:t>
            </a:r>
            <a:endParaRPr lang="zh-CN" altLang="en-US" sz="2800" dirty="0">
              <a:solidFill>
                <a:srgbClr val="7030A0"/>
              </a:solidFill>
            </a:endParaRPr>
          </a:p>
        </p:txBody>
      </p:sp>
    </p:spTree>
    <p:extLst>
      <p:ext uri="{BB962C8B-B14F-4D97-AF65-F5344CB8AC3E}">
        <p14:creationId xmlns:p14="http://schemas.microsoft.com/office/powerpoint/2010/main" val="16284381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8324" y="222423"/>
            <a:ext cx="10867356" cy="1514938"/>
          </a:xfrm>
        </p:spPr>
        <p:txBody>
          <a:bodyPr>
            <a:normAutofit/>
          </a:bodyPr>
          <a:lstStyle/>
          <a:p>
            <a:r>
              <a:rPr lang="en-US" altLang="zh-CN" b="1" dirty="0"/>
              <a:t>(d) Combine all these techniques to paraphrase the paragraph as </a:t>
            </a:r>
            <a:r>
              <a:rPr lang="en-US" altLang="zh-CN" b="1" dirty="0" smtClean="0"/>
              <a:t>fully as </a:t>
            </a:r>
            <a:r>
              <a:rPr lang="en-US" altLang="zh-CN" b="1" dirty="0"/>
              <a:t>possible.</a:t>
            </a:r>
            <a:endParaRPr lang="zh-CN" altLang="en-US" b="1" dirty="0"/>
          </a:p>
        </p:txBody>
      </p:sp>
      <p:sp>
        <p:nvSpPr>
          <p:cNvPr id="3" name="内容占位符 2"/>
          <p:cNvSpPr>
            <a:spLocks noGrp="1"/>
          </p:cNvSpPr>
          <p:nvPr>
            <p:ph idx="1"/>
          </p:nvPr>
        </p:nvSpPr>
        <p:spPr>
          <a:xfrm>
            <a:off x="518984" y="1606378"/>
            <a:ext cx="10636696" cy="4262716"/>
          </a:xfrm>
        </p:spPr>
        <p:txBody>
          <a:bodyPr>
            <a:normAutofit/>
          </a:bodyPr>
          <a:lstStyle/>
          <a:p>
            <a:r>
              <a:rPr lang="en-US" altLang="zh-CN" sz="2400" dirty="0">
                <a:solidFill>
                  <a:srgbClr val="7030A0"/>
                </a:solidFill>
              </a:rPr>
              <a:t>The expansion of contemporary capitalism matches the rise of the automobile industry. After starting in Germany and France, it accelerated in the United States. There the moving assembly line was modified by Henry Ford from the Chicago meat industry to manufacturing cars; thereby inventing mass production. General Motors dominated the world’s car companies in the 1920s, with help from the managerial theories of Alfred Sloan. After the second world war the focus of car makers was on the style of their products, to encourage more frequent model changes. From the 1970s the industry was </a:t>
            </a:r>
            <a:r>
              <a:rPr lang="en-US" altLang="zh-CN" sz="2400" dirty="0" err="1">
                <a:solidFill>
                  <a:srgbClr val="7030A0"/>
                </a:solidFill>
              </a:rPr>
              <a:t>criticised</a:t>
            </a:r>
            <a:r>
              <a:rPr lang="en-US" altLang="zh-CN" sz="2400" dirty="0">
                <a:solidFill>
                  <a:srgbClr val="7030A0"/>
                </a:solidFill>
              </a:rPr>
              <a:t> for its inefficient vehicles which wasted petrol. At this time increasingly militant trades unions defended their members’ jobs. Some of the most famous brands in the world are today owned by the industry, although currently saturated markets and increased competition threaten many car makers. </a:t>
            </a:r>
            <a:endParaRPr lang="zh-CN" altLang="en-US" sz="2400" dirty="0">
              <a:solidFill>
                <a:srgbClr val="7030A0"/>
              </a:solidFill>
            </a:endParaRPr>
          </a:p>
        </p:txBody>
      </p:sp>
    </p:spTree>
    <p:extLst>
      <p:ext uri="{BB962C8B-B14F-4D97-AF65-F5344CB8AC3E}">
        <p14:creationId xmlns:p14="http://schemas.microsoft.com/office/powerpoint/2010/main" val="42678915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en-US" altLang="zh-CN" dirty="0"/>
              <a:t>Summarizing </a:t>
            </a:r>
            <a:endParaRPr lang="zh-CN" altLang="en-US" dirty="0"/>
          </a:p>
        </p:txBody>
      </p:sp>
      <p:sp>
        <p:nvSpPr>
          <p:cNvPr id="5" name="副标题 4"/>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1467847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Summarizing </a:t>
            </a:r>
            <a:endParaRPr lang="zh-CN" altLang="en-US" dirty="0"/>
          </a:p>
        </p:txBody>
      </p:sp>
      <p:sp>
        <p:nvSpPr>
          <p:cNvPr id="3" name="内容占位符 2"/>
          <p:cNvSpPr>
            <a:spLocks noGrp="1"/>
          </p:cNvSpPr>
          <p:nvPr>
            <p:ph idx="1"/>
          </p:nvPr>
        </p:nvSpPr>
        <p:spPr>
          <a:xfrm>
            <a:off x="1097280" y="1737360"/>
            <a:ext cx="10313402" cy="4805108"/>
          </a:xfrm>
        </p:spPr>
        <p:txBody>
          <a:bodyPr>
            <a:normAutofit/>
          </a:bodyPr>
          <a:lstStyle/>
          <a:p>
            <a:r>
              <a:rPr lang="en-US" altLang="zh-CN" sz="3200" dirty="0"/>
              <a:t>Another way to use borrowed information from an outside source is to summarize it. </a:t>
            </a:r>
          </a:p>
          <a:p>
            <a:r>
              <a:rPr lang="en-US" altLang="zh-CN" sz="3200" dirty="0">
                <a:solidFill>
                  <a:srgbClr val="C00000"/>
                </a:solidFill>
              </a:rPr>
              <a:t>What is the difference between a paraphrase and a summary? </a:t>
            </a:r>
          </a:p>
          <a:p>
            <a:r>
              <a:rPr lang="en-US" altLang="zh-CN" sz="3200" dirty="0"/>
              <a:t>When you retell a story that someone has told you, you repeat the story in your own words. If your retelling is about the same length as the original, it is a paraphrase. </a:t>
            </a:r>
          </a:p>
          <a:p>
            <a:r>
              <a:rPr lang="en-US" altLang="zh-CN" sz="3200" dirty="0"/>
              <a:t>If you shorten the story-retelling only the most important points and leaving out the details-it is a summary.</a:t>
            </a:r>
            <a:endParaRPr lang="zh-CN" altLang="en-US" sz="3200" dirty="0"/>
          </a:p>
        </p:txBody>
      </p:sp>
    </p:spTree>
    <p:extLst>
      <p:ext uri="{BB962C8B-B14F-4D97-AF65-F5344CB8AC3E}">
        <p14:creationId xmlns:p14="http://schemas.microsoft.com/office/powerpoint/2010/main" val="2047935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How to Write a Good Summary</a:t>
            </a:r>
            <a:endParaRPr lang="zh-CN" altLang="en-US" dirty="0"/>
          </a:p>
        </p:txBody>
      </p:sp>
      <p:sp>
        <p:nvSpPr>
          <p:cNvPr id="3" name="内容占位符 2"/>
          <p:cNvSpPr>
            <a:spLocks noGrp="1"/>
          </p:cNvSpPr>
          <p:nvPr>
            <p:ph idx="1"/>
          </p:nvPr>
        </p:nvSpPr>
        <p:spPr/>
        <p:txBody>
          <a:bodyPr/>
          <a:lstStyle/>
          <a:p>
            <a:r>
              <a:rPr lang="en-US" altLang="zh-CN" sz="3200" dirty="0">
                <a:solidFill>
                  <a:srgbClr val="C00000"/>
                </a:solidFill>
              </a:rPr>
              <a:t>There are three keys to writing a good summary:</a:t>
            </a:r>
          </a:p>
          <a:p>
            <a:r>
              <a:rPr lang="en-US" altLang="zh-CN" sz="3200" dirty="0"/>
              <a:t>1. Use your </a:t>
            </a:r>
            <a:r>
              <a:rPr lang="en-US" altLang="zh-CN" sz="3200" b="1" dirty="0"/>
              <a:t>own</a:t>
            </a:r>
            <a:r>
              <a:rPr lang="en-US" altLang="zh-CN" sz="3200" dirty="0"/>
              <a:t> words and your </a:t>
            </a:r>
            <a:r>
              <a:rPr lang="en-US" altLang="zh-CN" sz="3200" b="1" dirty="0"/>
              <a:t>own</a:t>
            </a:r>
            <a:r>
              <a:rPr lang="en-US" altLang="zh-CN" sz="3200" dirty="0"/>
              <a:t> sentence structure. </a:t>
            </a:r>
          </a:p>
          <a:p>
            <a:r>
              <a:rPr lang="en-US" altLang="zh-CN" sz="3200" dirty="0"/>
              <a:t>2. Remember that a summary is much shorter than a paraphrase. Include </a:t>
            </a:r>
            <a:r>
              <a:rPr lang="en-US" altLang="zh-CN" sz="3200" b="1" dirty="0"/>
              <a:t>only the main points and main supporting points</a:t>
            </a:r>
            <a:r>
              <a:rPr lang="en-US" altLang="zh-CN" sz="3200" dirty="0"/>
              <a:t>, leaving out most details.</a:t>
            </a:r>
          </a:p>
          <a:p>
            <a:r>
              <a:rPr lang="en-US" altLang="zh-CN" sz="3200" dirty="0"/>
              <a:t>3. </a:t>
            </a:r>
            <a:r>
              <a:rPr lang="en-US" altLang="zh-CN" sz="3200" b="1" dirty="0"/>
              <a:t>Do not change the meaning </a:t>
            </a:r>
            <a:r>
              <a:rPr lang="en-US" altLang="zh-CN" sz="3200" dirty="0"/>
              <a:t>of the original.</a:t>
            </a:r>
          </a:p>
          <a:p>
            <a:endParaRPr lang="en-US" altLang="zh-CN" dirty="0">
              <a:solidFill>
                <a:srgbClr val="C00000"/>
              </a:solidFill>
            </a:endParaRPr>
          </a:p>
          <a:p>
            <a:endParaRPr lang="zh-CN" altLang="en-US" dirty="0"/>
          </a:p>
        </p:txBody>
      </p:sp>
    </p:spTree>
    <p:extLst>
      <p:ext uri="{BB962C8B-B14F-4D97-AF65-F5344CB8AC3E}">
        <p14:creationId xmlns:p14="http://schemas.microsoft.com/office/powerpoint/2010/main" val="2001908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The steps for writing a summary are similar to those for writing a paraphrase.</a:t>
            </a:r>
            <a:endParaRPr lang="zh-CN" altLang="en-US" dirty="0"/>
          </a:p>
        </p:txBody>
      </p:sp>
      <p:sp>
        <p:nvSpPr>
          <p:cNvPr id="3" name="内容占位符 2"/>
          <p:cNvSpPr>
            <a:spLocks noGrp="1"/>
          </p:cNvSpPr>
          <p:nvPr>
            <p:ph idx="1"/>
          </p:nvPr>
        </p:nvSpPr>
        <p:spPr>
          <a:xfrm>
            <a:off x="620761" y="1737360"/>
            <a:ext cx="11150529" cy="4637682"/>
          </a:xfrm>
        </p:spPr>
        <p:txBody>
          <a:bodyPr>
            <a:normAutofit lnSpcReduction="10000"/>
          </a:bodyPr>
          <a:lstStyle/>
          <a:p>
            <a:r>
              <a:rPr lang="en-US" altLang="zh-CN" sz="3000" dirty="0"/>
              <a:t>Step 1 Read the original passage several times until you understand it fully. Look up any words that you don't understand. </a:t>
            </a:r>
          </a:p>
          <a:p>
            <a:r>
              <a:rPr lang="en-US" altLang="zh-CN" sz="3000" dirty="0">
                <a:solidFill>
                  <a:srgbClr val="C00000"/>
                </a:solidFill>
              </a:rPr>
              <a:t>Step 2 Decide what the important ideas are. It helps to underline important ideas. It also helps to take notes. Write down only a few words for each idea-not complete sentences. </a:t>
            </a:r>
          </a:p>
          <a:p>
            <a:r>
              <a:rPr lang="en-US" altLang="zh-CN" sz="3000" dirty="0"/>
              <a:t>Step 3 Write your summary from your notes. Don't look at the original while you are writing. </a:t>
            </a:r>
          </a:p>
          <a:p>
            <a:r>
              <a:rPr lang="en-US" altLang="zh-CN" sz="3000" dirty="0">
                <a:solidFill>
                  <a:srgbClr val="C00000"/>
                </a:solidFill>
              </a:rPr>
              <a:t>Step 4 Check your summary against the original to make sure you have not changed the meaning. </a:t>
            </a:r>
          </a:p>
          <a:p>
            <a:r>
              <a:rPr lang="en-US" altLang="zh-CN" sz="3000" dirty="0"/>
              <a:t>Step 5 Add an in-text citation at the end of the summary.</a:t>
            </a:r>
          </a:p>
          <a:p>
            <a:endParaRPr lang="zh-CN" altLang="en-US" dirty="0"/>
          </a:p>
        </p:txBody>
      </p:sp>
    </p:spTree>
    <p:extLst>
      <p:ext uri="{BB962C8B-B14F-4D97-AF65-F5344CB8AC3E}">
        <p14:creationId xmlns:p14="http://schemas.microsoft.com/office/powerpoint/2010/main" val="134188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0043" y="0"/>
            <a:ext cx="10925021" cy="5720813"/>
          </a:xfrm>
        </p:spPr>
        <p:txBody>
          <a:bodyPr>
            <a:noAutofit/>
          </a:bodyPr>
          <a:lstStyle/>
          <a:p>
            <a:r>
              <a:rPr lang="en-US" altLang="zh-CN" sz="2400" dirty="0"/>
              <a:t>MECHANICAL </a:t>
            </a:r>
            <a:r>
              <a:rPr lang="en-US" altLang="zh-CN" sz="2400" dirty="0" smtClean="0"/>
              <a:t>PICKERS</a:t>
            </a:r>
          </a:p>
          <a:p>
            <a:r>
              <a:rPr lang="en-US" altLang="zh-CN" sz="2400" dirty="0" smtClean="0">
                <a:solidFill>
                  <a:srgbClr val="7030A0"/>
                </a:solidFill>
              </a:rPr>
              <a:t>Although </a:t>
            </a:r>
            <a:r>
              <a:rPr lang="en-US" altLang="zh-CN" sz="2400" dirty="0">
                <a:solidFill>
                  <a:srgbClr val="7030A0"/>
                </a:solidFill>
              </a:rPr>
              <a:t>harvesting cereal crops such as wheat and barley has long been </a:t>
            </a:r>
            <a:r>
              <a:rPr lang="en-US" altLang="zh-CN" sz="2400" dirty="0" smtClean="0">
                <a:solidFill>
                  <a:srgbClr val="7030A0"/>
                </a:solidFill>
              </a:rPr>
              <a:t>done by </a:t>
            </a:r>
            <a:r>
              <a:rPr lang="en-US" altLang="zh-CN" sz="2400" dirty="0">
                <a:solidFill>
                  <a:srgbClr val="7030A0"/>
                </a:solidFill>
              </a:rPr>
              <a:t>large machines known as combine harvesters, </a:t>
            </a:r>
            <a:r>
              <a:rPr lang="en-US" altLang="zh-CN" sz="2400" dirty="0" err="1">
                <a:solidFill>
                  <a:srgbClr val="7030A0"/>
                </a:solidFill>
              </a:rPr>
              <a:t>mechanising</a:t>
            </a:r>
            <a:r>
              <a:rPr lang="en-US" altLang="zh-CN" sz="2400" dirty="0">
                <a:solidFill>
                  <a:srgbClr val="7030A0"/>
                </a:solidFill>
              </a:rPr>
              <a:t> the picking of </a:t>
            </a:r>
            <a:r>
              <a:rPr lang="en-US" altLang="zh-CN" sz="2400" dirty="0" smtClean="0">
                <a:solidFill>
                  <a:srgbClr val="7030A0"/>
                </a:solidFill>
              </a:rPr>
              <a:t>fruit crops </a:t>
            </a:r>
            <a:r>
              <a:rPr lang="en-US" altLang="zh-CN" sz="2400" dirty="0">
                <a:solidFill>
                  <a:srgbClr val="7030A0"/>
                </a:solidFill>
              </a:rPr>
              <a:t>such as tomatoes or apples has proved more difﬁcult. Farmers </a:t>
            </a:r>
            <a:r>
              <a:rPr lang="en-US" altLang="zh-CN" sz="2400" dirty="0" smtClean="0">
                <a:solidFill>
                  <a:srgbClr val="7030A0"/>
                </a:solidFill>
              </a:rPr>
              <a:t>have generally </a:t>
            </a:r>
            <a:r>
              <a:rPr lang="en-US" altLang="zh-CN" sz="2400" dirty="0">
                <a:solidFill>
                  <a:srgbClr val="7030A0"/>
                </a:solidFill>
              </a:rPr>
              <a:t>relied on human </a:t>
            </a:r>
            <a:r>
              <a:rPr lang="en-US" altLang="zh-CN" sz="2400" dirty="0" err="1">
                <a:solidFill>
                  <a:srgbClr val="7030A0"/>
                </a:solidFill>
              </a:rPr>
              <a:t>labour</a:t>
            </a:r>
            <a:r>
              <a:rPr lang="en-US" altLang="zh-CN" sz="2400" dirty="0">
                <a:solidFill>
                  <a:srgbClr val="7030A0"/>
                </a:solidFill>
              </a:rPr>
              <a:t> to harvest these, but in wealthy countries it </a:t>
            </a:r>
            <a:r>
              <a:rPr lang="en-US" altLang="zh-CN" sz="2400" dirty="0" smtClean="0">
                <a:solidFill>
                  <a:srgbClr val="7030A0"/>
                </a:solidFill>
              </a:rPr>
              <a:t>has become </a:t>
            </a:r>
            <a:r>
              <a:rPr lang="en-US" altLang="zh-CN" sz="2400" dirty="0">
                <a:solidFill>
                  <a:srgbClr val="7030A0"/>
                </a:solidFill>
              </a:rPr>
              <a:t>increasingly difﬁcult to ﬁnd pickers willing to work for the wages </a:t>
            </a:r>
            <a:r>
              <a:rPr lang="en-US" altLang="zh-CN" sz="2400" dirty="0" smtClean="0">
                <a:solidFill>
                  <a:srgbClr val="7030A0"/>
                </a:solidFill>
              </a:rPr>
              <a:t>farmers are </a:t>
            </a:r>
            <a:r>
              <a:rPr lang="en-US" altLang="zh-CN" sz="2400" dirty="0">
                <a:solidFill>
                  <a:srgbClr val="7030A0"/>
                </a:solidFill>
              </a:rPr>
              <a:t>able to pay. This is partly because the demand for </a:t>
            </a:r>
            <a:r>
              <a:rPr lang="en-US" altLang="zh-CN" sz="2400" dirty="0" err="1">
                <a:solidFill>
                  <a:srgbClr val="7030A0"/>
                </a:solidFill>
              </a:rPr>
              <a:t>labour</a:t>
            </a:r>
            <a:r>
              <a:rPr lang="en-US" altLang="zh-CN" sz="2400" dirty="0">
                <a:solidFill>
                  <a:srgbClr val="7030A0"/>
                </a:solidFill>
              </a:rPr>
              <a:t> is seasonal, </a:t>
            </a:r>
            <a:r>
              <a:rPr lang="en-US" altLang="zh-CN" sz="2400" dirty="0" smtClean="0">
                <a:solidFill>
                  <a:srgbClr val="7030A0"/>
                </a:solidFill>
              </a:rPr>
              <a:t>usually in </a:t>
            </a:r>
            <a:r>
              <a:rPr lang="en-US" altLang="zh-CN" sz="2400" dirty="0">
                <a:solidFill>
                  <a:srgbClr val="7030A0"/>
                </a:solidFill>
              </a:rPr>
              <a:t>the autumn, and also because the work is hard and demanding. As a result, </a:t>
            </a:r>
            <a:r>
              <a:rPr lang="en-US" altLang="zh-CN" sz="2400" dirty="0" smtClean="0">
                <a:solidFill>
                  <a:srgbClr val="7030A0"/>
                </a:solidFill>
              </a:rPr>
              <a:t>in areas </a:t>
            </a:r>
            <a:r>
              <a:rPr lang="en-US" altLang="zh-CN" sz="2400" dirty="0">
                <a:solidFill>
                  <a:srgbClr val="7030A0"/>
                </a:solidFill>
              </a:rPr>
              <a:t>such as California part of the fruit harvest is often unpicked and left to rot</a:t>
            </a:r>
            <a:r>
              <a:rPr lang="en-US" altLang="zh-CN" sz="2400" dirty="0" smtClean="0">
                <a:solidFill>
                  <a:srgbClr val="7030A0"/>
                </a:solidFill>
              </a:rPr>
              <a:t>.  There </a:t>
            </a:r>
            <a:r>
              <a:rPr lang="en-US" altLang="zh-CN" sz="2400" dirty="0">
                <a:solidFill>
                  <a:srgbClr val="7030A0"/>
                </a:solidFill>
              </a:rPr>
              <a:t>are several obvious reasons why developing mechanical pickers </a:t>
            </a:r>
            <a:r>
              <a:rPr lang="en-US" altLang="zh-CN" sz="2400" dirty="0" smtClean="0">
                <a:solidFill>
                  <a:srgbClr val="7030A0"/>
                </a:solidFill>
              </a:rPr>
              <a:t>is challenging</a:t>
            </a:r>
            <a:r>
              <a:rPr lang="en-US" altLang="zh-CN" sz="2400" dirty="0">
                <a:solidFill>
                  <a:srgbClr val="7030A0"/>
                </a:solidFill>
              </a:rPr>
              <a:t>. Fruit such as grapes or strawberries comes in a variety of </a:t>
            </a:r>
            <a:r>
              <a:rPr lang="en-US" altLang="zh-CN" sz="2400" dirty="0" smtClean="0">
                <a:solidFill>
                  <a:srgbClr val="7030A0"/>
                </a:solidFill>
              </a:rPr>
              <a:t>shapes and </a:t>
            </a:r>
            <a:r>
              <a:rPr lang="en-US" altLang="zh-CN" sz="2400" dirty="0">
                <a:solidFill>
                  <a:srgbClr val="7030A0"/>
                </a:solidFill>
              </a:rPr>
              <a:t>does not always ripen at the same time. Outdoors, the ground conditions </a:t>
            </a:r>
            <a:r>
              <a:rPr lang="en-US" altLang="zh-CN" sz="2400" dirty="0" smtClean="0">
                <a:solidFill>
                  <a:srgbClr val="7030A0"/>
                </a:solidFill>
              </a:rPr>
              <a:t> can </a:t>
            </a:r>
            <a:r>
              <a:rPr lang="en-US" altLang="zh-CN" sz="2400" dirty="0">
                <a:solidFill>
                  <a:srgbClr val="7030A0"/>
                </a:solidFill>
              </a:rPr>
              <a:t>vary from dry to muddy, and winds may move branches around. Clearly </a:t>
            </a:r>
            <a:r>
              <a:rPr lang="en-US" altLang="zh-CN" sz="2400" dirty="0" smtClean="0">
                <a:solidFill>
                  <a:srgbClr val="7030A0"/>
                </a:solidFill>
              </a:rPr>
              <a:t>each crop </a:t>
            </a:r>
            <a:r>
              <a:rPr lang="en-US" altLang="zh-CN" sz="2400" dirty="0">
                <a:solidFill>
                  <a:srgbClr val="7030A0"/>
                </a:solidFill>
              </a:rPr>
              <a:t>requires its own solution: machines may be towed through orchards </a:t>
            </a:r>
            <a:r>
              <a:rPr lang="en-US" altLang="zh-CN" sz="2400" dirty="0" smtClean="0">
                <a:solidFill>
                  <a:srgbClr val="7030A0"/>
                </a:solidFill>
              </a:rPr>
              <a:t>by tractors </a:t>
            </a:r>
            <a:r>
              <a:rPr lang="en-US" altLang="zh-CN" sz="2400" dirty="0">
                <a:solidFill>
                  <a:srgbClr val="7030A0"/>
                </a:solidFill>
              </a:rPr>
              <a:t>or move around by themselves using sensors to detect the ripest fruit</a:t>
            </a:r>
            <a:r>
              <a:rPr lang="en-US" altLang="zh-CN" sz="2400" dirty="0" smtClean="0">
                <a:solidFill>
                  <a:srgbClr val="7030A0"/>
                </a:solidFill>
              </a:rPr>
              <a:t>. This </a:t>
            </a:r>
            <a:r>
              <a:rPr lang="en-US" altLang="zh-CN" sz="2400" dirty="0">
                <a:solidFill>
                  <a:srgbClr val="7030A0"/>
                </a:solidFill>
              </a:rPr>
              <a:t>new generation of fruit harvesters is possible due to advances in </a:t>
            </a:r>
            <a:r>
              <a:rPr lang="en-US" altLang="zh-CN" sz="2400" dirty="0" smtClean="0">
                <a:solidFill>
                  <a:srgbClr val="7030A0"/>
                </a:solidFill>
              </a:rPr>
              <a:t>computing power </a:t>
            </a:r>
            <a:r>
              <a:rPr lang="en-US" altLang="zh-CN" sz="2400" dirty="0">
                <a:solidFill>
                  <a:srgbClr val="7030A0"/>
                </a:solidFill>
              </a:rPr>
              <a:t>and sensing ability. Such devices will inevitably be expensive, but </a:t>
            </a:r>
            <a:r>
              <a:rPr lang="en-US" altLang="zh-CN" sz="2400" dirty="0" smtClean="0">
                <a:solidFill>
                  <a:srgbClr val="7030A0"/>
                </a:solidFill>
              </a:rPr>
              <a:t>will save </a:t>
            </a:r>
            <a:r>
              <a:rPr lang="en-US" altLang="zh-CN" sz="2400" dirty="0">
                <a:solidFill>
                  <a:srgbClr val="7030A0"/>
                </a:solidFill>
              </a:rPr>
              <a:t>farmers from the complexities of managing a </a:t>
            </a:r>
            <a:r>
              <a:rPr lang="en-US" altLang="zh-CN" sz="2400" dirty="0" err="1">
                <a:solidFill>
                  <a:srgbClr val="7030A0"/>
                </a:solidFill>
              </a:rPr>
              <a:t>labour</a:t>
            </a:r>
            <a:r>
              <a:rPr lang="en-US" altLang="zh-CN" sz="2400" dirty="0">
                <a:solidFill>
                  <a:srgbClr val="7030A0"/>
                </a:solidFill>
              </a:rPr>
              <a:t> force. In addition, </a:t>
            </a:r>
            <a:r>
              <a:rPr lang="en-US" altLang="zh-CN" sz="2400" dirty="0" smtClean="0">
                <a:solidFill>
                  <a:srgbClr val="7030A0"/>
                </a:solidFill>
              </a:rPr>
              <a:t>the more </a:t>
            </a:r>
            <a:r>
              <a:rPr lang="en-US" altLang="zh-CN" sz="2400" dirty="0">
                <a:solidFill>
                  <a:srgbClr val="7030A0"/>
                </a:solidFill>
              </a:rPr>
              <a:t>intelligent pickers should be able to develop a database of information </a:t>
            </a:r>
            <a:r>
              <a:rPr lang="en-US" altLang="zh-CN" sz="2400" dirty="0" smtClean="0">
                <a:solidFill>
                  <a:srgbClr val="7030A0"/>
                </a:solidFill>
              </a:rPr>
              <a:t>on the </a:t>
            </a:r>
            <a:r>
              <a:rPr lang="en-US" altLang="zh-CN" sz="2400" dirty="0">
                <a:solidFill>
                  <a:srgbClr val="7030A0"/>
                </a:solidFill>
              </a:rPr>
              <a:t>health of each individual plant, enabling the grower to provide it with </a:t>
            </a:r>
            <a:r>
              <a:rPr lang="en-US" altLang="zh-CN" sz="2400" dirty="0" smtClean="0">
                <a:solidFill>
                  <a:srgbClr val="7030A0"/>
                </a:solidFill>
              </a:rPr>
              <a:t>fertilizer and </a:t>
            </a:r>
            <a:r>
              <a:rPr lang="en-US" altLang="zh-CN" sz="2400" dirty="0">
                <a:solidFill>
                  <a:srgbClr val="7030A0"/>
                </a:solidFill>
              </a:rPr>
              <a:t>water to maintain its maximum productivity.</a:t>
            </a:r>
            <a:endParaRPr lang="zh-CN" altLang="en-US" sz="2400" dirty="0">
              <a:solidFill>
                <a:srgbClr val="7030A0"/>
              </a:solidFill>
            </a:endParaRPr>
          </a:p>
        </p:txBody>
      </p:sp>
    </p:spTree>
    <p:extLst>
      <p:ext uri="{BB962C8B-B14F-4D97-AF65-F5344CB8AC3E}">
        <p14:creationId xmlns:p14="http://schemas.microsoft.com/office/powerpoint/2010/main" val="222467950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Read the following text (3.1) and the summaries (a)–(c). </a:t>
            </a:r>
            <a:br>
              <a:rPr lang="en-US" altLang="zh-CN" dirty="0"/>
            </a:br>
            <a:r>
              <a:rPr lang="en-US" altLang="zh-CN" dirty="0"/>
              <a:t>Rate them 1 (best) – 3.</a:t>
            </a:r>
            <a:endParaRPr lang="zh-CN" altLang="en-US" dirty="0"/>
          </a:p>
        </p:txBody>
      </p:sp>
      <p:sp>
        <p:nvSpPr>
          <p:cNvPr id="3" name="内容占位符 2"/>
          <p:cNvSpPr>
            <a:spLocks noGrp="1"/>
          </p:cNvSpPr>
          <p:nvPr>
            <p:ph idx="1"/>
          </p:nvPr>
        </p:nvSpPr>
        <p:spPr/>
        <p:txBody>
          <a:bodyPr>
            <a:normAutofit/>
          </a:bodyPr>
          <a:lstStyle/>
          <a:p>
            <a:r>
              <a:rPr lang="en-US" altLang="zh-CN" sz="2800" dirty="0">
                <a:solidFill>
                  <a:srgbClr val="7030A0"/>
                </a:solidFill>
              </a:rPr>
              <a:t>(a) Fruit crops have usually been picked by hand, as it is </a:t>
            </a:r>
            <a:r>
              <a:rPr lang="en-US" altLang="zh-CN" sz="2800" dirty="0" smtClean="0">
                <a:solidFill>
                  <a:srgbClr val="7030A0"/>
                </a:solidFill>
              </a:rPr>
              <a:t>difﬁcult to </a:t>
            </a:r>
            <a:r>
              <a:rPr lang="en-US" altLang="zh-CN" sz="2800" dirty="0" err="1">
                <a:solidFill>
                  <a:srgbClr val="7030A0"/>
                </a:solidFill>
              </a:rPr>
              <a:t>mechanise</a:t>
            </a:r>
            <a:r>
              <a:rPr lang="en-US" altLang="zh-CN" sz="2800" dirty="0">
                <a:solidFill>
                  <a:srgbClr val="7030A0"/>
                </a:solidFill>
              </a:rPr>
              <a:t> the process. But in rich countries it has </a:t>
            </a:r>
            <a:r>
              <a:rPr lang="en-US" altLang="zh-CN" sz="2800" dirty="0" smtClean="0">
                <a:solidFill>
                  <a:srgbClr val="7030A0"/>
                </a:solidFill>
              </a:rPr>
              <a:t>become hard </a:t>
            </a:r>
            <a:r>
              <a:rPr lang="en-US" altLang="zh-CN" sz="2800" dirty="0">
                <a:solidFill>
                  <a:srgbClr val="7030A0"/>
                </a:solidFill>
              </a:rPr>
              <a:t>to ﬁnd affordable pickers at the right time so fruit is </a:t>
            </a:r>
            <a:r>
              <a:rPr lang="en-US" altLang="zh-CN" sz="2800" dirty="0" smtClean="0">
                <a:solidFill>
                  <a:srgbClr val="7030A0"/>
                </a:solidFill>
              </a:rPr>
              <a:t>often wasted. Therefore intelligent machines have been developed that can overcome the technical problems involved, and also provide the farmer with useful data about the plants.</a:t>
            </a:r>
            <a:endParaRPr lang="zh-CN" altLang="en-US" sz="2800" dirty="0">
              <a:solidFill>
                <a:srgbClr val="7030A0"/>
              </a:solidFill>
            </a:endParaRPr>
          </a:p>
        </p:txBody>
      </p:sp>
    </p:spTree>
    <p:extLst>
      <p:ext uri="{BB962C8B-B14F-4D97-AF65-F5344CB8AC3E}">
        <p14:creationId xmlns:p14="http://schemas.microsoft.com/office/powerpoint/2010/main" val="200070447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20631" y="1746880"/>
            <a:ext cx="10058400" cy="4023360"/>
          </a:xfrm>
        </p:spPr>
        <p:txBody>
          <a:bodyPr>
            <a:noAutofit/>
          </a:bodyPr>
          <a:lstStyle/>
          <a:p>
            <a:r>
              <a:rPr lang="en-US" altLang="zh-CN" sz="3200" dirty="0">
                <a:solidFill>
                  <a:srgbClr val="7030A0"/>
                </a:solidFill>
              </a:rPr>
              <a:t>(b) Developing machines that can pick fruit such as tomatoes </a:t>
            </a:r>
            <a:r>
              <a:rPr lang="en-US" altLang="zh-CN" sz="3200" dirty="0" smtClean="0">
                <a:solidFill>
                  <a:srgbClr val="7030A0"/>
                </a:solidFill>
              </a:rPr>
              <a:t>or apples </a:t>
            </a:r>
            <a:r>
              <a:rPr lang="en-US" altLang="zh-CN" sz="3200" dirty="0">
                <a:solidFill>
                  <a:srgbClr val="7030A0"/>
                </a:solidFill>
              </a:rPr>
              <a:t>is a challenging task, due to the complexity of </a:t>
            </a:r>
            <a:r>
              <a:rPr lang="en-US" altLang="zh-CN" sz="3200" dirty="0" smtClean="0">
                <a:solidFill>
                  <a:srgbClr val="7030A0"/>
                </a:solidFill>
              </a:rPr>
              <a:t>locating ripe </a:t>
            </a:r>
            <a:r>
              <a:rPr lang="en-US" altLang="zh-CN" sz="3200" dirty="0">
                <a:solidFill>
                  <a:srgbClr val="7030A0"/>
                </a:solidFill>
              </a:rPr>
              <a:t>fruit in an unpredictable outdoor environment, </a:t>
            </a:r>
            <a:r>
              <a:rPr lang="en-US" altLang="zh-CN" sz="3200" dirty="0" smtClean="0">
                <a:solidFill>
                  <a:srgbClr val="7030A0"/>
                </a:solidFill>
              </a:rPr>
              <a:t>where difﬁcult </a:t>
            </a:r>
            <a:r>
              <a:rPr lang="en-US" altLang="zh-CN" sz="3200" dirty="0">
                <a:solidFill>
                  <a:srgbClr val="7030A0"/>
                </a:solidFill>
              </a:rPr>
              <a:t>conditions can be produced by wind or water. </a:t>
            </a:r>
            <a:r>
              <a:rPr lang="en-US" altLang="zh-CN" sz="3200" dirty="0" smtClean="0">
                <a:solidFill>
                  <a:srgbClr val="7030A0"/>
                </a:solidFill>
              </a:rPr>
              <a:t>But recent </a:t>
            </a:r>
            <a:r>
              <a:rPr lang="en-US" altLang="zh-CN" sz="3200" dirty="0">
                <a:solidFill>
                  <a:srgbClr val="7030A0"/>
                </a:solidFill>
              </a:rPr>
              <a:t>developments in computing ability mean that </a:t>
            </a:r>
            <a:r>
              <a:rPr lang="en-US" altLang="zh-CN" sz="3200" dirty="0" smtClean="0">
                <a:solidFill>
                  <a:srgbClr val="7030A0"/>
                </a:solidFill>
              </a:rPr>
              <a:t>growers can </a:t>
            </a:r>
            <a:r>
              <a:rPr lang="en-US" altLang="zh-CN" sz="3200" dirty="0">
                <a:solidFill>
                  <a:srgbClr val="7030A0"/>
                </a:solidFill>
              </a:rPr>
              <a:t>now automate this process, which should save </a:t>
            </a:r>
            <a:r>
              <a:rPr lang="en-US" altLang="zh-CN" sz="3200" dirty="0" smtClean="0">
                <a:solidFill>
                  <a:srgbClr val="7030A0"/>
                </a:solidFill>
              </a:rPr>
              <a:t>them money </a:t>
            </a:r>
            <a:r>
              <a:rPr lang="en-US" altLang="zh-CN" sz="3200" dirty="0">
                <a:solidFill>
                  <a:srgbClr val="7030A0"/>
                </a:solidFill>
              </a:rPr>
              <a:t>and increase their proﬁts.</a:t>
            </a:r>
            <a:endParaRPr lang="zh-CN" altLang="en-US" sz="3200" dirty="0">
              <a:solidFill>
                <a:srgbClr val="7030A0"/>
              </a:solidFill>
            </a:endParaRPr>
          </a:p>
        </p:txBody>
      </p:sp>
    </p:spTree>
    <p:extLst>
      <p:ext uri="{BB962C8B-B14F-4D97-AF65-F5344CB8AC3E}">
        <p14:creationId xmlns:p14="http://schemas.microsoft.com/office/powerpoint/2010/main" val="51275495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10746" y="477795"/>
            <a:ext cx="10644934" cy="5391299"/>
          </a:xfrm>
        </p:spPr>
        <p:txBody>
          <a:bodyPr>
            <a:normAutofit/>
          </a:bodyPr>
          <a:lstStyle/>
          <a:p>
            <a:r>
              <a:rPr lang="en-US" altLang="zh-CN" sz="3200" dirty="0" smtClean="0">
                <a:solidFill>
                  <a:srgbClr val="7030A0"/>
                </a:solidFill>
              </a:rPr>
              <a:t>(c) Strawberries and grapes are the kind of crops that have always</a:t>
            </a:r>
          </a:p>
          <a:p>
            <a:r>
              <a:rPr lang="en-US" altLang="zh-CN" sz="3200" dirty="0" smtClean="0">
                <a:solidFill>
                  <a:srgbClr val="7030A0"/>
                </a:solidFill>
              </a:rPr>
              <a:t>been </a:t>
            </a:r>
            <a:r>
              <a:rPr lang="en-US" altLang="zh-CN" sz="3200" dirty="0">
                <a:solidFill>
                  <a:srgbClr val="7030A0"/>
                </a:solidFill>
              </a:rPr>
              <a:t>hand-picked. But many farmers, for example in</a:t>
            </a:r>
          </a:p>
          <a:p>
            <a:r>
              <a:rPr lang="en-US" altLang="zh-CN" sz="3200" dirty="0">
                <a:solidFill>
                  <a:srgbClr val="7030A0"/>
                </a:solidFill>
              </a:rPr>
              <a:t>California, now ﬁnd it increasingly difﬁcult to attract enough</a:t>
            </a:r>
          </a:p>
          <a:p>
            <a:r>
              <a:rPr lang="en-US" altLang="zh-CN" sz="3200" dirty="0">
                <a:solidFill>
                  <a:srgbClr val="7030A0"/>
                </a:solidFill>
              </a:rPr>
              <a:t>pickers when the fruit is ripe. However, computing advances</a:t>
            </a:r>
          </a:p>
          <a:p>
            <a:r>
              <a:rPr lang="en-US" altLang="zh-CN" sz="3200" dirty="0">
                <a:solidFill>
                  <a:srgbClr val="7030A0"/>
                </a:solidFill>
              </a:rPr>
              <a:t>have produced a solution to this problem, which will save</a:t>
            </a:r>
          </a:p>
          <a:p>
            <a:r>
              <a:rPr lang="en-US" altLang="zh-CN" sz="3200" dirty="0">
                <a:solidFill>
                  <a:srgbClr val="7030A0"/>
                </a:solidFill>
              </a:rPr>
              <a:t>farmers from worrying about the pickers, and also collect vital</a:t>
            </a:r>
          </a:p>
          <a:p>
            <a:r>
              <a:rPr lang="en-US" altLang="zh-CN" sz="3200" dirty="0" smtClean="0">
                <a:solidFill>
                  <a:srgbClr val="7030A0"/>
                </a:solidFill>
              </a:rPr>
              <a:t>data.</a:t>
            </a:r>
            <a:endParaRPr lang="zh-CN" altLang="en-US" sz="3200" dirty="0">
              <a:solidFill>
                <a:srgbClr val="7030A0"/>
              </a:solidFill>
            </a:endParaRPr>
          </a:p>
        </p:txBody>
      </p:sp>
    </p:spTree>
    <p:extLst>
      <p:ext uri="{BB962C8B-B14F-4D97-AF65-F5344CB8AC3E}">
        <p14:creationId xmlns:p14="http://schemas.microsoft.com/office/powerpoint/2010/main" val="8147511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800" b="1" dirty="0">
                <a:solidFill>
                  <a:srgbClr val="7030A0"/>
                </a:solidFill>
              </a:rPr>
              <a:t>1 = a (contains all key points) </a:t>
            </a:r>
            <a:endParaRPr lang="en-US" altLang="zh-CN" sz="2800" b="1" dirty="0" smtClean="0">
              <a:solidFill>
                <a:srgbClr val="7030A0"/>
              </a:solidFill>
            </a:endParaRPr>
          </a:p>
          <a:p>
            <a:r>
              <a:rPr lang="en-US" altLang="zh-CN" sz="2800" b="1" dirty="0" smtClean="0">
                <a:solidFill>
                  <a:srgbClr val="7030A0"/>
                </a:solidFill>
              </a:rPr>
              <a:t>2 </a:t>
            </a:r>
            <a:r>
              <a:rPr lang="en-US" altLang="zh-CN" sz="2800" b="1" dirty="0">
                <a:solidFill>
                  <a:srgbClr val="7030A0"/>
                </a:solidFill>
              </a:rPr>
              <a:t>= c (includes unnecessary examples) </a:t>
            </a:r>
            <a:endParaRPr lang="en-US" altLang="zh-CN" sz="2800" b="1" dirty="0" smtClean="0">
              <a:solidFill>
                <a:srgbClr val="7030A0"/>
              </a:solidFill>
            </a:endParaRPr>
          </a:p>
          <a:p>
            <a:r>
              <a:rPr lang="en-US" altLang="zh-CN" sz="2800" b="1" dirty="0" smtClean="0">
                <a:solidFill>
                  <a:srgbClr val="7030A0"/>
                </a:solidFill>
              </a:rPr>
              <a:t>3 </a:t>
            </a:r>
            <a:r>
              <a:rPr lang="en-US" altLang="zh-CN" sz="2800" b="1" dirty="0">
                <a:solidFill>
                  <a:srgbClr val="7030A0"/>
                </a:solidFill>
              </a:rPr>
              <a:t>= b (includes information not in original, e.g. increase profits and fails to describe the machines)</a:t>
            </a:r>
            <a:endParaRPr lang="zh-CN" altLang="en-US" sz="2800" b="1" dirty="0">
              <a:solidFill>
                <a:srgbClr val="7030A0"/>
              </a:solidFill>
            </a:endParaRPr>
          </a:p>
        </p:txBody>
      </p:sp>
    </p:spTree>
    <p:extLst>
      <p:ext uri="{BB962C8B-B14F-4D97-AF65-F5344CB8AC3E}">
        <p14:creationId xmlns:p14="http://schemas.microsoft.com/office/powerpoint/2010/main" val="303406354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378" y="98854"/>
            <a:ext cx="11073302" cy="5770240"/>
          </a:xfrm>
        </p:spPr>
        <p:txBody>
          <a:bodyPr>
            <a:normAutofit/>
          </a:bodyPr>
          <a:lstStyle/>
          <a:p>
            <a:r>
              <a:rPr lang="en-US" altLang="zh-CN" sz="2400" b="1" dirty="0">
                <a:solidFill>
                  <a:srgbClr val="7030A0"/>
                </a:solidFill>
              </a:rPr>
              <a:t>WEALTH AND FERTILITY</a:t>
            </a:r>
            <a:endParaRPr lang="zh-CN" altLang="zh-CN" sz="2400" dirty="0">
              <a:solidFill>
                <a:srgbClr val="7030A0"/>
              </a:solidFill>
            </a:endParaRPr>
          </a:p>
          <a:p>
            <a:r>
              <a:rPr lang="en-US" altLang="zh-CN" sz="2400" b="1" dirty="0">
                <a:solidFill>
                  <a:srgbClr val="7030A0"/>
                </a:solidFill>
              </a:rPr>
              <a:t>For most of the past century an inverse correlation between human fertility and economic development has been found. This means that as a country got richer, the average number of children born to each woman got smaller. While in </a:t>
            </a:r>
            <a:r>
              <a:rPr lang="en-US" altLang="zh-CN" sz="2400" b="1" dirty="0" smtClean="0">
                <a:solidFill>
                  <a:srgbClr val="7030A0"/>
                </a:solidFill>
              </a:rPr>
              <a:t>the poorest </a:t>
            </a:r>
            <a:r>
              <a:rPr lang="en-US" altLang="zh-CN" sz="2400" b="1" dirty="0">
                <a:solidFill>
                  <a:srgbClr val="7030A0"/>
                </a:solidFill>
              </a:rPr>
              <a:t>countries women often have eight children, the rate fell as low as 1.3 in some European countries such as Italy, which is below the replacement rate. Such a low rate has two likely negative consequences: the population will fall </a:t>
            </a:r>
            <a:r>
              <a:rPr lang="en-US" altLang="zh-CN" sz="2400" b="1" dirty="0" smtClean="0">
                <a:solidFill>
                  <a:srgbClr val="7030A0"/>
                </a:solidFill>
              </a:rPr>
              <a:t>in the </a:t>
            </a:r>
            <a:r>
              <a:rPr lang="en-US" altLang="zh-CN" sz="2400" b="1" dirty="0">
                <a:solidFill>
                  <a:srgbClr val="7030A0"/>
                </a:solidFill>
              </a:rPr>
              <a:t>long term, and a growing number of old people will have to be supported by a shrinking number of young. But a recent study by researchers from Pennsylvania University suggests that this pattern may be changing. They </a:t>
            </a:r>
            <a:r>
              <a:rPr lang="en-US" altLang="zh-CN" sz="2400" b="1" dirty="0" smtClean="0">
                <a:solidFill>
                  <a:srgbClr val="7030A0"/>
                </a:solidFill>
              </a:rPr>
              <a:t>related countries</a:t>
            </a:r>
            <a:r>
              <a:rPr lang="en-US" altLang="zh-CN" sz="2400" b="1" dirty="0">
                <a:solidFill>
                  <a:srgbClr val="7030A0"/>
                </a:solidFill>
              </a:rPr>
              <a:t>’ fertility rates to their human development index (HDI), a ﬁgure with a maximum value of 1.0, which assesses life expectancy, average income and education level. Over 20 countries now have an HDI of more than 0.9, and in </a:t>
            </a:r>
            <a:r>
              <a:rPr lang="en-US" altLang="zh-CN" sz="2400" b="1" dirty="0" smtClean="0">
                <a:solidFill>
                  <a:srgbClr val="7030A0"/>
                </a:solidFill>
              </a:rPr>
              <a:t>a majority </a:t>
            </a:r>
            <a:r>
              <a:rPr lang="en-US" altLang="zh-CN" sz="2400" b="1" dirty="0">
                <a:solidFill>
                  <a:srgbClr val="7030A0"/>
                </a:solidFill>
              </a:rPr>
              <a:t>of these the fertility rate has started to increase, and in some is approaching two children per woman. Although there are exceptions such as Japan, it appears that ever higher levels of wealth and education eventually translate into a desire for more children.</a:t>
            </a:r>
            <a:endParaRPr lang="zh-CN" altLang="zh-CN" sz="2400" dirty="0">
              <a:solidFill>
                <a:srgbClr val="7030A0"/>
              </a:solidFill>
            </a:endParaRPr>
          </a:p>
          <a:p>
            <a:endParaRPr lang="zh-CN" altLang="en-US" sz="2400" dirty="0">
              <a:solidFill>
                <a:srgbClr val="7030A0"/>
              </a:solidFill>
            </a:endParaRPr>
          </a:p>
        </p:txBody>
      </p:sp>
    </p:spTree>
    <p:extLst>
      <p:ext uri="{BB962C8B-B14F-4D97-AF65-F5344CB8AC3E}">
        <p14:creationId xmlns:p14="http://schemas.microsoft.com/office/powerpoint/2010/main" val="296476119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0674" y="0"/>
            <a:ext cx="10058400" cy="1450757"/>
          </a:xfrm>
        </p:spPr>
        <p:txBody>
          <a:bodyPr>
            <a:normAutofit fontScale="90000"/>
          </a:bodyPr>
          <a:lstStyle/>
          <a:p>
            <a:r>
              <a:rPr lang="en-US" altLang="zh-CN" b="1" dirty="0" smtClean="0"/>
              <a:t/>
            </a:r>
            <a:br>
              <a:rPr lang="en-US" altLang="zh-CN" b="1" dirty="0" smtClean="0"/>
            </a:br>
            <a:r>
              <a:rPr lang="en-US" altLang="zh-CN" b="1" dirty="0"/>
              <a:t/>
            </a:r>
            <a:br>
              <a:rPr lang="en-US" altLang="zh-CN" b="1" dirty="0"/>
            </a:br>
            <a:r>
              <a:rPr lang="en-US" altLang="zh-CN" b="1" dirty="0" smtClean="0"/>
              <a:t/>
            </a:r>
            <a:br>
              <a:rPr lang="en-US" altLang="zh-CN" b="1" dirty="0" smtClean="0"/>
            </a:br>
            <a:r>
              <a:rPr lang="en-US" altLang="zh-CN" b="1" dirty="0"/>
              <a:t/>
            </a:r>
            <a:br>
              <a:rPr lang="en-US" altLang="zh-CN" b="1" dirty="0"/>
            </a:br>
            <a:r>
              <a:rPr lang="en-US" altLang="zh-CN" b="1" dirty="0" smtClean="0"/>
              <a:t/>
            </a:r>
            <a:br>
              <a:rPr lang="en-US" altLang="zh-CN" b="1" dirty="0" smtClean="0"/>
            </a:br>
            <a:r>
              <a:rPr lang="en-US" altLang="zh-CN" b="1" dirty="0"/>
              <a:t/>
            </a:r>
            <a:br>
              <a:rPr lang="en-US" altLang="zh-CN" b="1" dirty="0"/>
            </a:br>
            <a:r>
              <a:rPr lang="en-US" altLang="zh-CN" b="1" dirty="0" smtClean="0"/>
              <a:t/>
            </a:r>
            <a:br>
              <a:rPr lang="en-US" altLang="zh-CN" b="1" dirty="0" smtClean="0"/>
            </a:br>
            <a:r>
              <a:rPr lang="en-US" altLang="zh-CN" b="1" dirty="0"/>
              <a:t> </a:t>
            </a:r>
            <a:r>
              <a:rPr lang="zh-CN" altLang="zh-CN" dirty="0"/>
              <a:t/>
            </a:r>
            <a:br>
              <a:rPr lang="zh-CN" altLang="zh-CN" dirty="0"/>
            </a:br>
            <a:r>
              <a:rPr lang="en-US" altLang="zh-CN" b="1" dirty="0"/>
              <a:t>Complete the notes of the key points below.</a:t>
            </a:r>
            <a:r>
              <a:rPr lang="zh-CN" altLang="zh-CN" dirty="0"/>
              <a:t/>
            </a:r>
            <a:br>
              <a:rPr lang="zh-CN" altLang="zh-CN" dirty="0"/>
            </a:br>
            <a:endParaRPr lang="zh-CN" altLang="en-US" dirty="0"/>
          </a:p>
        </p:txBody>
      </p:sp>
      <p:sp>
        <p:nvSpPr>
          <p:cNvPr id="3" name="内容占位符 2"/>
          <p:cNvSpPr>
            <a:spLocks noGrp="1"/>
          </p:cNvSpPr>
          <p:nvPr>
            <p:ph idx="1"/>
          </p:nvPr>
        </p:nvSpPr>
        <p:spPr>
          <a:xfrm>
            <a:off x="504155" y="783053"/>
            <a:ext cx="10058400" cy="4023360"/>
          </a:xfrm>
        </p:spPr>
        <p:txBody>
          <a:bodyPr>
            <a:noAutofit/>
          </a:bodyPr>
          <a:lstStyle/>
          <a:p>
            <a:r>
              <a:rPr lang="en-US" altLang="zh-CN" sz="2400" b="1" dirty="0" smtClean="0"/>
              <a:t>(</a:t>
            </a:r>
            <a:r>
              <a:rPr lang="en-US" altLang="zh-CN" sz="2400" b="1" dirty="0"/>
              <a:t>a) Falling levels of fertility have generally been found ___________</a:t>
            </a:r>
            <a:endParaRPr lang="zh-CN" altLang="zh-CN" sz="2400" dirty="0"/>
          </a:p>
          <a:p>
            <a:r>
              <a:rPr lang="en-US" altLang="zh-CN" sz="2400" b="1" dirty="0"/>
              <a:t>___________________________________________________________</a:t>
            </a:r>
            <a:endParaRPr lang="zh-CN" altLang="zh-CN" sz="2400" dirty="0"/>
          </a:p>
          <a:p>
            <a:r>
              <a:rPr lang="en-US" altLang="zh-CN" sz="2400" b="1" dirty="0"/>
              <a:t>(b) In some, number of children born ___________________________</a:t>
            </a:r>
            <a:endParaRPr lang="zh-CN" altLang="zh-CN" sz="2400" dirty="0"/>
          </a:p>
          <a:p>
            <a:r>
              <a:rPr lang="en-US" altLang="zh-CN" sz="2400" b="1" dirty="0"/>
              <a:t>___________________________________________________________</a:t>
            </a:r>
            <a:endParaRPr lang="zh-CN" altLang="zh-CN" sz="2400" dirty="0"/>
          </a:p>
          <a:p>
            <a:r>
              <a:rPr lang="en-US" altLang="zh-CN" sz="2400" b="1" dirty="0"/>
              <a:t>(c) Two results: smaller populations and ________________________</a:t>
            </a:r>
            <a:endParaRPr lang="zh-CN" altLang="zh-CN" sz="2400" dirty="0"/>
          </a:p>
          <a:p>
            <a:r>
              <a:rPr lang="en-US" altLang="zh-CN" sz="2400" b="1" dirty="0"/>
              <a:t>___________________________________________________________</a:t>
            </a:r>
            <a:endParaRPr lang="zh-CN" altLang="zh-CN" sz="2400" dirty="0"/>
          </a:p>
          <a:p>
            <a:r>
              <a:rPr lang="en-US" altLang="zh-CN" sz="2400" b="1" dirty="0"/>
              <a:t>(d) Recent research claims that _________________________________</a:t>
            </a:r>
            <a:endParaRPr lang="zh-CN" altLang="zh-CN" sz="2400" dirty="0"/>
          </a:p>
          <a:p>
            <a:r>
              <a:rPr lang="en-US" altLang="zh-CN" sz="2400" b="1" dirty="0"/>
              <a:t> </a:t>
            </a:r>
            <a:endParaRPr lang="zh-CN" altLang="zh-CN" sz="2400" dirty="0"/>
          </a:p>
          <a:p>
            <a:r>
              <a:rPr lang="en-US" altLang="zh-CN" sz="2400" b="1" dirty="0"/>
              <a:t>(e) Comparison of HDI (human development index: _____________</a:t>
            </a:r>
            <a:endParaRPr lang="zh-CN" altLang="zh-CN" sz="2400" dirty="0"/>
          </a:p>
          <a:p>
            <a:r>
              <a:rPr lang="en-US" altLang="zh-CN" sz="2400" b="1" dirty="0"/>
              <a:t>_______________________________________) with fertility found</a:t>
            </a:r>
            <a:endParaRPr lang="zh-CN" altLang="zh-CN" sz="2400" dirty="0"/>
          </a:p>
          <a:p>
            <a:r>
              <a:rPr lang="en-US" altLang="zh-CN" sz="2400" b="1" dirty="0"/>
              <a:t>that in most highly rated (+0.9) countries, ___________________</a:t>
            </a:r>
            <a:endParaRPr lang="zh-CN" altLang="zh-CN" sz="2400" dirty="0"/>
          </a:p>
          <a:p>
            <a:r>
              <a:rPr lang="en-US" altLang="zh-CN" sz="2400" b="1" dirty="0"/>
              <a:t>__________________________________________________________</a:t>
            </a:r>
            <a:endParaRPr lang="zh-CN" altLang="zh-CN" sz="2400" dirty="0"/>
          </a:p>
          <a:p>
            <a:endParaRPr lang="zh-CN" altLang="en-US" sz="2400" dirty="0"/>
          </a:p>
        </p:txBody>
      </p:sp>
    </p:spTree>
    <p:extLst>
      <p:ext uri="{BB962C8B-B14F-4D97-AF65-F5344CB8AC3E}">
        <p14:creationId xmlns:p14="http://schemas.microsoft.com/office/powerpoint/2010/main" val="1483869351"/>
      </p:ext>
    </p:extLst>
  </p:cSld>
  <p:clrMapOvr>
    <a:masterClrMapping/>
  </p:clrMapOvr>
  <p:timing>
    <p:tnLst>
      <p:par>
        <p:cTn id="1" dur="indefinite" restart="never" nodeType="tmRoot"/>
      </p:par>
    </p:tnLst>
  </p:timing>
</p:sld>
</file>

<file path=ppt/theme/theme1.xml><?xml version="1.0" encoding="utf-8"?>
<a:theme xmlns:a="http://schemas.openxmlformats.org/drawingml/2006/main" name="回顾">
  <a:themeElements>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761</TotalTime>
  <Words>3448</Words>
  <Application>Microsoft Office PowerPoint</Application>
  <PresentationFormat>宽屏</PresentationFormat>
  <Paragraphs>225</Paragraphs>
  <Slides>46</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46</vt:i4>
      </vt:variant>
    </vt:vector>
  </HeadingPairs>
  <TitlesOfParts>
    <vt:vector size="52" baseType="lpstr">
      <vt:lpstr>宋体</vt:lpstr>
      <vt:lpstr>Bradley Hand ITC</vt:lpstr>
      <vt:lpstr>Calibri</vt:lpstr>
      <vt:lpstr>Calibri Light</vt:lpstr>
      <vt:lpstr>Times New Roman</vt:lpstr>
      <vt:lpstr>回顾</vt:lpstr>
      <vt:lpstr>Plagiarism, Paraphrasing &amp;                            summarizing</vt:lpstr>
      <vt:lpstr>PowerPoint 演示文稿</vt:lpstr>
      <vt:lpstr>1. What is plagiarism?</vt:lpstr>
      <vt:lpstr>The main difﬁculty that students face is that they are expected:</vt:lpstr>
      <vt:lpstr>There are several reasons why students must avoid plagiarism:</vt:lpstr>
      <vt:lpstr>2. Acknowledging sources</vt:lpstr>
      <vt:lpstr>These in-text citations are linked to a list of references at the end of the main text, which includes the following details:</vt:lpstr>
      <vt:lpstr>3. Degrees of plagiarism</vt:lpstr>
      <vt:lpstr>PowerPoint 演示文稿</vt:lpstr>
      <vt:lpstr>Degree of plagiarism</vt:lpstr>
      <vt:lpstr>Avoiding plagiarism in Dissertation for master’s degree</vt:lpstr>
      <vt:lpstr>Avoid plagiarism</vt:lpstr>
      <vt:lpstr>Model Study: </vt:lpstr>
      <vt:lpstr>PowerPoint 演示文稿</vt:lpstr>
      <vt:lpstr>PowerPoint 演示文稿</vt:lpstr>
      <vt:lpstr>Analysis </vt:lpstr>
      <vt:lpstr>Paraphrasing </vt:lpstr>
      <vt:lpstr>Paraphrasing </vt:lpstr>
      <vt:lpstr>How to Write a Good Paraphrase</vt:lpstr>
      <vt:lpstr>You can write a good paraphrase if you follow these steps:</vt:lpstr>
      <vt:lpstr>Step 2 It helps to take notes.</vt:lpstr>
      <vt:lpstr>It may be helpful to make a brief outline such as the following:</vt:lpstr>
      <vt:lpstr>Step 3 Write your paraphrase from your notes. </vt:lpstr>
      <vt:lpstr>PowerPoint 演示文稿</vt:lpstr>
      <vt:lpstr>Paraphrase (63 words, about the same length as the original)</vt:lpstr>
      <vt:lpstr>PowerPoint 演示文稿</vt:lpstr>
      <vt:lpstr>Note that an effective paraphrase usually:</vt:lpstr>
      <vt:lpstr>Techniques for paraphrasing</vt:lpstr>
      <vt:lpstr>PowerPoint 演示文稿</vt:lpstr>
      <vt:lpstr>PowerPoint 演示文稿</vt:lpstr>
      <vt:lpstr>PowerPoint 演示文稿</vt:lpstr>
      <vt:lpstr>PowerPoint 演示文稿</vt:lpstr>
      <vt:lpstr>PowerPoint 演示文稿</vt:lpstr>
      <vt:lpstr>PowerPoint 演示文稿</vt:lpstr>
      <vt:lpstr>(d) Combine all these techniques to paraphrase the paragraph as fully as possible.</vt:lpstr>
      <vt:lpstr>Summarizing </vt:lpstr>
      <vt:lpstr>Summarizing </vt:lpstr>
      <vt:lpstr>How to Write a Good Summary</vt:lpstr>
      <vt:lpstr>The steps for writing a summary are similar to those for writing a paraphrase.</vt:lpstr>
      <vt:lpstr>PowerPoint 演示文稿</vt:lpstr>
      <vt:lpstr>Read the following text (3.1) and the summaries (a)–(c).  Rate them 1 (best) – 3.</vt:lpstr>
      <vt:lpstr>PowerPoint 演示文稿</vt:lpstr>
      <vt:lpstr>PowerPoint 演示文稿</vt:lpstr>
      <vt:lpstr>PowerPoint 演示文稿</vt:lpstr>
      <vt:lpstr>PowerPoint 演示文稿</vt:lpstr>
      <vt:lpstr>         Complete the notes of the key points below.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min shi</dc:creator>
  <cp:lastModifiedBy>Administrator</cp:lastModifiedBy>
  <cp:revision>48</cp:revision>
  <dcterms:created xsi:type="dcterms:W3CDTF">2013-12-02T06:12:01Z</dcterms:created>
  <dcterms:modified xsi:type="dcterms:W3CDTF">2018-12-05T05:58:10Z</dcterms:modified>
</cp:coreProperties>
</file>