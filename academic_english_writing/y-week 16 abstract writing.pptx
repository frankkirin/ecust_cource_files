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347" r:id="rId2"/>
    <p:sldId id="348" r:id="rId3"/>
    <p:sldId id="349" r:id="rId4"/>
    <p:sldId id="350" r:id="rId5"/>
    <p:sldId id="351" r:id="rId6"/>
    <p:sldId id="352" r:id="rId7"/>
    <p:sldId id="353" r:id="rId8"/>
    <p:sldId id="354" r:id="rId9"/>
    <p:sldId id="355" r:id="rId10"/>
    <p:sldId id="356" r:id="rId11"/>
    <p:sldId id="357" r:id="rId12"/>
    <p:sldId id="358" r:id="rId13"/>
    <p:sldId id="359" r:id="rId14"/>
    <p:sldId id="360" r:id="rId15"/>
    <p:sldId id="361" r:id="rId16"/>
    <p:sldId id="362" r:id="rId17"/>
    <p:sldId id="363" r:id="rId18"/>
    <p:sldId id="364" r:id="rId19"/>
    <p:sldId id="365" r:id="rId20"/>
    <p:sldId id="366" r:id="rId21"/>
    <p:sldId id="367" r:id="rId22"/>
    <p:sldId id="368" r:id="rId23"/>
    <p:sldId id="369" r:id="rId24"/>
    <p:sldId id="370" r:id="rId25"/>
    <p:sldId id="371" r:id="rId26"/>
    <p:sldId id="372" r:id="rId27"/>
    <p:sldId id="373" r:id="rId28"/>
    <p:sldId id="374" r:id="rId29"/>
    <p:sldId id="375" r:id="rId30"/>
    <p:sldId id="376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09CCF6-D220-4A02-99FB-692DB0F002BD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617354-ED6C-4F69-8DBE-6775EB3FC1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3180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A46D-B09C-48C3-8304-0A905078AD89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B4FE5-7EED-44DD-A2F9-6DAD5B10B1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6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A46D-B09C-48C3-8304-0A905078AD89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B4FE5-7EED-44DD-A2F9-6DAD5B10B1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496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A46D-B09C-48C3-8304-0A905078AD89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B4FE5-7EED-44DD-A2F9-6DAD5B10B1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2423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A46D-B09C-48C3-8304-0A905078AD89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B4FE5-7EED-44DD-A2F9-6DAD5B10B1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7944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A46D-B09C-48C3-8304-0A905078AD89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B4FE5-7EED-44DD-A2F9-6DAD5B10B1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574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A46D-B09C-48C3-8304-0A905078AD89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B4FE5-7EED-44DD-A2F9-6DAD5B10B1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9020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A46D-B09C-48C3-8304-0A905078AD89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B4FE5-7EED-44DD-A2F9-6DAD5B10B1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1512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A46D-B09C-48C3-8304-0A905078AD89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B4FE5-7EED-44DD-A2F9-6DAD5B10B1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7672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A46D-B09C-48C3-8304-0A905078AD89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B4FE5-7EED-44DD-A2F9-6DAD5B10B1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516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A46D-B09C-48C3-8304-0A905078AD89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B4FE5-7EED-44DD-A2F9-6DAD5B10B1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2942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DA46D-B09C-48C3-8304-0A905078AD89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B4FE5-7EED-44DD-A2F9-6DAD5B10B1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81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DA46D-B09C-48C3-8304-0A905078AD89}" type="datetimeFigureOut">
              <a:rPr lang="zh-CN" altLang="en-US" smtClean="0"/>
              <a:t>2018/12/24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B4FE5-7EED-44DD-A2F9-6DAD5B10B1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5520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Abstract Writing</a:t>
            </a:r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algn="ctr" eaLnBrk="1" hangingPunct="1"/>
            <a:r>
              <a:rPr lang="en-US" altLang="zh-CN" dirty="0" smtClean="0"/>
              <a:t>Week 16</a:t>
            </a:r>
          </a:p>
        </p:txBody>
      </p:sp>
    </p:spTree>
    <p:extLst>
      <p:ext uri="{BB962C8B-B14F-4D97-AF65-F5344CB8AC3E}">
        <p14:creationId xmlns:p14="http://schemas.microsoft.com/office/powerpoint/2010/main" val="836605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What is an abstract?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19288" y="1773239"/>
            <a:ext cx="8577262" cy="4340225"/>
          </a:xfrm>
        </p:spPr>
        <p:txBody>
          <a:bodyPr/>
          <a:lstStyle/>
          <a:p>
            <a:pPr eaLnBrk="1" hangingPunct="1"/>
            <a:r>
              <a:rPr lang="en-US" altLang="zh-CN" smtClean="0"/>
              <a:t>An abstract is </a:t>
            </a:r>
            <a:r>
              <a:rPr lang="en-US" altLang="zh-CN" u="sng" smtClean="0">
                <a:solidFill>
                  <a:srgbClr val="0070C0"/>
                </a:solidFill>
              </a:rPr>
              <a:t>a concise summary </a:t>
            </a:r>
            <a:r>
              <a:rPr lang="en-US" altLang="zh-CN" smtClean="0"/>
              <a:t>of a larger document-thesis, essay, book, research report, journal publication, etc. </a:t>
            </a:r>
            <a:r>
              <a:rPr lang="en-US" altLang="zh-CN" smtClean="0">
                <a:latin typeface="Arial" panose="020B0604020202020204" pitchFamily="34" charset="0"/>
              </a:rPr>
              <a:t>–</a:t>
            </a:r>
            <a:r>
              <a:rPr lang="en-US" altLang="zh-CN" smtClean="0"/>
              <a:t>that </a:t>
            </a:r>
            <a:r>
              <a:rPr lang="en-US" altLang="zh-CN" smtClean="0">
                <a:solidFill>
                  <a:srgbClr val="C00000"/>
                </a:solidFill>
              </a:rPr>
              <a:t>highlights</a:t>
            </a:r>
            <a:r>
              <a:rPr lang="en-US" altLang="zh-CN" smtClean="0"/>
              <a:t> major points covered in the work, concisely </a:t>
            </a:r>
            <a:r>
              <a:rPr lang="en-US" altLang="zh-CN" smtClean="0">
                <a:solidFill>
                  <a:srgbClr val="C00000"/>
                </a:solidFill>
              </a:rPr>
              <a:t>describes</a:t>
            </a:r>
            <a:r>
              <a:rPr lang="en-US" altLang="zh-CN" smtClean="0"/>
              <a:t> the content and scope of the writing, </a:t>
            </a:r>
            <a:r>
              <a:rPr lang="en-US" altLang="zh-CN" smtClean="0">
                <a:solidFill>
                  <a:srgbClr val="C00000"/>
                </a:solidFill>
              </a:rPr>
              <a:t>identifies</a:t>
            </a:r>
            <a:r>
              <a:rPr lang="en-US" altLang="zh-CN" smtClean="0"/>
              <a:t> the methodology used, and </a:t>
            </a:r>
            <a:r>
              <a:rPr lang="en-US" altLang="zh-CN" smtClean="0">
                <a:solidFill>
                  <a:srgbClr val="C00000"/>
                </a:solidFill>
              </a:rPr>
              <a:t>identifies</a:t>
            </a:r>
            <a:r>
              <a:rPr lang="en-US" altLang="zh-CN" smtClean="0"/>
              <a:t> the findings, conclusions, or intended results. </a:t>
            </a:r>
          </a:p>
        </p:txBody>
      </p:sp>
    </p:spTree>
    <p:extLst>
      <p:ext uri="{BB962C8B-B14F-4D97-AF65-F5344CB8AC3E}">
        <p14:creationId xmlns:p14="http://schemas.microsoft.com/office/powerpoint/2010/main" val="1248507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512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A well-written abstract helps others, who may not be studying in your discipline, understand the purpose and value of your work; therefore, </a:t>
            </a:r>
            <a:r>
              <a:rPr lang="en-US" altLang="zh-CN" smtClean="0">
                <a:solidFill>
                  <a:srgbClr val="C00000"/>
                </a:solidFill>
              </a:rPr>
              <a:t>it should be comprehensible on a basic level to the educated </a:t>
            </a:r>
            <a:r>
              <a:rPr lang="en-US" altLang="zh-CN" b="1" smtClean="0">
                <a:solidFill>
                  <a:srgbClr val="C00000"/>
                </a:solidFill>
              </a:rPr>
              <a:t>non-expert</a:t>
            </a:r>
            <a:r>
              <a:rPr lang="en-US" altLang="zh-CN" smtClean="0"/>
              <a:t>. </a:t>
            </a: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3016561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Types of abstracts 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zh-CN" sz="3200"/>
          </a:p>
          <a:p>
            <a:pPr eaLnBrk="1" hangingPunct="1">
              <a:lnSpc>
                <a:spcPct val="90000"/>
              </a:lnSpc>
            </a:pPr>
            <a:r>
              <a:rPr lang="en-US" altLang="zh-CN" sz="3200"/>
              <a:t>Descriptive abstracts</a:t>
            </a:r>
          </a:p>
          <a:p>
            <a:pPr eaLnBrk="1" hangingPunct="1">
              <a:lnSpc>
                <a:spcPct val="90000"/>
              </a:lnSpc>
            </a:pPr>
            <a:endParaRPr lang="en-US" altLang="zh-CN" sz="3200"/>
          </a:p>
          <a:p>
            <a:pPr eaLnBrk="1" hangingPunct="1">
              <a:lnSpc>
                <a:spcPct val="90000"/>
              </a:lnSpc>
            </a:pPr>
            <a:r>
              <a:rPr lang="en-US" altLang="zh-CN" sz="3200"/>
              <a:t>Informative abstracts </a:t>
            </a:r>
          </a:p>
        </p:txBody>
      </p:sp>
    </p:spTree>
    <p:extLst>
      <p:ext uri="{BB962C8B-B14F-4D97-AF65-F5344CB8AC3E}">
        <p14:creationId xmlns:p14="http://schemas.microsoft.com/office/powerpoint/2010/main" val="352312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4000"/>
              <a:t>Descriptive abstracts 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00604" y="1628775"/>
            <a:ext cx="8275346" cy="441325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dirty="0"/>
              <a:t>Tell readers what information the report, article, or paper contains.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7030A0"/>
                </a:solidFill>
              </a:rPr>
              <a:t>Include the purpose, methods, and scope of the report, article, or paper.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u="sng" dirty="0"/>
              <a:t>Do not provide results, conclusions, or recommendations.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7030A0"/>
                </a:solidFill>
              </a:rPr>
              <a:t>Are always very short, usually under 100 words.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Introduce the subject to readers, who must then read the report, article, or paper to find out the author</a:t>
            </a:r>
            <a:r>
              <a:rPr lang="en-US" altLang="zh-CN" dirty="0">
                <a:latin typeface="Arial" panose="020B0604020202020204" pitchFamily="34" charset="0"/>
              </a:rPr>
              <a:t>’</a:t>
            </a:r>
            <a:r>
              <a:rPr lang="en-US" altLang="zh-CN" dirty="0"/>
              <a:t>s result, conclusions, or recommendations. </a:t>
            </a:r>
          </a:p>
        </p:txBody>
      </p:sp>
    </p:spTree>
    <p:extLst>
      <p:ext uri="{BB962C8B-B14F-4D97-AF65-F5344CB8AC3E}">
        <p14:creationId xmlns:p14="http://schemas.microsoft.com/office/powerpoint/2010/main" val="3329835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750" y="333376"/>
            <a:ext cx="8001000" cy="1216025"/>
          </a:xfrm>
        </p:spPr>
        <p:txBody>
          <a:bodyPr/>
          <a:lstStyle/>
          <a:p>
            <a:pPr eaLnBrk="1" hangingPunct="1"/>
            <a:r>
              <a:rPr lang="en-US" altLang="zh-CN" sz="4000"/>
              <a:t>Informative abstracts </a:t>
            </a:r>
            <a:endParaRPr lang="zh-CN" altLang="en-US" smtClean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27176" y="1773238"/>
            <a:ext cx="7524913" cy="4267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dirty="0"/>
              <a:t>Communicate specific information from the report, article, or paper.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dirty="0">
                <a:solidFill>
                  <a:srgbClr val="7030A0"/>
                </a:solidFill>
              </a:rPr>
              <a:t>Include the purpose, methods, and scope of the report, article, or paper.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u="sng" dirty="0"/>
              <a:t>Provide the report, article, or paper</a:t>
            </a:r>
            <a:r>
              <a:rPr lang="en-US" altLang="zh-CN" u="sng" dirty="0">
                <a:latin typeface="Arial" panose="020B0604020202020204" pitchFamily="34" charset="0"/>
              </a:rPr>
              <a:t>’</a:t>
            </a:r>
            <a:r>
              <a:rPr lang="en-US" altLang="zh-CN" u="sng" dirty="0"/>
              <a:t>s result, conclusions, and recommendations.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dirty="0">
                <a:solidFill>
                  <a:srgbClr val="7030A0"/>
                </a:solidFill>
              </a:rPr>
              <a:t>Are short-from a paragraph to a page or two, depending upon the length of the original work being abstracted. Usually informative abstracts are </a:t>
            </a:r>
            <a:r>
              <a:rPr lang="en-US" altLang="zh-CN" u="sng" dirty="0">
                <a:solidFill>
                  <a:srgbClr val="7030A0"/>
                </a:solidFill>
              </a:rPr>
              <a:t>10%</a:t>
            </a:r>
            <a:r>
              <a:rPr lang="en-US" altLang="zh-CN" dirty="0">
                <a:solidFill>
                  <a:srgbClr val="7030A0"/>
                </a:solidFill>
              </a:rPr>
              <a:t> or less of the length of the original piece. </a:t>
            </a:r>
          </a:p>
        </p:txBody>
      </p:sp>
    </p:spTree>
    <p:extLst>
      <p:ext uri="{BB962C8B-B14F-4D97-AF65-F5344CB8AC3E}">
        <p14:creationId xmlns:p14="http://schemas.microsoft.com/office/powerpoint/2010/main" val="612291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Informative abstracts </a:t>
            </a:r>
            <a:endParaRPr lang="zh-CN" altLang="en-US" smtClean="0"/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Allow readers to decide whether they want to read the report, article, or paper.</a:t>
            </a: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1639962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The abstract students are required to write for their theses is a type of </a:t>
            </a:r>
            <a:r>
              <a:rPr lang="en-US" altLang="zh-CN" b="1" smtClean="0">
                <a:solidFill>
                  <a:srgbClr val="C00000"/>
                </a:solidFill>
              </a:rPr>
              <a:t>Informative Abstract</a:t>
            </a:r>
            <a:r>
              <a:rPr lang="en-US" altLang="zh-CN" smtClean="0"/>
              <a:t>. </a:t>
            </a:r>
          </a:p>
          <a:p>
            <a:pPr eaLnBrk="1" hangingPunct="1"/>
            <a:r>
              <a:rPr lang="en-US" altLang="zh-CN" smtClean="0"/>
              <a:t>Research abstract are usually 180-220 words. </a:t>
            </a:r>
          </a:p>
          <a:p>
            <a:pPr eaLnBrk="1" hangingPunct="1"/>
            <a:r>
              <a:rPr lang="en-US" altLang="zh-CN" smtClean="0"/>
              <a:t>Dissertation abstract may be longer, up to 350 words. </a:t>
            </a:r>
          </a:p>
        </p:txBody>
      </p:sp>
    </p:spTree>
    <p:extLst>
      <p:ext uri="{BB962C8B-B14F-4D97-AF65-F5344CB8AC3E}">
        <p14:creationId xmlns:p14="http://schemas.microsoft.com/office/powerpoint/2010/main" val="3071359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Some initial hints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63561" y="1381898"/>
            <a:ext cx="8856662" cy="4267200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C00000"/>
                </a:solidFill>
              </a:rPr>
              <a:t>If an abstract is read along with the title, do not repeat or rephrase the title. </a:t>
            </a:r>
            <a:r>
              <a:rPr lang="en-US" altLang="zh-CN" dirty="0"/>
              <a:t>It will likely be read without the rest of the document, however, so make it complete enough to stand on its own. </a:t>
            </a:r>
          </a:p>
          <a:p>
            <a:pPr eaLnBrk="1" hangingPunct="1"/>
            <a:r>
              <a:rPr lang="en-US" altLang="zh-CN" dirty="0"/>
              <a:t>Your readers expect you to summarize your conclusions as well as your purpose, methods, and main findings. </a:t>
            </a:r>
            <a:r>
              <a:rPr lang="en-US" altLang="zh-CN" dirty="0">
                <a:solidFill>
                  <a:srgbClr val="C00000"/>
                </a:solidFill>
              </a:rPr>
              <a:t>Emphasize the different points in proportion to the emphasis they receive in the body of the document. 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3475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19289" y="188914"/>
            <a:ext cx="8497887" cy="6192837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C00000"/>
                </a:solidFill>
              </a:rPr>
              <a:t>Do not refer in the abstract to information that is not in the document. </a:t>
            </a:r>
          </a:p>
          <a:p>
            <a:pPr eaLnBrk="1" hangingPunct="1"/>
            <a:r>
              <a:rPr lang="en-US" altLang="zh-CN"/>
              <a:t>Choose whether to write in first person style (“</a:t>
            </a:r>
            <a:r>
              <a:rPr lang="en-US" altLang="zh-CN">
                <a:solidFill>
                  <a:srgbClr val="00B050"/>
                </a:solidFill>
              </a:rPr>
              <a:t>I</a:t>
            </a:r>
            <a:r>
              <a:rPr lang="en-US" altLang="zh-CN"/>
              <a:t>” or “</a:t>
            </a:r>
            <a:r>
              <a:rPr lang="en-US" altLang="zh-CN">
                <a:solidFill>
                  <a:srgbClr val="00B050"/>
                </a:solidFill>
              </a:rPr>
              <a:t>We</a:t>
            </a:r>
            <a:r>
              <a:rPr lang="en-US" altLang="zh-CN"/>
              <a:t>”) or third person style (“</a:t>
            </a:r>
            <a:r>
              <a:rPr lang="en-US" altLang="zh-CN">
                <a:solidFill>
                  <a:srgbClr val="00B050"/>
                </a:solidFill>
              </a:rPr>
              <a:t>This dissertation shows</a:t>
            </a:r>
            <a:r>
              <a:rPr lang="en-US" altLang="zh-CN"/>
              <a:t>…”). If you prefer first person style, however, avoid using “</a:t>
            </a:r>
            <a:r>
              <a:rPr lang="en-US" altLang="zh-CN">
                <a:solidFill>
                  <a:srgbClr val="00B050"/>
                </a:solidFill>
              </a:rPr>
              <a:t>we</a:t>
            </a:r>
            <a:r>
              <a:rPr lang="en-US" altLang="zh-CN"/>
              <a:t>” unless your work has more than one author. Likewise, avoid beginning each sentence with “</a:t>
            </a:r>
            <a:r>
              <a:rPr lang="en-US" altLang="zh-CN">
                <a:solidFill>
                  <a:srgbClr val="00B050"/>
                </a:solidFill>
              </a:rPr>
              <a:t>I</a:t>
            </a:r>
            <a:r>
              <a:rPr lang="en-US" altLang="zh-CN"/>
              <a:t>”. In other words, </a:t>
            </a:r>
            <a:r>
              <a:rPr lang="en-US" altLang="zh-CN">
                <a:solidFill>
                  <a:srgbClr val="C00000"/>
                </a:solidFill>
              </a:rPr>
              <a:t>third person style is always preferable</a:t>
            </a:r>
            <a:r>
              <a:rPr lang="en-US" altLang="zh-CN"/>
              <a:t>.</a:t>
            </a:r>
          </a:p>
          <a:p>
            <a:pPr eaLnBrk="1" hangingPunct="1"/>
            <a:r>
              <a:rPr lang="en-US" altLang="zh-CN">
                <a:solidFill>
                  <a:srgbClr val="C00000"/>
                </a:solidFill>
              </a:rPr>
              <a:t>Do not exaggerate with passives. </a:t>
            </a:r>
            <a:r>
              <a:rPr lang="en-US" altLang="zh-CN"/>
              <a:t>“</a:t>
            </a:r>
            <a:r>
              <a:rPr lang="en-US" altLang="zh-CN">
                <a:solidFill>
                  <a:srgbClr val="00B050"/>
                </a:solidFill>
              </a:rPr>
              <a:t>The study tested</a:t>
            </a:r>
            <a:r>
              <a:rPr lang="en-US" altLang="zh-CN"/>
              <a:t>” is better than “</a:t>
            </a:r>
            <a:r>
              <a:rPr lang="en-US" altLang="zh-CN">
                <a:solidFill>
                  <a:srgbClr val="00B050"/>
                </a:solidFill>
              </a:rPr>
              <a:t>It was tested by the study</a:t>
            </a:r>
            <a:r>
              <a:rPr lang="en-US" altLang="zh-CN"/>
              <a:t>”. 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598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33869" y="1773238"/>
            <a:ext cx="7538845" cy="4267200"/>
          </a:xfrm>
        </p:spPr>
        <p:txBody>
          <a:bodyPr/>
          <a:lstStyle/>
          <a:p>
            <a:pPr eaLnBrk="1" hangingPunct="1"/>
            <a:r>
              <a:rPr lang="en-US" altLang="zh-CN" dirty="0" smtClean="0">
                <a:solidFill>
                  <a:srgbClr val="C00000"/>
                </a:solidFill>
              </a:rPr>
              <a:t>If possible avoid trade names, acronyms, abbreviations, or symbols. </a:t>
            </a:r>
            <a:r>
              <a:rPr lang="en-US" altLang="zh-CN" dirty="0" smtClean="0"/>
              <a:t>You would need to explain them, and that takes too much room. </a:t>
            </a:r>
          </a:p>
          <a:p>
            <a:pPr eaLnBrk="1" hangingPunct="1"/>
            <a:r>
              <a:rPr lang="en-US" altLang="zh-CN" dirty="0" smtClean="0">
                <a:solidFill>
                  <a:srgbClr val="C00000"/>
                </a:solidFill>
              </a:rPr>
              <a:t>Use keywords from the document. </a:t>
            </a:r>
            <a:r>
              <a:rPr lang="en-US" altLang="zh-CN" dirty="0" smtClean="0"/>
              <a:t>For published work, the abstract is "mined" for the words used to index the material--thus making it more likely someone will cite your article. </a:t>
            </a:r>
          </a:p>
          <a:p>
            <a:pPr eaLnBrk="1" hangingPunct="1"/>
            <a:r>
              <a:rPr lang="en-US" altLang="zh-CN" dirty="0" smtClean="0">
                <a:solidFill>
                  <a:srgbClr val="C00000"/>
                </a:solidFill>
              </a:rPr>
              <a:t>Be coherent and cohesive!</a:t>
            </a:r>
            <a:endParaRPr lang="zh-CN" altLang="en-US" dirty="0" smtClean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5999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400"/>
              <a:t>Structure of research and dissertation abstracts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16100" y="1773238"/>
            <a:ext cx="8326438" cy="4267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CN" sz="2400" dirty="0">
                <a:solidFill>
                  <a:srgbClr val="C00000"/>
                </a:solidFill>
              </a:rPr>
              <a:t>A properly written abstract consists of the </a:t>
            </a:r>
            <a:r>
              <a:rPr lang="en-US" altLang="zh-CN" sz="2400" u="sng" dirty="0">
                <a:solidFill>
                  <a:srgbClr val="C00000"/>
                </a:solidFill>
              </a:rPr>
              <a:t>Title</a:t>
            </a:r>
            <a:r>
              <a:rPr lang="en-US" altLang="zh-CN" sz="2400" dirty="0">
                <a:solidFill>
                  <a:srgbClr val="C00000"/>
                </a:solidFill>
              </a:rPr>
              <a:t> of the study and the </a:t>
            </a:r>
            <a:r>
              <a:rPr lang="en-US" altLang="zh-CN" sz="2400" u="sng" dirty="0">
                <a:solidFill>
                  <a:srgbClr val="C00000"/>
                </a:solidFill>
              </a:rPr>
              <a:t>Body</a:t>
            </a:r>
            <a:r>
              <a:rPr lang="en-US" altLang="zh-CN" sz="2400" dirty="0">
                <a:solidFill>
                  <a:srgbClr val="C00000"/>
                </a:solidFill>
              </a:rPr>
              <a:t> of the abstract.</a:t>
            </a:r>
          </a:p>
          <a:p>
            <a:pPr eaLnBrk="1" hangingPunct="1">
              <a:lnSpc>
                <a:spcPct val="80000"/>
              </a:lnSpc>
            </a:pPr>
            <a:endParaRPr lang="en-US" altLang="zh-CN" sz="32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3200" dirty="0" smtClean="0"/>
              <a:t>Title</a:t>
            </a:r>
            <a:endParaRPr lang="en-US" altLang="zh-CN" sz="32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3200" dirty="0"/>
              <a:t>Make your title concise, but also descriptive. </a:t>
            </a:r>
          </a:p>
        </p:txBody>
      </p:sp>
    </p:spTree>
    <p:extLst>
      <p:ext uri="{BB962C8B-B14F-4D97-AF65-F5344CB8AC3E}">
        <p14:creationId xmlns:p14="http://schemas.microsoft.com/office/powerpoint/2010/main" val="2984572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Body of the abstract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1" y="1628775"/>
            <a:ext cx="8748713" cy="4895850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C00000"/>
                </a:solidFill>
              </a:rPr>
              <a:t>The abstract is a very brief overview of your </a:t>
            </a:r>
            <a:r>
              <a:rPr lang="en-US" altLang="zh-CN" b="1">
                <a:solidFill>
                  <a:srgbClr val="C00000"/>
                </a:solidFill>
              </a:rPr>
              <a:t>entire</a:t>
            </a:r>
            <a:r>
              <a:rPr lang="en-US" altLang="zh-CN">
                <a:solidFill>
                  <a:srgbClr val="C00000"/>
                </a:solidFill>
              </a:rPr>
              <a:t> study. It tells the reader </a:t>
            </a:r>
            <a:r>
              <a:rPr lang="en-US" altLang="zh-CN" b="1">
                <a:solidFill>
                  <a:srgbClr val="C00000"/>
                </a:solidFill>
              </a:rPr>
              <a:t>what</a:t>
            </a:r>
            <a:r>
              <a:rPr lang="en-US" altLang="zh-CN">
                <a:solidFill>
                  <a:srgbClr val="C00000"/>
                </a:solidFill>
              </a:rPr>
              <a:t> you did, </a:t>
            </a:r>
            <a:r>
              <a:rPr lang="en-US" altLang="zh-CN" b="1">
                <a:solidFill>
                  <a:srgbClr val="C00000"/>
                </a:solidFill>
              </a:rPr>
              <a:t>why</a:t>
            </a:r>
            <a:r>
              <a:rPr lang="en-US" altLang="zh-CN">
                <a:solidFill>
                  <a:srgbClr val="C00000"/>
                </a:solidFill>
              </a:rPr>
              <a:t> you did it, </a:t>
            </a:r>
            <a:r>
              <a:rPr lang="en-US" altLang="zh-CN" b="1">
                <a:solidFill>
                  <a:srgbClr val="C00000"/>
                </a:solidFill>
              </a:rPr>
              <a:t>how</a:t>
            </a:r>
            <a:r>
              <a:rPr lang="en-US" altLang="zh-CN">
                <a:solidFill>
                  <a:srgbClr val="C00000"/>
                </a:solidFill>
              </a:rPr>
              <a:t> you did it, </a:t>
            </a:r>
            <a:r>
              <a:rPr lang="en-US" altLang="zh-CN" b="1">
                <a:solidFill>
                  <a:srgbClr val="C00000"/>
                </a:solidFill>
              </a:rPr>
              <a:t>what</a:t>
            </a:r>
            <a:r>
              <a:rPr lang="en-US" altLang="zh-CN">
                <a:solidFill>
                  <a:srgbClr val="C00000"/>
                </a:solidFill>
              </a:rPr>
              <a:t> you found, and </a:t>
            </a:r>
            <a:r>
              <a:rPr lang="en-US" altLang="zh-CN" b="1">
                <a:solidFill>
                  <a:srgbClr val="C00000"/>
                </a:solidFill>
              </a:rPr>
              <a:t>what</a:t>
            </a:r>
            <a:r>
              <a:rPr lang="en-US" altLang="zh-CN">
                <a:solidFill>
                  <a:srgbClr val="C00000"/>
                </a:solidFill>
              </a:rPr>
              <a:t> it means. </a:t>
            </a:r>
          </a:p>
          <a:p>
            <a:pPr eaLnBrk="1" hangingPunct="1"/>
            <a:endParaRPr lang="en-US" altLang="zh-CN">
              <a:solidFill>
                <a:srgbClr val="C00000"/>
              </a:solidFill>
            </a:endParaRPr>
          </a:p>
          <a:p>
            <a:pPr eaLnBrk="1" hangingPunct="1"/>
            <a:r>
              <a:rPr lang="en-US" altLang="zh-CN"/>
              <a:t>The </a:t>
            </a:r>
            <a:r>
              <a:rPr lang="en-US" altLang="zh-CN" b="1"/>
              <a:t>Abstract Worksheet Form </a:t>
            </a:r>
            <a:r>
              <a:rPr lang="en-US" altLang="zh-CN"/>
              <a:t>is meant to help you prepare the first draft of your abstract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89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Practice 1</a:t>
            </a:r>
            <a:endParaRPr lang="zh-CN" altLang="en-US" smtClean="0"/>
          </a:p>
        </p:txBody>
      </p:sp>
      <p:sp>
        <p:nvSpPr>
          <p:cNvPr id="1638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23168795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Language Focus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54675" y="1627917"/>
            <a:ext cx="10515600" cy="4351338"/>
          </a:xfrm>
        </p:spPr>
        <p:txBody>
          <a:bodyPr/>
          <a:lstStyle/>
          <a:p>
            <a:pPr marL="514350" indent="-514350">
              <a:buFont typeface="Wingdings" panose="05000000000000000000" pitchFamily="2" charset="2"/>
              <a:buAutoNum type="alphaUcPeriod"/>
              <a:defRPr/>
            </a:pPr>
            <a:r>
              <a:rPr lang="en-US" altLang="zh-CN" dirty="0" smtClean="0">
                <a:solidFill>
                  <a:srgbClr val="FF0000"/>
                </a:solidFill>
              </a:rPr>
              <a:t>Topic sentence – Introduction</a:t>
            </a:r>
          </a:p>
          <a:p>
            <a:pPr marL="0" indent="0">
              <a:buNone/>
              <a:defRPr/>
            </a:pPr>
            <a:endParaRPr lang="en-US" altLang="zh-CN" dirty="0" smtClean="0"/>
          </a:p>
          <a:p>
            <a:pPr>
              <a:defRPr/>
            </a:pPr>
            <a:r>
              <a:rPr lang="en-US" altLang="zh-CN" dirty="0" smtClean="0"/>
              <a:t>The introductory sentence is </a:t>
            </a:r>
            <a:r>
              <a:rPr lang="en-US" altLang="zh-CN" u="sng" dirty="0" smtClean="0"/>
              <a:t>optional</a:t>
            </a:r>
            <a:r>
              <a:rPr lang="en-US" altLang="zh-CN" dirty="0" smtClean="0"/>
              <a:t>. It allows the writer to focus the reader’s attention on the topic of the study and the reasons why that subject is worth investigating.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3915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Practice: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862913" y="1562014"/>
            <a:ext cx="10515600" cy="4351338"/>
          </a:xfrm>
        </p:spPr>
        <p:txBody>
          <a:bodyPr/>
          <a:lstStyle/>
          <a:p>
            <a:pPr>
              <a:defRPr/>
            </a:pPr>
            <a:r>
              <a:rPr lang="en-US" altLang="zh-CN" dirty="0" smtClean="0"/>
              <a:t>Read the examples and discuss the following points.</a:t>
            </a:r>
          </a:p>
          <a:p>
            <a:pPr marL="0" indent="0">
              <a:buNone/>
              <a:defRPr/>
            </a:pPr>
            <a:r>
              <a:rPr lang="en-US" altLang="zh-CN" dirty="0" smtClean="0"/>
              <a:t>1.  Are introductory statements general or specific?</a:t>
            </a:r>
          </a:p>
          <a:p>
            <a:pPr marL="0" indent="0">
              <a:buNone/>
              <a:defRPr/>
            </a:pPr>
            <a:r>
              <a:rPr lang="en-US" altLang="zh-CN" dirty="0" smtClean="0"/>
              <a:t>2.  Are they in first person style or third person style?</a:t>
            </a:r>
          </a:p>
          <a:p>
            <a:pPr marL="0" indent="0">
              <a:buNone/>
              <a:defRPr/>
            </a:pPr>
            <a:r>
              <a:rPr lang="en-US" altLang="zh-CN" dirty="0" smtClean="0"/>
              <a:t>3.  What tenses are used?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2907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solidFill>
                  <a:srgbClr val="FF0000"/>
                </a:solidFill>
              </a:rPr>
              <a:t>B. Subject/Purpose</a:t>
            </a:r>
            <a:endParaRPr lang="zh-CN" altLang="en-US" smtClean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03388" y="1773238"/>
            <a:ext cx="8964612" cy="46799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u="sng" smtClean="0"/>
              <a:t>Third person style: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The / This    </a:t>
            </a:r>
            <a:r>
              <a:rPr lang="en-US" altLang="zh-CN" sz="2400">
                <a:solidFill>
                  <a:srgbClr val="7030A0"/>
                </a:solidFill>
              </a:rPr>
              <a:t>paper</a:t>
            </a:r>
            <a:r>
              <a:rPr lang="en-US" altLang="zh-CN" sz="2400"/>
              <a:t>            analyzes, investigates,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                                       explores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                  </a:t>
            </a:r>
            <a:r>
              <a:rPr lang="en-US" altLang="zh-CN" sz="2400">
                <a:solidFill>
                  <a:srgbClr val="7030A0"/>
                </a:solidFill>
              </a:rPr>
              <a:t>article</a:t>
            </a:r>
            <a:r>
              <a:rPr lang="en-US" altLang="zh-CN" sz="2400"/>
              <a:t>            examines, re-examines,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                                       outlines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                 </a:t>
            </a:r>
            <a:r>
              <a:rPr lang="en-US" altLang="zh-CN" sz="2400">
                <a:solidFill>
                  <a:srgbClr val="7030A0"/>
                </a:solidFill>
              </a:rPr>
              <a:t>thesis</a:t>
            </a:r>
            <a:r>
              <a:rPr lang="en-US" altLang="zh-CN" sz="2400"/>
              <a:t>              describes, show, introduces,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                 </a:t>
            </a:r>
            <a:r>
              <a:rPr lang="en-US" altLang="zh-CN" sz="2400">
                <a:solidFill>
                  <a:srgbClr val="7030A0"/>
                </a:solidFill>
              </a:rPr>
              <a:t>dissertation</a:t>
            </a:r>
            <a:r>
              <a:rPr lang="en-US" altLang="zh-CN" sz="2400"/>
              <a:t>      evaluates, considers</a:t>
            </a:r>
            <a:r>
              <a:rPr lang="en-US" altLang="zh-CN" sz="2400">
                <a:latin typeface="Arial" panose="020B0604020202020204" pitchFamily="34" charset="0"/>
              </a:rPr>
              <a:t>…</a:t>
            </a:r>
            <a:endParaRPr lang="en-US" altLang="zh-CN" sz="2400"/>
          </a:p>
        </p:txBody>
      </p:sp>
    </p:spTree>
    <p:extLst>
      <p:ext uri="{BB962C8B-B14F-4D97-AF65-F5344CB8AC3E}">
        <p14:creationId xmlns:p14="http://schemas.microsoft.com/office/powerpoint/2010/main" val="4099190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First person style :</a:t>
            </a:r>
          </a:p>
        </p:txBody>
      </p:sp>
      <p:sp>
        <p:nvSpPr>
          <p:cNvPr id="20483" name="内容占位符 2"/>
          <p:cNvSpPr>
            <a:spLocks noGrp="1"/>
          </p:cNvSpPr>
          <p:nvPr>
            <p:ph idx="1"/>
          </p:nvPr>
        </p:nvSpPr>
        <p:spPr>
          <a:xfrm>
            <a:off x="1703388" y="1773238"/>
            <a:ext cx="9072562" cy="4679950"/>
          </a:xfrm>
        </p:spPr>
        <p:txBody>
          <a:bodyPr/>
          <a:lstStyle/>
          <a:p>
            <a:r>
              <a:rPr lang="en-US" altLang="zh-CN" sz="2400"/>
              <a:t>In this paper      </a:t>
            </a:r>
            <a:r>
              <a:rPr lang="en-US" altLang="zh-CN" sz="2400">
                <a:solidFill>
                  <a:srgbClr val="7030A0"/>
                </a:solidFill>
              </a:rPr>
              <a:t>I / we  </a:t>
            </a:r>
            <a:r>
              <a:rPr lang="en-US" altLang="zh-CN" sz="2400"/>
              <a:t>examine, re-examine, outline,</a:t>
            </a:r>
          </a:p>
          <a:p>
            <a:r>
              <a:rPr lang="en-US" altLang="zh-CN" sz="2400"/>
              <a:t>          article                analyse, investigate, explore,</a:t>
            </a:r>
          </a:p>
          <a:p>
            <a:r>
              <a:rPr lang="en-US" altLang="zh-CN" sz="2400"/>
              <a:t>          theses                describe, show, introduce,</a:t>
            </a:r>
          </a:p>
          <a:p>
            <a:r>
              <a:rPr lang="en-US" altLang="zh-CN" sz="2400"/>
              <a:t>          dissertation         evaluate, consider…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785974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Practice 2 </a:t>
            </a:r>
            <a:endParaRPr lang="zh-CN" altLang="en-US" smtClean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AutoNum type="arabicPeriod"/>
            </a:pPr>
            <a:r>
              <a:rPr lang="en-US" altLang="zh-CN" smtClean="0"/>
              <a:t>provides</a:t>
            </a:r>
          </a:p>
          <a:p>
            <a:pPr marL="571500" indent="-571500">
              <a:buFont typeface="Wingdings" panose="05000000000000000000" pitchFamily="2" charset="2"/>
              <a:buAutoNum type="arabicPeriod"/>
            </a:pPr>
            <a:r>
              <a:rPr lang="en-US" altLang="zh-CN" smtClean="0"/>
              <a:t>consider</a:t>
            </a:r>
          </a:p>
          <a:p>
            <a:pPr marL="571500" indent="-571500">
              <a:buFont typeface="Wingdings" panose="05000000000000000000" pitchFamily="2" charset="2"/>
              <a:buAutoNum type="arabicPeriod"/>
            </a:pPr>
            <a:r>
              <a:rPr lang="en-US" altLang="zh-CN" smtClean="0"/>
              <a:t>argues </a:t>
            </a:r>
          </a:p>
          <a:p>
            <a:pPr marL="571500" indent="-571500">
              <a:buFont typeface="Wingdings" panose="05000000000000000000" pitchFamily="2" charset="2"/>
              <a:buAutoNum type="arabicPeriod"/>
            </a:pPr>
            <a:r>
              <a:rPr lang="en-US" altLang="zh-CN" smtClean="0"/>
              <a:t>looks</a:t>
            </a:r>
          </a:p>
          <a:p>
            <a:pPr marL="571500" indent="-571500">
              <a:buFont typeface="Wingdings" panose="05000000000000000000" pitchFamily="2" charset="2"/>
              <a:buAutoNum type="arabicPeriod"/>
            </a:pPr>
            <a:r>
              <a:rPr lang="en-US" altLang="zh-CN" smtClean="0"/>
              <a:t>calls into</a:t>
            </a:r>
          </a:p>
          <a:p>
            <a:pPr marL="571500" indent="-571500">
              <a:buFont typeface="Wingdings" panose="05000000000000000000" pitchFamily="2" charset="2"/>
              <a:buAutoNum type="arabicPeriod"/>
            </a:pPr>
            <a:r>
              <a:rPr lang="en-US" altLang="zh-CN" smtClean="0"/>
              <a:t>develops </a:t>
            </a:r>
          </a:p>
        </p:txBody>
      </p:sp>
    </p:spTree>
    <p:extLst>
      <p:ext uri="{BB962C8B-B14F-4D97-AF65-F5344CB8AC3E}">
        <p14:creationId xmlns:p14="http://schemas.microsoft.com/office/powerpoint/2010/main" val="392102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solidFill>
                  <a:srgbClr val="FF0000"/>
                </a:solidFill>
              </a:rPr>
              <a:t>C:Hypothesis/Prediction</a:t>
            </a:r>
            <a:endParaRPr lang="zh-CN" altLang="en-US" smtClean="0">
              <a:solidFill>
                <a:srgbClr val="FF0000"/>
              </a:solidFill>
            </a:endParaRPr>
          </a:p>
        </p:txBody>
      </p:sp>
      <p:sp>
        <p:nvSpPr>
          <p:cNvPr id="22531" name="内容占位符 2"/>
          <p:cNvSpPr>
            <a:spLocks noGrp="1"/>
          </p:cNvSpPr>
          <p:nvPr>
            <p:ph idx="1"/>
          </p:nvPr>
        </p:nvSpPr>
        <p:spPr>
          <a:xfrm>
            <a:off x="2208213" y="1916113"/>
            <a:ext cx="8001000" cy="4267200"/>
          </a:xfrm>
        </p:spPr>
        <p:txBody>
          <a:bodyPr/>
          <a:lstStyle/>
          <a:p>
            <a:r>
              <a:rPr lang="en-US" altLang="zh-CN" smtClean="0"/>
              <a:t>In an abstract, the founding hypothesis and related prediction can be expressed in several ways. </a:t>
            </a:r>
          </a:p>
          <a:p>
            <a:r>
              <a:rPr lang="en-US" altLang="zh-CN" smtClean="0"/>
              <a:t>They can also be included in the introductory sentence or in the Subject/Purpose statement. </a:t>
            </a: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1416290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Examples:</a:t>
            </a:r>
            <a:endParaRPr lang="zh-CN" altLang="en-US" smtClean="0"/>
          </a:p>
        </p:txBody>
      </p:sp>
      <p:sp>
        <p:nvSpPr>
          <p:cNvPr id="2355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mtClean="0"/>
              <a:t>Read the following excerpts and notice how each author has expressed them.</a:t>
            </a:r>
            <a:endParaRPr lang="zh-CN" altLang="en-US" smtClean="0"/>
          </a:p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1319154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solidFill>
                  <a:srgbClr val="FF0000"/>
                </a:solidFill>
              </a:rPr>
              <a:t>D. Approach/Methodology 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3200"/>
              <a:t>Sometimes, the Approach/Methodology sentences are expressed in passive form. </a:t>
            </a:r>
          </a:p>
          <a:p>
            <a:pPr eaLnBrk="1" hangingPunct="1">
              <a:lnSpc>
                <a:spcPct val="90000"/>
              </a:lnSpc>
            </a:pPr>
            <a:endParaRPr lang="en-US" altLang="zh-CN" sz="3200"/>
          </a:p>
          <a:p>
            <a:pPr eaLnBrk="1" hangingPunct="1">
              <a:lnSpc>
                <a:spcPct val="90000"/>
              </a:lnSpc>
            </a:pPr>
            <a:r>
              <a:rPr lang="en-US" altLang="zh-CN" sz="3200"/>
              <a:t>Practice 3,4,5</a:t>
            </a:r>
          </a:p>
        </p:txBody>
      </p:sp>
    </p:spTree>
    <p:extLst>
      <p:ext uri="{BB962C8B-B14F-4D97-AF65-F5344CB8AC3E}">
        <p14:creationId xmlns:p14="http://schemas.microsoft.com/office/powerpoint/2010/main" val="583354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>
                <a:solidFill>
                  <a:srgbClr val="FF0000"/>
                </a:solidFill>
              </a:rPr>
              <a:t>E. Findings/Discussion 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sz="2400"/>
              <a:t>Often introduced by the terms </a:t>
            </a:r>
            <a:r>
              <a:rPr lang="en-US" altLang="zh-CN" sz="2400" i="1">
                <a:latin typeface="Times New Roman" panose="02020603050405020304" pitchFamily="18" charset="0"/>
              </a:rPr>
              <a:t>result/results or findings</a:t>
            </a:r>
            <a:r>
              <a:rPr lang="en-US" altLang="zh-CN" sz="2400">
                <a:latin typeface="Times New Roman" panose="02020603050405020304" pitchFamily="18" charset="0"/>
              </a:rPr>
              <a:t>.</a:t>
            </a:r>
            <a:r>
              <a:rPr lang="en-US" altLang="zh-CN" sz="2400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/>
              <a:t>1. with verbs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The   results      show, state, suggest, uncover,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findings      indicate, imply, provide</a:t>
            </a:r>
            <a:r>
              <a:rPr lang="en-US" altLang="zh-CN" sz="2400">
                <a:latin typeface="Arial" panose="020B0604020202020204" pitchFamily="34" charset="0"/>
              </a:rPr>
              <a:t>…</a:t>
            </a:r>
            <a:endParaRPr lang="en-US" altLang="zh-CN" sz="24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2. with adjectives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Main/partial/empirical    result (is)     striking,     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                                         contradictory,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                                           different,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                                        consistent with </a:t>
            </a:r>
          </a:p>
        </p:txBody>
      </p:sp>
    </p:spTree>
    <p:extLst>
      <p:ext uri="{BB962C8B-B14F-4D97-AF65-F5344CB8AC3E}">
        <p14:creationId xmlns:p14="http://schemas.microsoft.com/office/powerpoint/2010/main" val="2502924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F. Conclusions 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l"/>
            </a:pPr>
            <a:r>
              <a:rPr lang="en-US" altLang="zh-CN" sz="2600" b="1">
                <a:solidFill>
                  <a:schemeClr val="hlink"/>
                </a:solidFill>
              </a:rPr>
              <a:t>In light of these results, we believe that</a:t>
            </a:r>
            <a:r>
              <a:rPr lang="en-US" altLang="zh-CN" sz="2600"/>
              <a:t> efforts to eliminate SOES based on volatility considerations are unwarranted. </a:t>
            </a:r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en-US" altLang="zh-CN" sz="2600" b="1">
                <a:solidFill>
                  <a:schemeClr val="hlink"/>
                </a:solidFill>
              </a:rPr>
              <a:t>Analysis</a:t>
            </a:r>
            <a:r>
              <a:rPr lang="en-US" altLang="zh-CN" sz="2600"/>
              <a:t> of the conditions that have to be met, illustrated with examples of attitudes and preferences within Europe, </a:t>
            </a:r>
            <a:r>
              <a:rPr lang="en-US" altLang="zh-CN" sz="2600" b="1">
                <a:solidFill>
                  <a:schemeClr val="hlink"/>
                </a:solidFill>
              </a:rPr>
              <a:t>leads</a:t>
            </a:r>
            <a:r>
              <a:rPr lang="en-US" altLang="zh-CN" sz="2600"/>
              <a:t> to the conclusion that we are unlikely to see the end of the nation state in the near future either in Europe or anywhere else. </a:t>
            </a:r>
          </a:p>
        </p:txBody>
      </p:sp>
    </p:spTree>
    <p:extLst>
      <p:ext uri="{BB962C8B-B14F-4D97-AF65-F5344CB8AC3E}">
        <p14:creationId xmlns:p14="http://schemas.microsoft.com/office/powerpoint/2010/main" val="7194911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Some final suggestions</a:t>
            </a:r>
            <a:endParaRPr lang="zh-CN" altLang="en-US" smtClean="0"/>
          </a:p>
        </p:txBody>
      </p:sp>
      <p:sp>
        <p:nvSpPr>
          <p:cNvPr id="33795" name="内容占位符 2"/>
          <p:cNvSpPr>
            <a:spLocks noGrp="1"/>
          </p:cNvSpPr>
          <p:nvPr>
            <p:ph idx="1"/>
          </p:nvPr>
        </p:nvSpPr>
        <p:spPr>
          <a:xfrm>
            <a:off x="2611395" y="1752600"/>
            <a:ext cx="7805781" cy="4055076"/>
          </a:xfrm>
        </p:spPr>
        <p:txBody>
          <a:bodyPr/>
          <a:lstStyle/>
          <a:p>
            <a:r>
              <a:rPr lang="en-US" altLang="zh-CN" dirty="0"/>
              <a:t>Write the abstract </a:t>
            </a:r>
            <a:r>
              <a:rPr lang="en-US" altLang="zh-CN" dirty="0">
                <a:solidFill>
                  <a:srgbClr val="FF0000"/>
                </a:solidFill>
              </a:rPr>
              <a:t>only when the document is finished</a:t>
            </a:r>
            <a:r>
              <a:rPr lang="en-US" altLang="zh-CN" dirty="0"/>
              <a:t>. Abstracts written before then are just previews. </a:t>
            </a:r>
          </a:p>
          <a:p>
            <a:r>
              <a:rPr lang="en-US" altLang="zh-CN" dirty="0"/>
              <a:t>If you are forced to write an abstract before the document is completed, </a:t>
            </a:r>
            <a:r>
              <a:rPr lang="en-US" altLang="zh-CN" dirty="0">
                <a:solidFill>
                  <a:srgbClr val="FF0000"/>
                </a:solidFill>
              </a:rPr>
              <a:t>think about its purpose and write a topic sentence</a:t>
            </a:r>
            <a:r>
              <a:rPr lang="en-US" altLang="zh-CN" dirty="0"/>
              <a:t>. Keep in mind that you'll need to rewrite the abstract when the document is finished because it will no longer accurately reflect the contents of the document.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9099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内容占位符 2"/>
          <p:cNvSpPr>
            <a:spLocks noGrp="1"/>
          </p:cNvSpPr>
          <p:nvPr>
            <p:ph idx="1"/>
          </p:nvPr>
        </p:nvSpPr>
        <p:spPr>
          <a:xfrm>
            <a:off x="2438399" y="260350"/>
            <a:ext cx="7978775" cy="5868601"/>
          </a:xfrm>
        </p:spPr>
        <p:txBody>
          <a:bodyPr/>
          <a:lstStyle/>
          <a:p>
            <a:r>
              <a:rPr lang="en-US" altLang="zh-CN" dirty="0"/>
              <a:t>Before starting the abstract, </a:t>
            </a:r>
            <a:r>
              <a:rPr lang="en-US" altLang="zh-CN" dirty="0">
                <a:solidFill>
                  <a:srgbClr val="FF0000"/>
                </a:solidFill>
              </a:rPr>
              <a:t>list your thoughts on the document. Group related items together. </a:t>
            </a:r>
            <a:r>
              <a:rPr lang="en-US" altLang="zh-CN" dirty="0" err="1"/>
              <a:t>Prioritise</a:t>
            </a:r>
            <a:r>
              <a:rPr lang="en-US" altLang="zh-CN" dirty="0"/>
              <a:t> the list and put the most important group first. </a:t>
            </a:r>
            <a:r>
              <a:rPr lang="en-US" altLang="zh-CN" dirty="0">
                <a:solidFill>
                  <a:srgbClr val="FF0000"/>
                </a:solidFill>
              </a:rPr>
              <a:t>The first few groups form the core of the topic sentence. </a:t>
            </a:r>
            <a:r>
              <a:rPr lang="en-US" altLang="zh-CN" dirty="0"/>
              <a:t>The rest lead to supporting sentences. </a:t>
            </a:r>
          </a:p>
          <a:p>
            <a:r>
              <a:rPr lang="en-US" altLang="zh-CN" dirty="0"/>
              <a:t>If you can't create a topic sentence (i.e. the introductory statement), </a:t>
            </a:r>
            <a:r>
              <a:rPr lang="en-US" altLang="zh-CN" dirty="0">
                <a:solidFill>
                  <a:srgbClr val="FF0000"/>
                </a:solidFill>
              </a:rPr>
              <a:t>write the supporting sentences first</a:t>
            </a:r>
            <a:r>
              <a:rPr lang="en-US" altLang="zh-CN" dirty="0"/>
              <a:t>. The topic sentence may then become obvious. 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Write for an audience not necessarily up to speed in your subject area. </a:t>
            </a:r>
            <a:r>
              <a:rPr lang="en-US" altLang="zh-CN" dirty="0"/>
              <a:t>This is important because you never know who will read your abstract.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1755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/>
          </a:p>
        </p:txBody>
      </p:sp>
      <p:sp>
        <p:nvSpPr>
          <p:cNvPr id="358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mtClean="0"/>
              <a:t>Choose acronyms, abbreviations, and technical terms carefully as they may confuse many readers. </a:t>
            </a:r>
          </a:p>
          <a:p>
            <a:r>
              <a:rPr lang="en-US" altLang="zh-CN" smtClean="0"/>
              <a:t>Define the scope of the project in the abstract. </a:t>
            </a:r>
          </a:p>
          <a:p>
            <a:r>
              <a:rPr lang="en-US" altLang="zh-CN" smtClean="0">
                <a:solidFill>
                  <a:srgbClr val="FF0000"/>
                </a:solidFill>
              </a:rPr>
              <a:t>Reread your abstract after several days have passed. </a:t>
            </a:r>
            <a:r>
              <a:rPr lang="en-US" altLang="zh-CN" smtClean="0"/>
              <a:t>Remove all superfluous information. </a:t>
            </a:r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3950518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mtClean="0"/>
              <a:t>Ten steps for writing an abstract 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zh-CN" sz="2100"/>
              <a:t>1. Identify the major objectives and conclusions.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100"/>
              <a:t>2. Identify phrases with keywords in the methods section.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100"/>
              <a:t>3. Identify the major results from the discussion or results section.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100"/>
              <a:t>4. Assemble the above information into a single paragraph.</a:t>
            </a:r>
          </a:p>
        </p:txBody>
      </p:sp>
    </p:spTree>
    <p:extLst>
      <p:ext uri="{BB962C8B-B14F-4D97-AF65-F5344CB8AC3E}">
        <p14:creationId xmlns:p14="http://schemas.microsoft.com/office/powerpoint/2010/main" val="727518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70204" y="1825625"/>
            <a:ext cx="8783595" cy="4351338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zh-CN" sz="2500" dirty="0"/>
              <a:t>5. State your hypothesis or method used in the first sentence.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500" dirty="0"/>
              <a:t>6. Omit background information, literature review, and detailed description of methods.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500" dirty="0"/>
              <a:t>7. Remove extra words and phrases.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500" dirty="0"/>
              <a:t>8. Revise the paragraph so that the abstract conveys only the essential information.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500" dirty="0"/>
              <a:t>9. Check to see if it meets the guidelines of the targeted journal.</a:t>
            </a:r>
          </a:p>
          <a:p>
            <a:pPr eaLnBrk="1" hangingPunct="1">
              <a:lnSpc>
                <a:spcPct val="110000"/>
              </a:lnSpc>
            </a:pPr>
            <a:endParaRPr lang="zh-CN" altLang="en-US" sz="2600" dirty="0"/>
          </a:p>
        </p:txBody>
      </p:sp>
    </p:spTree>
    <p:extLst>
      <p:ext uri="{BB962C8B-B14F-4D97-AF65-F5344CB8AC3E}">
        <p14:creationId xmlns:p14="http://schemas.microsoft.com/office/powerpoint/2010/main" val="643314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zh-CN" sz="2900"/>
              <a:t>10. Give the abstract to a colleague (preferably one who is not familiar with your work) and ask him/her whether it makes sense.</a:t>
            </a:r>
            <a:endParaRPr lang="zh-CN" altLang="en-US" sz="2900"/>
          </a:p>
          <a:p>
            <a:pPr eaLnBrk="1" hangingPunct="1"/>
            <a:endParaRPr lang="zh-CN" altLang="en-US" smtClean="0"/>
          </a:p>
          <a:p>
            <a:pPr eaLnBrk="1" hangingPunct="1"/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3488935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1816</TotalTime>
  <Words>1397</Words>
  <Application>Microsoft Office PowerPoint</Application>
  <PresentationFormat>宽屏</PresentationFormat>
  <Paragraphs>117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7" baseType="lpstr">
      <vt:lpstr>宋体</vt:lpstr>
      <vt:lpstr>Arial</vt:lpstr>
      <vt:lpstr>Calibri</vt:lpstr>
      <vt:lpstr>Calibri Light</vt:lpstr>
      <vt:lpstr>Times New Roman</vt:lpstr>
      <vt:lpstr>Wingdings</vt:lpstr>
      <vt:lpstr>Office 主题</vt:lpstr>
      <vt:lpstr>Abstract Writing</vt:lpstr>
      <vt:lpstr>What is an abstract?</vt:lpstr>
      <vt:lpstr>PowerPoint 演示文稿</vt:lpstr>
      <vt:lpstr>Types of abstracts </vt:lpstr>
      <vt:lpstr>Descriptive abstracts </vt:lpstr>
      <vt:lpstr>Informative abstracts </vt:lpstr>
      <vt:lpstr>Informative abstracts </vt:lpstr>
      <vt:lpstr>PowerPoint 演示文稿</vt:lpstr>
      <vt:lpstr>Some initial hints</vt:lpstr>
      <vt:lpstr>PowerPoint 演示文稿</vt:lpstr>
      <vt:lpstr>PowerPoint 演示文稿</vt:lpstr>
      <vt:lpstr>Structure of research and dissertation abstracts</vt:lpstr>
      <vt:lpstr>Body of the abstract</vt:lpstr>
      <vt:lpstr>Practice 1</vt:lpstr>
      <vt:lpstr>Language Focus</vt:lpstr>
      <vt:lpstr>Practice:</vt:lpstr>
      <vt:lpstr>B. Subject/Purpose</vt:lpstr>
      <vt:lpstr>First person style :</vt:lpstr>
      <vt:lpstr>Practice 2 </vt:lpstr>
      <vt:lpstr>C:Hypothesis/Prediction</vt:lpstr>
      <vt:lpstr>Examples:</vt:lpstr>
      <vt:lpstr>D. Approach/Methodology </vt:lpstr>
      <vt:lpstr>E. Findings/Discussion </vt:lpstr>
      <vt:lpstr>F. Conclusions </vt:lpstr>
      <vt:lpstr>Some final suggestions</vt:lpstr>
      <vt:lpstr>PowerPoint 演示文稿</vt:lpstr>
      <vt:lpstr>PowerPoint 演示文稿</vt:lpstr>
      <vt:lpstr>Ten steps for writing an abstract 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15</cp:revision>
  <dcterms:created xsi:type="dcterms:W3CDTF">2018-12-17T02:23:55Z</dcterms:created>
  <dcterms:modified xsi:type="dcterms:W3CDTF">2018-12-24T06:49:13Z</dcterms:modified>
</cp:coreProperties>
</file>