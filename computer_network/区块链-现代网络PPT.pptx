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274" r:id="rId3"/>
    <p:sldId id="270" r:id="rId4"/>
    <p:sldId id="279" r:id="rId5"/>
    <p:sldId id="276" r:id="rId6"/>
    <p:sldId id="277" r:id="rId7"/>
    <p:sldId id="275" r:id="rId8"/>
    <p:sldId id="278" r:id="rId9"/>
    <p:sldId id="280" r:id="rId10"/>
    <p:sldId id="281" r:id="rId11"/>
    <p:sldId id="282" r:id="rId12"/>
    <p:sldId id="283" r:id="rId13"/>
    <p:sldId id="260" r:id="rId14"/>
    <p:sldId id="261" r:id="rId15"/>
    <p:sldId id="262" r:id="rId16"/>
    <p:sldId id="263" r:id="rId17"/>
    <p:sldId id="258" r:id="rId18"/>
    <p:sldId id="259" r:id="rId19"/>
    <p:sldId id="284"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6D6FF"/>
    <a:srgbClr val="00B0F0"/>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55"/>
    <p:restoredTop sz="95884"/>
  </p:normalViewPr>
  <p:slideViewPr>
    <p:cSldViewPr snapToGrid="0" snapToObjects="1">
      <p:cViewPr>
        <p:scale>
          <a:sx n="69" d="100"/>
          <a:sy n="69" d="100"/>
        </p:scale>
        <p:origin x="116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42548F-B101-4600-9CED-BB221495A5A3}" type="datetimeFigureOut">
              <a:rPr lang="zh-CN" altLang="en-US" smtClean="0"/>
              <a:t>2018/12/22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FD6601-AD47-4E57-8764-55BFB60E7B33}" type="slidenum">
              <a:rPr lang="zh-CN" altLang="en-US" smtClean="0"/>
              <a:t>‹#›</a:t>
            </a:fld>
            <a:endParaRPr lang="zh-CN" altLang="en-US"/>
          </a:p>
        </p:txBody>
      </p:sp>
    </p:spTree>
    <p:extLst>
      <p:ext uri="{BB962C8B-B14F-4D97-AF65-F5344CB8AC3E}">
        <p14:creationId xmlns:p14="http://schemas.microsoft.com/office/powerpoint/2010/main" val="254500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178752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564030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175696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4068574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566043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2253887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315350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1167877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582336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4034753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3A94F9-7E03-8D4D-B48D-415FEEC46D62}" type="datetimeFigureOut">
              <a:rPr kumimoji="1" lang="zh-CN" altLang="en-US" smtClean="0"/>
              <a:t>2018/12/22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254183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3A94F9-7E03-8D4D-B48D-415FEEC46D62}" type="datetimeFigureOut">
              <a:rPr kumimoji="1" lang="zh-CN" altLang="en-US" smtClean="0"/>
              <a:t>2018/12/22</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3F1E3-050E-2C42-AF55-7C92ECE8C0FE}" type="slidenum">
              <a:rPr kumimoji="1" lang="zh-CN" altLang="en-US" smtClean="0"/>
              <a:t>‹#›</a:t>
            </a:fld>
            <a:endParaRPr kumimoji="1" lang="zh-CN" altLang="en-US"/>
          </a:p>
        </p:txBody>
      </p:sp>
    </p:spTree>
    <p:extLst>
      <p:ext uri="{BB962C8B-B14F-4D97-AF65-F5344CB8AC3E}">
        <p14:creationId xmlns:p14="http://schemas.microsoft.com/office/powerpoint/2010/main" val="409500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963111" y="2893001"/>
            <a:ext cx="3661580" cy="553998"/>
          </a:xfrm>
          <a:prstGeom prst="rect">
            <a:avLst/>
          </a:prstGeom>
          <a:noFill/>
        </p:spPr>
        <p:txBody>
          <a:bodyPr wrap="none" rtlCol="0">
            <a:spAutoFit/>
          </a:bodyPr>
          <a:lstStyle/>
          <a:p>
            <a:pPr algn="ctr"/>
            <a:r>
              <a:rPr kumimoji="1" lang="zh-CN" altLang="en-US" sz="3000" b="1" dirty="0">
                <a:latin typeface="黑体" charset="0"/>
                <a:ea typeface="黑体" charset="0"/>
                <a:cs typeface="Heiti SC Light" charset="-122"/>
              </a:rPr>
              <a:t>区块链技术及其应用</a:t>
            </a:r>
          </a:p>
        </p:txBody>
      </p:sp>
      <p:sp>
        <p:nvSpPr>
          <p:cNvPr id="7" name="矩形 6"/>
          <p:cNvSpPr/>
          <p:nvPr/>
        </p:nvSpPr>
        <p:spPr>
          <a:xfrm rot="2489354">
            <a:off x="464939" y="-522209"/>
            <a:ext cx="247577" cy="2953719"/>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矩形 7"/>
          <p:cNvSpPr/>
          <p:nvPr/>
        </p:nvSpPr>
        <p:spPr>
          <a:xfrm rot="2489354">
            <a:off x="282907" y="-695230"/>
            <a:ext cx="247577" cy="2953720"/>
          </a:xfrm>
          <a:prstGeom prst="rect">
            <a:avLst/>
          </a:prstGeom>
          <a:solidFill>
            <a:srgbClr val="76D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1" name="矩形 10"/>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2" name="矩形 11"/>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 name="文本框 1"/>
          <p:cNvSpPr txBox="1"/>
          <p:nvPr/>
        </p:nvSpPr>
        <p:spPr>
          <a:xfrm>
            <a:off x="3605114" y="3730995"/>
            <a:ext cx="3300904" cy="369332"/>
          </a:xfrm>
          <a:prstGeom prst="rect">
            <a:avLst/>
          </a:prstGeom>
          <a:noFill/>
        </p:spPr>
        <p:txBody>
          <a:bodyPr wrap="none" rtlCol="0">
            <a:spAutoFit/>
          </a:bodyPr>
          <a:lstStyle/>
          <a:p>
            <a:r>
              <a:rPr lang="zh-CN" altLang="en-US" i="1" dirty="0">
                <a:latin typeface="黑体" panose="02010609060101010101" pitchFamily="49" charset="-122"/>
                <a:ea typeface="黑体" panose="02010609060101010101" pitchFamily="49" charset="-122"/>
              </a:rPr>
              <a:t>王乃琪  黄雪茹 </a:t>
            </a:r>
            <a:r>
              <a:rPr lang="en-US" altLang="zh-CN" i="1" dirty="0">
                <a:latin typeface="黑体" panose="02010609060101010101" pitchFamily="49" charset="-122"/>
                <a:ea typeface="黑体" panose="02010609060101010101" pitchFamily="49" charset="-122"/>
              </a:rPr>
              <a:t>| 2018.12.22</a:t>
            </a:r>
            <a:endParaRPr lang="zh-CN" altLang="en-US" i="1" dirty="0">
              <a:latin typeface="黑体" panose="02010609060101010101" pitchFamily="49" charset="-122"/>
              <a:ea typeface="黑体" panose="02010609060101010101" pitchFamily="49" charset="-122"/>
            </a:endParaRPr>
          </a:p>
        </p:txBody>
      </p:sp>
    </p:spTree>
  </p:cSld>
  <p:clrMapOvr>
    <a:masterClrMapping/>
  </p:clrMapOvr>
  <p:transition>
    <p:pull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518638" cy="307777"/>
          </a:xfrm>
          <a:prstGeom prst="rect">
            <a:avLst/>
          </a:prstGeom>
          <a:noFill/>
        </p:spPr>
        <p:txBody>
          <a:bodyPr wrap="none" rtlCol="0">
            <a:spAutoFit/>
          </a:bodyPr>
          <a:lstStyle/>
          <a:p>
            <a:r>
              <a:rPr lang="zh-CN" altLang="en-US" sz="1400" dirty="0">
                <a:latin typeface="+mj-ea"/>
              </a:rPr>
              <a:t>区块链及其应用</a:t>
            </a:r>
            <a:r>
              <a:rPr lang="en-US" altLang="zh-CN" sz="1400" dirty="0">
                <a:latin typeface="+mj-ea"/>
              </a:rPr>
              <a:t>--</a:t>
            </a:r>
            <a:r>
              <a:rPr lang="zh-CN" altLang="en-US" sz="1400" dirty="0">
                <a:latin typeface="+mj-ea"/>
              </a:rPr>
              <a:t>区块链特点</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grpSp>
        <p:nvGrpSpPr>
          <p:cNvPr id="4" name="组合 3"/>
          <p:cNvGrpSpPr/>
          <p:nvPr/>
        </p:nvGrpSpPr>
        <p:grpSpPr>
          <a:xfrm>
            <a:off x="3456322" y="4801633"/>
            <a:ext cx="4503219" cy="342159"/>
            <a:chOff x="4164565" y="3357859"/>
            <a:chExt cx="4503219" cy="342159"/>
          </a:xfrm>
        </p:grpSpPr>
        <p:grpSp>
          <p:nvGrpSpPr>
            <p:cNvPr id="10" name="组 9"/>
            <p:cNvGrpSpPr/>
            <p:nvPr/>
          </p:nvGrpSpPr>
          <p:grpSpPr>
            <a:xfrm>
              <a:off x="4164565" y="3385033"/>
              <a:ext cx="314985" cy="314985"/>
              <a:chOff x="6728178" y="1941689"/>
              <a:chExt cx="1016000" cy="1016000"/>
            </a:xfrm>
          </p:grpSpPr>
          <p:sp>
            <p:nvSpPr>
              <p:cNvPr id="8" name="椭圆 7"/>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2" name="文本框 1"/>
            <p:cNvSpPr txBox="1"/>
            <p:nvPr/>
          </p:nvSpPr>
          <p:spPr>
            <a:xfrm>
              <a:off x="4562173" y="3357859"/>
              <a:ext cx="4105611" cy="338554"/>
            </a:xfrm>
            <a:prstGeom prst="rect">
              <a:avLst/>
            </a:prstGeom>
            <a:noFill/>
          </p:spPr>
          <p:txBody>
            <a:bodyPr wrap="none" rtlCol="0">
              <a:spAutoFit/>
            </a:bodyPr>
            <a:lstStyle/>
            <a:p>
              <a:r>
                <a:rPr lang="en-US" altLang="zh-CN" sz="1600" b="1" dirty="0"/>
                <a:t>P2P</a:t>
              </a:r>
              <a:r>
                <a:rPr lang="zh-CN" altLang="en-US" sz="1600" b="1" dirty="0"/>
                <a:t>通信</a:t>
              </a:r>
              <a:r>
                <a:rPr lang="zh-CN" altLang="en-US" sz="1600" dirty="0"/>
                <a:t>：节点基于</a:t>
              </a:r>
              <a:r>
                <a:rPr lang="en-US" altLang="zh-CN" sz="1600" dirty="0"/>
                <a:t>P2P</a:t>
              </a:r>
              <a:r>
                <a:rPr lang="zh-CN" altLang="en-US" sz="1600" dirty="0"/>
                <a:t>点对点网络相互通信</a:t>
              </a:r>
            </a:p>
          </p:txBody>
        </p:sp>
      </p:grpSp>
      <p:grpSp>
        <p:nvGrpSpPr>
          <p:cNvPr id="23" name="组合 22"/>
          <p:cNvGrpSpPr/>
          <p:nvPr/>
        </p:nvGrpSpPr>
        <p:grpSpPr>
          <a:xfrm>
            <a:off x="597151" y="2299680"/>
            <a:ext cx="2366237" cy="2366236"/>
            <a:chOff x="699052" y="2244952"/>
            <a:chExt cx="2515844" cy="2515844"/>
          </a:xfrm>
        </p:grpSpPr>
        <p:sp>
          <p:nvSpPr>
            <p:cNvPr id="24" name="椭圆 23"/>
            <p:cNvSpPr/>
            <p:nvPr/>
          </p:nvSpPr>
          <p:spPr>
            <a:xfrm>
              <a:off x="699052" y="2244952"/>
              <a:ext cx="2515844" cy="2515844"/>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571792" y="2490648"/>
              <a:ext cx="444137" cy="4441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018902" y="3058737"/>
              <a:ext cx="444137" cy="4441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rot="20468960">
              <a:off x="1125140" y="3803321"/>
              <a:ext cx="444137" cy="4441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rot="20324777">
              <a:off x="2321447" y="2708364"/>
              <a:ext cx="444137" cy="4441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948880" y="3973137"/>
              <a:ext cx="444137" cy="4441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2494557" y="3408092"/>
              <a:ext cx="444137" cy="4441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连接符 46"/>
            <p:cNvCxnSpPr>
              <a:stCxn id="27" idx="3"/>
              <a:endCxn id="28" idx="7"/>
            </p:cNvCxnSpPr>
            <p:nvPr/>
          </p:nvCxnSpPr>
          <p:spPr>
            <a:xfrm flipH="1">
              <a:off x="1397997" y="2869743"/>
              <a:ext cx="238837" cy="254036"/>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8" idx="4"/>
              <a:endCxn id="29" idx="0"/>
            </p:cNvCxnSpPr>
            <p:nvPr/>
          </p:nvCxnSpPr>
          <p:spPr>
            <a:xfrm>
              <a:off x="1240971" y="3502874"/>
              <a:ext cx="34487" cy="312358"/>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29" idx="5"/>
              <a:endCxn id="45" idx="2"/>
            </p:cNvCxnSpPr>
            <p:nvPr/>
          </p:nvCxnSpPr>
          <p:spPr>
            <a:xfrm>
              <a:off x="1546548" y="4123258"/>
              <a:ext cx="402332" cy="71948"/>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45" idx="7"/>
              <a:endCxn id="46" idx="3"/>
            </p:cNvCxnSpPr>
            <p:nvPr/>
          </p:nvCxnSpPr>
          <p:spPr>
            <a:xfrm flipV="1">
              <a:off x="2327975" y="3787187"/>
              <a:ext cx="231624" cy="250992"/>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46" idx="0"/>
              <a:endCxn id="44" idx="4"/>
            </p:cNvCxnSpPr>
            <p:nvPr/>
          </p:nvCxnSpPr>
          <p:spPr>
            <a:xfrm flipH="1" flipV="1">
              <a:off x="2624015" y="3137397"/>
              <a:ext cx="92611" cy="27069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4" idx="1"/>
              <a:endCxn id="27" idx="6"/>
            </p:cNvCxnSpPr>
            <p:nvPr/>
          </p:nvCxnSpPr>
          <p:spPr>
            <a:xfrm flipH="1" flipV="1">
              <a:off x="2015929" y="2712717"/>
              <a:ext cx="324318" cy="128291"/>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452772" y="3264115"/>
              <a:ext cx="1093889" cy="338554"/>
            </a:xfrm>
            <a:prstGeom prst="rect">
              <a:avLst/>
            </a:prstGeom>
            <a:noFill/>
          </p:spPr>
          <p:txBody>
            <a:bodyPr wrap="none" rtlCol="0">
              <a:spAutoFit/>
            </a:bodyPr>
            <a:lstStyle/>
            <a:p>
              <a:r>
                <a:rPr lang="en-US" altLang="zh-CN" sz="1600" b="1" dirty="0"/>
                <a:t>blockchain</a:t>
              </a:r>
              <a:endParaRPr lang="zh-CN" altLang="en-US" sz="1600" b="1" dirty="0"/>
            </a:p>
          </p:txBody>
        </p:sp>
      </p:grpSp>
      <p:grpSp>
        <p:nvGrpSpPr>
          <p:cNvPr id="3" name="组合 2"/>
          <p:cNvGrpSpPr/>
          <p:nvPr/>
        </p:nvGrpSpPr>
        <p:grpSpPr>
          <a:xfrm>
            <a:off x="3456322" y="1691488"/>
            <a:ext cx="5301515" cy="342159"/>
            <a:chOff x="3837829" y="2259173"/>
            <a:chExt cx="5301515" cy="342159"/>
          </a:xfrm>
        </p:grpSpPr>
        <p:grpSp>
          <p:nvGrpSpPr>
            <p:cNvPr id="54" name="组 9"/>
            <p:cNvGrpSpPr/>
            <p:nvPr/>
          </p:nvGrpSpPr>
          <p:grpSpPr>
            <a:xfrm>
              <a:off x="3837829" y="2286347"/>
              <a:ext cx="314985" cy="314985"/>
              <a:chOff x="6728178" y="1941689"/>
              <a:chExt cx="1016000" cy="1016000"/>
            </a:xfrm>
          </p:grpSpPr>
          <p:sp>
            <p:nvSpPr>
              <p:cNvPr id="55" name="椭圆 54"/>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56" name="椭圆 55"/>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57" name="文本框 56"/>
            <p:cNvSpPr txBox="1"/>
            <p:nvPr/>
          </p:nvSpPr>
          <p:spPr>
            <a:xfrm>
              <a:off x="4235437" y="2259173"/>
              <a:ext cx="4903907" cy="338554"/>
            </a:xfrm>
            <a:prstGeom prst="rect">
              <a:avLst/>
            </a:prstGeom>
            <a:noFill/>
          </p:spPr>
          <p:txBody>
            <a:bodyPr wrap="none" rtlCol="0">
              <a:spAutoFit/>
            </a:bodyPr>
            <a:lstStyle/>
            <a:p>
              <a:r>
                <a:rPr lang="zh-CN" altLang="en-US" sz="1600" b="1" dirty="0"/>
                <a:t>分布式网络数据库</a:t>
              </a:r>
              <a:r>
                <a:rPr lang="zh-CN" altLang="en-US" sz="1600" dirty="0"/>
                <a:t>：每个节点维护一份完整数据拷贝</a:t>
              </a:r>
            </a:p>
          </p:txBody>
        </p:sp>
      </p:grpSp>
      <p:grpSp>
        <p:nvGrpSpPr>
          <p:cNvPr id="5" name="组合 4"/>
          <p:cNvGrpSpPr/>
          <p:nvPr/>
        </p:nvGrpSpPr>
        <p:grpSpPr>
          <a:xfrm>
            <a:off x="3456322" y="4017963"/>
            <a:ext cx="4891146" cy="342159"/>
            <a:chOff x="3837829" y="4429372"/>
            <a:chExt cx="4891146" cy="342159"/>
          </a:xfrm>
        </p:grpSpPr>
        <p:grpSp>
          <p:nvGrpSpPr>
            <p:cNvPr id="58" name="组 9"/>
            <p:cNvGrpSpPr/>
            <p:nvPr/>
          </p:nvGrpSpPr>
          <p:grpSpPr>
            <a:xfrm>
              <a:off x="3837829" y="4456546"/>
              <a:ext cx="314985" cy="314985"/>
              <a:chOff x="6728178" y="1941689"/>
              <a:chExt cx="1016000" cy="1016000"/>
            </a:xfrm>
          </p:grpSpPr>
          <p:sp>
            <p:nvSpPr>
              <p:cNvPr id="59" name="椭圆 58"/>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60" name="椭圆 59"/>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61" name="文本框 60"/>
            <p:cNvSpPr txBox="1"/>
            <p:nvPr/>
          </p:nvSpPr>
          <p:spPr>
            <a:xfrm>
              <a:off x="4235437" y="4429372"/>
              <a:ext cx="4493538" cy="338554"/>
            </a:xfrm>
            <a:prstGeom prst="rect">
              <a:avLst/>
            </a:prstGeom>
            <a:noFill/>
          </p:spPr>
          <p:txBody>
            <a:bodyPr wrap="none" rtlCol="0">
              <a:spAutoFit/>
            </a:bodyPr>
            <a:lstStyle/>
            <a:p>
              <a:r>
                <a:rPr lang="zh-CN" altLang="en-US" sz="1600" b="1" dirty="0"/>
                <a:t>有效性</a:t>
              </a:r>
              <a:r>
                <a:rPr lang="zh-CN" altLang="en-US" sz="1600" dirty="0"/>
                <a:t>：采用共识算法保证区块链数据的有效性</a:t>
              </a:r>
            </a:p>
          </p:txBody>
        </p:sp>
      </p:grpSp>
      <p:grpSp>
        <p:nvGrpSpPr>
          <p:cNvPr id="36" name="组合 35"/>
          <p:cNvGrpSpPr/>
          <p:nvPr/>
        </p:nvGrpSpPr>
        <p:grpSpPr>
          <a:xfrm>
            <a:off x="3456322" y="2465772"/>
            <a:ext cx="4070408" cy="342159"/>
            <a:chOff x="4164565" y="3357859"/>
            <a:chExt cx="4070408" cy="342159"/>
          </a:xfrm>
        </p:grpSpPr>
        <p:grpSp>
          <p:nvGrpSpPr>
            <p:cNvPr id="37" name="组 9"/>
            <p:cNvGrpSpPr/>
            <p:nvPr/>
          </p:nvGrpSpPr>
          <p:grpSpPr>
            <a:xfrm>
              <a:off x="4164565" y="3385033"/>
              <a:ext cx="314985" cy="314985"/>
              <a:chOff x="6728178" y="1941689"/>
              <a:chExt cx="1016000" cy="1016000"/>
            </a:xfrm>
          </p:grpSpPr>
          <p:sp>
            <p:nvSpPr>
              <p:cNvPr id="39" name="椭圆 38"/>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40" name="椭圆 39"/>
              <p:cNvSpPr/>
              <p:nvPr/>
            </p:nvSpPr>
            <p:spPr>
              <a:xfrm>
                <a:off x="6956779"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38" name="文本框 37"/>
            <p:cNvSpPr txBox="1"/>
            <p:nvPr/>
          </p:nvSpPr>
          <p:spPr>
            <a:xfrm>
              <a:off x="4562173" y="3357859"/>
              <a:ext cx="3672800" cy="338554"/>
            </a:xfrm>
            <a:prstGeom prst="rect">
              <a:avLst/>
            </a:prstGeom>
            <a:noFill/>
          </p:spPr>
          <p:txBody>
            <a:bodyPr wrap="none" rtlCol="0">
              <a:spAutoFit/>
            </a:bodyPr>
            <a:lstStyle/>
            <a:p>
              <a:r>
                <a:rPr lang="zh-CN" altLang="en-US" sz="1600" b="1" dirty="0"/>
                <a:t>去中心化</a:t>
              </a:r>
              <a:r>
                <a:rPr lang="zh-CN" altLang="en-US" sz="1600" dirty="0"/>
                <a:t>：数据由网络维护，节点平等</a:t>
              </a:r>
            </a:p>
          </p:txBody>
        </p:sp>
      </p:grpSp>
      <p:grpSp>
        <p:nvGrpSpPr>
          <p:cNvPr id="41" name="组合 40"/>
          <p:cNvGrpSpPr/>
          <p:nvPr/>
        </p:nvGrpSpPr>
        <p:grpSpPr>
          <a:xfrm>
            <a:off x="3456322" y="3248195"/>
            <a:ext cx="4891146" cy="342159"/>
            <a:chOff x="4164565" y="3357859"/>
            <a:chExt cx="4891146" cy="342159"/>
          </a:xfrm>
        </p:grpSpPr>
        <p:grpSp>
          <p:nvGrpSpPr>
            <p:cNvPr id="42" name="组 9"/>
            <p:cNvGrpSpPr/>
            <p:nvPr/>
          </p:nvGrpSpPr>
          <p:grpSpPr>
            <a:xfrm>
              <a:off x="4164565" y="3385033"/>
              <a:ext cx="314985" cy="314985"/>
              <a:chOff x="6728178" y="1941689"/>
              <a:chExt cx="1016000" cy="1016000"/>
            </a:xfrm>
          </p:grpSpPr>
          <p:sp>
            <p:nvSpPr>
              <p:cNvPr id="62" name="椭圆 61"/>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63" name="椭圆 62"/>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43" name="文本框 42"/>
            <p:cNvSpPr txBox="1"/>
            <p:nvPr/>
          </p:nvSpPr>
          <p:spPr>
            <a:xfrm>
              <a:off x="4562173" y="3357859"/>
              <a:ext cx="4493538" cy="338554"/>
            </a:xfrm>
            <a:prstGeom prst="rect">
              <a:avLst/>
            </a:prstGeom>
            <a:noFill/>
          </p:spPr>
          <p:txBody>
            <a:bodyPr wrap="none" rtlCol="0">
              <a:spAutoFit/>
            </a:bodyPr>
            <a:lstStyle/>
            <a:p>
              <a:r>
                <a:rPr lang="zh-CN" altLang="en-US" sz="1600" b="1" dirty="0"/>
                <a:t>安全性</a:t>
              </a:r>
              <a:r>
                <a:rPr lang="zh-CN" altLang="en-US" sz="1600" dirty="0"/>
                <a:t>：利用密码学技术使得数据篡改难度极大</a:t>
              </a:r>
            </a:p>
          </p:txBody>
        </p:sp>
      </p:grpSp>
    </p:spTree>
    <p:extLst>
      <p:ext uri="{BB962C8B-B14F-4D97-AF65-F5344CB8AC3E}">
        <p14:creationId xmlns:p14="http://schemas.microsoft.com/office/powerpoint/2010/main" val="2450929563"/>
      </p:ext>
    </p:extLst>
  </p:cSld>
  <p:clrMapOvr>
    <a:masterClrMapping/>
  </p:clrMapOvr>
  <p:transition>
    <p:pull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787943" cy="307777"/>
          </a:xfrm>
          <a:prstGeom prst="rect">
            <a:avLst/>
          </a:prstGeom>
          <a:noFill/>
        </p:spPr>
        <p:txBody>
          <a:bodyPr wrap="none" rtlCol="0">
            <a:spAutoFit/>
          </a:bodyPr>
          <a:lstStyle/>
          <a:p>
            <a:r>
              <a:rPr lang="zh-CN" altLang="en-US" sz="1400" dirty="0">
                <a:latin typeface="+mj-ea"/>
                <a:ea typeface="+mj-ea"/>
              </a:rPr>
              <a:t>区块链技术及其应用</a:t>
            </a:r>
            <a:r>
              <a:rPr lang="en-US" altLang="zh-CN" sz="1400" dirty="0">
                <a:latin typeface="+mj-ea"/>
                <a:ea typeface="+mj-ea"/>
              </a:rPr>
              <a:t>-</a:t>
            </a:r>
            <a:r>
              <a:rPr lang="zh-CN" altLang="en-US" sz="1400" dirty="0">
                <a:latin typeface="+mj-ea"/>
                <a:ea typeface="+mj-ea"/>
              </a:rPr>
              <a:t>传统中心化</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grpSp>
        <p:nvGrpSpPr>
          <p:cNvPr id="17" name="组合 16"/>
          <p:cNvGrpSpPr/>
          <p:nvPr/>
        </p:nvGrpSpPr>
        <p:grpSpPr>
          <a:xfrm>
            <a:off x="1549867" y="1231210"/>
            <a:ext cx="1302278" cy="1809875"/>
            <a:chOff x="3228848" y="935109"/>
            <a:chExt cx="1302278" cy="1809875"/>
          </a:xfrm>
        </p:grpSpPr>
        <p:pic>
          <p:nvPicPr>
            <p:cNvPr id="1034" name="Picture 10" descr="http://img5q.duitang.com/uploads/item/201412/09/20141209110848_vN2Fh.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848" y="935109"/>
              <a:ext cx="1302278" cy="130227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3481331" y="2375652"/>
              <a:ext cx="797311" cy="369332"/>
            </a:xfrm>
            <a:prstGeom prst="rect">
              <a:avLst/>
            </a:prstGeom>
            <a:noFill/>
          </p:spPr>
          <p:txBody>
            <a:bodyPr wrap="square" rtlCol="0">
              <a:spAutoFit/>
            </a:bodyPr>
            <a:lstStyle/>
            <a:p>
              <a:r>
                <a:rPr lang="zh-CN" altLang="en-US" dirty="0"/>
                <a:t>首领</a:t>
              </a:r>
              <a:r>
                <a:rPr lang="en-US" altLang="zh-CN" dirty="0"/>
                <a:t>A</a:t>
              </a:r>
              <a:endParaRPr lang="zh-CN" altLang="en-US" dirty="0"/>
            </a:p>
          </p:txBody>
        </p:sp>
      </p:grpSp>
      <p:grpSp>
        <p:nvGrpSpPr>
          <p:cNvPr id="14" name="组合 13"/>
          <p:cNvGrpSpPr/>
          <p:nvPr/>
        </p:nvGrpSpPr>
        <p:grpSpPr>
          <a:xfrm>
            <a:off x="731318" y="4056809"/>
            <a:ext cx="1411144" cy="1754770"/>
            <a:chOff x="929416" y="3044853"/>
            <a:chExt cx="1411144" cy="1754770"/>
          </a:xfrm>
        </p:grpSpPr>
        <p:pic>
          <p:nvPicPr>
            <p:cNvPr id="1032" name="Picture 8" descr="http://cdn.lizhi.fm/radio_cover/2014/08/14/1370441791329037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416" y="3044853"/>
              <a:ext cx="1411144" cy="1411144"/>
            </a:xfrm>
            <a:prstGeom prst="rect">
              <a:avLst/>
            </a:prstGeom>
            <a:noFill/>
            <a:extLst>
              <a:ext uri="{909E8E84-426E-40DD-AFC4-6F175D3DCCD1}">
                <a14:hiddenFill xmlns:a14="http://schemas.microsoft.com/office/drawing/2010/main">
                  <a:solidFill>
                    <a:srgbClr val="FFFFFF"/>
                  </a:solidFill>
                </a14:hiddenFill>
              </a:ext>
            </a:extLst>
          </p:spPr>
        </p:pic>
        <p:sp>
          <p:nvSpPr>
            <p:cNvPr id="44" name="文本框 43"/>
            <p:cNvSpPr txBox="1"/>
            <p:nvPr/>
          </p:nvSpPr>
          <p:spPr>
            <a:xfrm>
              <a:off x="1504953" y="4430291"/>
              <a:ext cx="309700" cy="369332"/>
            </a:xfrm>
            <a:prstGeom prst="rect">
              <a:avLst/>
            </a:prstGeom>
            <a:noFill/>
          </p:spPr>
          <p:txBody>
            <a:bodyPr wrap="none" rtlCol="0">
              <a:spAutoFit/>
            </a:bodyPr>
            <a:lstStyle/>
            <a:p>
              <a:r>
                <a:rPr lang="en-US" altLang="zh-CN" dirty="0"/>
                <a:t>B</a:t>
              </a:r>
              <a:endParaRPr lang="zh-CN" altLang="en-US" dirty="0"/>
            </a:p>
          </p:txBody>
        </p:sp>
      </p:grpSp>
      <p:grpSp>
        <p:nvGrpSpPr>
          <p:cNvPr id="16" name="组合 15"/>
          <p:cNvGrpSpPr/>
          <p:nvPr/>
        </p:nvGrpSpPr>
        <p:grpSpPr>
          <a:xfrm>
            <a:off x="4305153" y="4904127"/>
            <a:ext cx="1284137" cy="1652006"/>
            <a:chOff x="3431858" y="4799623"/>
            <a:chExt cx="1284137" cy="1652006"/>
          </a:xfrm>
        </p:grpSpPr>
        <p:pic>
          <p:nvPicPr>
            <p:cNvPr id="1046" name="Picture 22" descr="http://img2.16pic.com/00/17/19/16pic_1719052_s.jpg"/>
            <p:cNvPicPr>
              <a:picLocks noChangeAspect="1" noChangeArrowheads="1"/>
            </p:cNvPicPr>
            <p:nvPr/>
          </p:nvPicPr>
          <p:blipFill rotWithShape="1">
            <a:blip r:embed="rId4">
              <a:extLst>
                <a:ext uri="{28A0092B-C50C-407E-A947-70E740481C1C}">
                  <a14:useLocalDpi xmlns:a14="http://schemas.microsoft.com/office/drawing/2010/main" val="0"/>
                </a:ext>
              </a:extLst>
            </a:blip>
            <a:srcRect r="2658" b="32686"/>
            <a:stretch/>
          </p:blipFill>
          <p:spPr bwMode="auto">
            <a:xfrm>
              <a:off x="3431858" y="4799623"/>
              <a:ext cx="1284137" cy="1282674"/>
            </a:xfrm>
            <a:prstGeom prst="rect">
              <a:avLst/>
            </a:prstGeom>
            <a:noFill/>
            <a:extLst>
              <a:ext uri="{909E8E84-426E-40DD-AFC4-6F175D3DCCD1}">
                <a14:hiddenFill xmlns:a14="http://schemas.microsoft.com/office/drawing/2010/main">
                  <a:solidFill>
                    <a:srgbClr val="FFFFFF"/>
                  </a:solidFill>
                </a14:hiddenFill>
              </a:ext>
            </a:extLst>
          </p:spPr>
        </p:pic>
        <p:sp>
          <p:nvSpPr>
            <p:cNvPr id="45" name="文本框 44"/>
            <p:cNvSpPr txBox="1"/>
            <p:nvPr/>
          </p:nvSpPr>
          <p:spPr>
            <a:xfrm>
              <a:off x="3919175" y="6082297"/>
              <a:ext cx="308098" cy="369332"/>
            </a:xfrm>
            <a:prstGeom prst="rect">
              <a:avLst/>
            </a:prstGeom>
            <a:noFill/>
          </p:spPr>
          <p:txBody>
            <a:bodyPr wrap="none" rtlCol="0">
              <a:spAutoFit/>
            </a:bodyPr>
            <a:lstStyle/>
            <a:p>
              <a:r>
                <a:rPr lang="en-US" altLang="zh-CN" dirty="0"/>
                <a:t>C</a:t>
              </a:r>
              <a:endParaRPr lang="zh-CN" altLang="en-US" dirty="0"/>
            </a:p>
          </p:txBody>
        </p:sp>
      </p:grpSp>
      <p:grpSp>
        <p:nvGrpSpPr>
          <p:cNvPr id="15" name="组合 14"/>
          <p:cNvGrpSpPr/>
          <p:nvPr/>
        </p:nvGrpSpPr>
        <p:grpSpPr>
          <a:xfrm>
            <a:off x="7211562" y="3807332"/>
            <a:ext cx="1111623" cy="1688372"/>
            <a:chOff x="5814384" y="3044853"/>
            <a:chExt cx="1111623" cy="1688372"/>
          </a:xfrm>
        </p:grpSpPr>
        <p:pic>
          <p:nvPicPr>
            <p:cNvPr id="1040" name="Picture 16" descr="阿皮、辛普森、动画电影"/>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4384" y="3044853"/>
              <a:ext cx="1111623" cy="1322832"/>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p:cNvSpPr txBox="1"/>
            <p:nvPr/>
          </p:nvSpPr>
          <p:spPr>
            <a:xfrm>
              <a:off x="6216146" y="4363893"/>
              <a:ext cx="327334" cy="369332"/>
            </a:xfrm>
            <a:prstGeom prst="rect">
              <a:avLst/>
            </a:prstGeom>
            <a:noFill/>
          </p:spPr>
          <p:txBody>
            <a:bodyPr wrap="none" rtlCol="0">
              <a:spAutoFit/>
            </a:bodyPr>
            <a:lstStyle/>
            <a:p>
              <a:r>
                <a:rPr lang="en-US" altLang="zh-CN" dirty="0"/>
                <a:t>D</a:t>
              </a:r>
              <a:endParaRPr lang="zh-CN" altLang="en-US" dirty="0"/>
            </a:p>
          </p:txBody>
        </p:sp>
      </p:grpSp>
      <p:graphicFrame>
        <p:nvGraphicFramePr>
          <p:cNvPr id="13" name="表格 12"/>
          <p:cNvGraphicFramePr>
            <a:graphicFrameLocks noGrp="1"/>
          </p:cNvGraphicFramePr>
          <p:nvPr>
            <p:extLst>
              <p:ext uri="{D42A27DB-BD31-4B8C-83A1-F6EECF244321}">
                <p14:modId xmlns:p14="http://schemas.microsoft.com/office/powerpoint/2010/main" val="2295185137"/>
              </p:ext>
            </p:extLst>
          </p:nvPr>
        </p:nvGraphicFramePr>
        <p:xfrm>
          <a:off x="2964004" y="1284314"/>
          <a:ext cx="5359180" cy="1149690"/>
        </p:xfrm>
        <a:graphic>
          <a:graphicData uri="http://schemas.openxmlformats.org/drawingml/2006/table">
            <a:tbl>
              <a:tblPr firstRow="1" bandRow="1">
                <a:tableStyleId>{5C22544A-7EE6-4342-B048-85BDC9FD1C3A}</a:tableStyleId>
              </a:tblPr>
              <a:tblGrid>
                <a:gridCol w="1071836">
                  <a:extLst>
                    <a:ext uri="{9D8B030D-6E8A-4147-A177-3AD203B41FA5}">
                      <a16:colId xmlns:a16="http://schemas.microsoft.com/office/drawing/2014/main" val="1187911970"/>
                    </a:ext>
                  </a:extLst>
                </a:gridCol>
                <a:gridCol w="1071836">
                  <a:extLst>
                    <a:ext uri="{9D8B030D-6E8A-4147-A177-3AD203B41FA5}">
                      <a16:colId xmlns:a16="http://schemas.microsoft.com/office/drawing/2014/main" val="2644737524"/>
                    </a:ext>
                  </a:extLst>
                </a:gridCol>
                <a:gridCol w="1071836">
                  <a:extLst>
                    <a:ext uri="{9D8B030D-6E8A-4147-A177-3AD203B41FA5}">
                      <a16:colId xmlns:a16="http://schemas.microsoft.com/office/drawing/2014/main" val="44899877"/>
                    </a:ext>
                  </a:extLst>
                </a:gridCol>
                <a:gridCol w="1071836">
                  <a:extLst>
                    <a:ext uri="{9D8B030D-6E8A-4147-A177-3AD203B41FA5}">
                      <a16:colId xmlns:a16="http://schemas.microsoft.com/office/drawing/2014/main" val="3770114613"/>
                    </a:ext>
                  </a:extLst>
                </a:gridCol>
                <a:gridCol w="1071836">
                  <a:extLst>
                    <a:ext uri="{9D8B030D-6E8A-4147-A177-3AD203B41FA5}">
                      <a16:colId xmlns:a16="http://schemas.microsoft.com/office/drawing/2014/main" val="1251522898"/>
                    </a:ext>
                  </a:extLst>
                </a:gridCol>
              </a:tblGrid>
              <a:tr h="383230">
                <a:tc>
                  <a:txBody>
                    <a:bodyPr/>
                    <a:lstStyle/>
                    <a:p>
                      <a:r>
                        <a:rPr lang="zh-CN" altLang="en-US" sz="1300" dirty="0">
                          <a:latin typeface="仿宋" panose="02010609060101010101" pitchFamily="49" charset="-122"/>
                          <a:ea typeface="仿宋" panose="02010609060101010101" pitchFamily="49" charset="-122"/>
                        </a:rPr>
                        <a:t>付款人</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收款人</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金额</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付款人余额</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收款人余额</a:t>
                      </a:r>
                    </a:p>
                  </a:txBody>
                  <a:tcPr marL="63714" marR="63714" marT="31857" marB="31857"/>
                </a:tc>
                <a:extLst>
                  <a:ext uri="{0D108BD9-81ED-4DB2-BD59-A6C34878D82A}">
                    <a16:rowId xmlns:a16="http://schemas.microsoft.com/office/drawing/2014/main" val="651693729"/>
                  </a:ext>
                </a:extLst>
              </a:tr>
              <a:tr h="383230">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extLst>
                  <a:ext uri="{0D108BD9-81ED-4DB2-BD59-A6C34878D82A}">
                    <a16:rowId xmlns:a16="http://schemas.microsoft.com/office/drawing/2014/main" val="1818415485"/>
                  </a:ext>
                </a:extLst>
              </a:tr>
              <a:tr h="383230">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extLst>
                  <a:ext uri="{0D108BD9-81ED-4DB2-BD59-A6C34878D82A}">
                    <a16:rowId xmlns:a16="http://schemas.microsoft.com/office/drawing/2014/main" val="3952754226"/>
                  </a:ext>
                </a:extLst>
              </a:tr>
            </a:tbl>
          </a:graphicData>
        </a:graphic>
      </p:graphicFrame>
      <p:sp>
        <p:nvSpPr>
          <p:cNvPr id="18" name="椭圆形标注 17"/>
          <p:cNvSpPr/>
          <p:nvPr/>
        </p:nvSpPr>
        <p:spPr>
          <a:xfrm>
            <a:off x="1885570" y="3549213"/>
            <a:ext cx="1962384" cy="1213422"/>
          </a:xfrm>
          <a:prstGeom prst="wedgeEllipse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我要转给</a:t>
            </a:r>
            <a:r>
              <a:rPr lang="en-US" altLang="zh-CN" dirty="0">
                <a:latin typeface="+mj-ea"/>
                <a:ea typeface="+mj-ea"/>
              </a:rPr>
              <a:t>D, 2</a:t>
            </a:r>
            <a:r>
              <a:rPr lang="zh-CN" altLang="en-US" dirty="0">
                <a:latin typeface="+mj-ea"/>
                <a:ea typeface="+mj-ea"/>
              </a:rPr>
              <a:t>块钱</a:t>
            </a:r>
          </a:p>
        </p:txBody>
      </p:sp>
      <p:cxnSp>
        <p:nvCxnSpPr>
          <p:cNvPr id="20" name="直接箭头连接符 19"/>
          <p:cNvCxnSpPr>
            <a:stCxn id="1032" idx="0"/>
            <a:endCxn id="7" idx="2"/>
          </p:cNvCxnSpPr>
          <p:nvPr/>
        </p:nvCxnSpPr>
        <p:spPr>
          <a:xfrm flipV="1">
            <a:off x="1436890" y="3041085"/>
            <a:ext cx="764116" cy="1015724"/>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320428" y="2569808"/>
            <a:ext cx="543739" cy="307777"/>
          </a:xfrm>
          <a:prstGeom prst="rect">
            <a:avLst/>
          </a:prstGeom>
          <a:noFill/>
        </p:spPr>
        <p:txBody>
          <a:bodyPr wrap="none" rtlCol="0">
            <a:spAutoFit/>
          </a:bodyPr>
          <a:lstStyle/>
          <a:p>
            <a:r>
              <a:rPr lang="zh-CN" altLang="en-US" sz="1400" dirty="0">
                <a:latin typeface="仿宋" panose="02010609060101010101" pitchFamily="49" charset="-122"/>
                <a:ea typeface="仿宋" panose="02010609060101010101" pitchFamily="49" charset="-122"/>
              </a:rPr>
              <a:t>账本</a:t>
            </a:r>
          </a:p>
        </p:txBody>
      </p:sp>
      <p:cxnSp>
        <p:nvCxnSpPr>
          <p:cNvPr id="23" name="直接箭头连接符 22"/>
          <p:cNvCxnSpPr>
            <a:stCxn id="7" idx="3"/>
            <a:endCxn id="1040" idx="1"/>
          </p:cNvCxnSpPr>
          <p:nvPr/>
        </p:nvCxnSpPr>
        <p:spPr>
          <a:xfrm>
            <a:off x="2599661" y="2856419"/>
            <a:ext cx="4611901" cy="161232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aphicFrame>
        <p:nvGraphicFramePr>
          <p:cNvPr id="50" name="表格 49"/>
          <p:cNvGraphicFramePr>
            <a:graphicFrameLocks noGrp="1"/>
          </p:cNvGraphicFramePr>
          <p:nvPr>
            <p:extLst>
              <p:ext uri="{D42A27DB-BD31-4B8C-83A1-F6EECF244321}">
                <p14:modId xmlns:p14="http://schemas.microsoft.com/office/powerpoint/2010/main" val="1003449005"/>
              </p:ext>
            </p:extLst>
          </p:nvPr>
        </p:nvGraphicFramePr>
        <p:xfrm>
          <a:off x="2964003" y="1288798"/>
          <a:ext cx="5359180" cy="1149690"/>
        </p:xfrm>
        <a:graphic>
          <a:graphicData uri="http://schemas.openxmlformats.org/drawingml/2006/table">
            <a:tbl>
              <a:tblPr firstRow="1" bandRow="1">
                <a:tableStyleId>{5C22544A-7EE6-4342-B048-85BDC9FD1C3A}</a:tableStyleId>
              </a:tblPr>
              <a:tblGrid>
                <a:gridCol w="1071836">
                  <a:extLst>
                    <a:ext uri="{9D8B030D-6E8A-4147-A177-3AD203B41FA5}">
                      <a16:colId xmlns:a16="http://schemas.microsoft.com/office/drawing/2014/main" val="1187911970"/>
                    </a:ext>
                  </a:extLst>
                </a:gridCol>
                <a:gridCol w="1071836">
                  <a:extLst>
                    <a:ext uri="{9D8B030D-6E8A-4147-A177-3AD203B41FA5}">
                      <a16:colId xmlns:a16="http://schemas.microsoft.com/office/drawing/2014/main" val="2644737524"/>
                    </a:ext>
                  </a:extLst>
                </a:gridCol>
                <a:gridCol w="1071836">
                  <a:extLst>
                    <a:ext uri="{9D8B030D-6E8A-4147-A177-3AD203B41FA5}">
                      <a16:colId xmlns:a16="http://schemas.microsoft.com/office/drawing/2014/main" val="44899877"/>
                    </a:ext>
                  </a:extLst>
                </a:gridCol>
                <a:gridCol w="1071836">
                  <a:extLst>
                    <a:ext uri="{9D8B030D-6E8A-4147-A177-3AD203B41FA5}">
                      <a16:colId xmlns:a16="http://schemas.microsoft.com/office/drawing/2014/main" val="3770114613"/>
                    </a:ext>
                  </a:extLst>
                </a:gridCol>
                <a:gridCol w="1071836">
                  <a:extLst>
                    <a:ext uri="{9D8B030D-6E8A-4147-A177-3AD203B41FA5}">
                      <a16:colId xmlns:a16="http://schemas.microsoft.com/office/drawing/2014/main" val="1251522898"/>
                    </a:ext>
                  </a:extLst>
                </a:gridCol>
              </a:tblGrid>
              <a:tr h="383230">
                <a:tc>
                  <a:txBody>
                    <a:bodyPr/>
                    <a:lstStyle/>
                    <a:p>
                      <a:r>
                        <a:rPr lang="zh-CN" altLang="en-US" sz="1300" dirty="0">
                          <a:latin typeface="仿宋" panose="02010609060101010101" pitchFamily="49" charset="-122"/>
                          <a:ea typeface="仿宋" panose="02010609060101010101" pitchFamily="49" charset="-122"/>
                        </a:rPr>
                        <a:t>付款人</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收款人</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金额</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付款人余额</a:t>
                      </a:r>
                    </a:p>
                  </a:txBody>
                  <a:tcPr marL="63714" marR="63714" marT="31857" marB="31857"/>
                </a:tc>
                <a:tc>
                  <a:txBody>
                    <a:bodyPr/>
                    <a:lstStyle/>
                    <a:p>
                      <a:r>
                        <a:rPr lang="zh-CN" altLang="en-US" sz="1300" dirty="0">
                          <a:latin typeface="仿宋" panose="02010609060101010101" pitchFamily="49" charset="-122"/>
                          <a:ea typeface="仿宋" panose="02010609060101010101" pitchFamily="49" charset="-122"/>
                        </a:rPr>
                        <a:t>收款人余额</a:t>
                      </a:r>
                    </a:p>
                  </a:txBody>
                  <a:tcPr marL="63714" marR="63714" marT="31857" marB="31857"/>
                </a:tc>
                <a:extLst>
                  <a:ext uri="{0D108BD9-81ED-4DB2-BD59-A6C34878D82A}">
                    <a16:rowId xmlns:a16="http://schemas.microsoft.com/office/drawing/2014/main" val="651693729"/>
                  </a:ext>
                </a:extLst>
              </a:tr>
              <a:tr h="383230">
                <a:tc>
                  <a:txBody>
                    <a:bodyPr/>
                    <a:lstStyle/>
                    <a:p>
                      <a:r>
                        <a:rPr lang="en-US" altLang="zh-CN" sz="1400" b="0" dirty="0">
                          <a:solidFill>
                            <a:srgbClr val="FF0000"/>
                          </a:solidFill>
                          <a:latin typeface="仿宋" panose="02010609060101010101" pitchFamily="49" charset="-122"/>
                          <a:ea typeface="仿宋" panose="02010609060101010101" pitchFamily="49" charset="-122"/>
                        </a:rPr>
                        <a:t>B</a:t>
                      </a:r>
                      <a:endParaRPr lang="zh-CN" altLang="en-US" sz="1400" b="0" dirty="0">
                        <a:solidFill>
                          <a:srgbClr val="FF0000"/>
                        </a:solidFill>
                        <a:latin typeface="仿宋" panose="02010609060101010101" pitchFamily="49" charset="-122"/>
                        <a:ea typeface="仿宋" panose="02010609060101010101" pitchFamily="49" charset="-122"/>
                      </a:endParaRPr>
                    </a:p>
                  </a:txBody>
                  <a:tcPr marL="63714" marR="63714" marT="31857" marB="31857"/>
                </a:tc>
                <a:tc>
                  <a:txBody>
                    <a:bodyPr/>
                    <a:lstStyle/>
                    <a:p>
                      <a:r>
                        <a:rPr lang="en-US" altLang="zh-CN" sz="1400" b="0" dirty="0">
                          <a:solidFill>
                            <a:srgbClr val="FF0000"/>
                          </a:solidFill>
                          <a:latin typeface="仿宋" panose="02010609060101010101" pitchFamily="49" charset="-122"/>
                          <a:ea typeface="仿宋" panose="02010609060101010101" pitchFamily="49" charset="-122"/>
                        </a:rPr>
                        <a:t>D</a:t>
                      </a:r>
                      <a:endParaRPr lang="zh-CN" altLang="en-US" sz="1400" b="0" dirty="0">
                        <a:solidFill>
                          <a:srgbClr val="FF0000"/>
                        </a:solidFill>
                        <a:latin typeface="仿宋" panose="02010609060101010101" pitchFamily="49" charset="-122"/>
                        <a:ea typeface="仿宋" panose="02010609060101010101" pitchFamily="49" charset="-122"/>
                      </a:endParaRPr>
                    </a:p>
                  </a:txBody>
                  <a:tcPr marL="63714" marR="63714" marT="31857" marB="31857"/>
                </a:tc>
                <a:tc>
                  <a:txBody>
                    <a:bodyPr/>
                    <a:lstStyle/>
                    <a:p>
                      <a:r>
                        <a:rPr lang="en-US" altLang="zh-CN" sz="1400" b="0" dirty="0">
                          <a:solidFill>
                            <a:srgbClr val="FF0000"/>
                          </a:solidFill>
                          <a:latin typeface="仿宋" panose="02010609060101010101" pitchFamily="49" charset="-122"/>
                          <a:ea typeface="仿宋" panose="02010609060101010101" pitchFamily="49" charset="-122"/>
                        </a:rPr>
                        <a:t>2</a:t>
                      </a:r>
                      <a:r>
                        <a:rPr lang="zh-CN" altLang="en-US" sz="1400" b="0" dirty="0">
                          <a:solidFill>
                            <a:srgbClr val="FF0000"/>
                          </a:solidFill>
                          <a:latin typeface="仿宋" panose="02010609060101010101" pitchFamily="49" charset="-122"/>
                          <a:ea typeface="仿宋" panose="02010609060101010101" pitchFamily="49" charset="-122"/>
                        </a:rPr>
                        <a:t>块钱</a:t>
                      </a:r>
                    </a:p>
                  </a:txBody>
                  <a:tcPr marL="63714" marR="63714" marT="31857" marB="31857"/>
                </a:tc>
                <a:tc>
                  <a:txBody>
                    <a:bodyPr/>
                    <a:lstStyle/>
                    <a:p>
                      <a:r>
                        <a:rPr lang="en-US" altLang="zh-CN" sz="1400" b="0" dirty="0">
                          <a:solidFill>
                            <a:srgbClr val="FF0000"/>
                          </a:solidFill>
                          <a:latin typeface="仿宋" panose="02010609060101010101" pitchFamily="49" charset="-122"/>
                          <a:ea typeface="仿宋" panose="02010609060101010101" pitchFamily="49" charset="-122"/>
                        </a:rPr>
                        <a:t>8</a:t>
                      </a:r>
                      <a:r>
                        <a:rPr lang="zh-CN" altLang="en-US" sz="1400" b="0" dirty="0">
                          <a:solidFill>
                            <a:srgbClr val="FF0000"/>
                          </a:solidFill>
                          <a:latin typeface="仿宋" panose="02010609060101010101" pitchFamily="49" charset="-122"/>
                          <a:ea typeface="仿宋" panose="02010609060101010101" pitchFamily="49" charset="-122"/>
                        </a:rPr>
                        <a:t>块钱</a:t>
                      </a:r>
                    </a:p>
                  </a:txBody>
                  <a:tcPr marL="63714" marR="63714" marT="31857" marB="31857"/>
                </a:tc>
                <a:tc>
                  <a:txBody>
                    <a:bodyPr/>
                    <a:lstStyle/>
                    <a:p>
                      <a:r>
                        <a:rPr lang="en-US" altLang="zh-CN" sz="1400" b="0" dirty="0">
                          <a:solidFill>
                            <a:srgbClr val="FF0000"/>
                          </a:solidFill>
                          <a:latin typeface="仿宋" panose="02010609060101010101" pitchFamily="49" charset="-122"/>
                          <a:ea typeface="仿宋" panose="02010609060101010101" pitchFamily="49" charset="-122"/>
                        </a:rPr>
                        <a:t>12</a:t>
                      </a:r>
                      <a:r>
                        <a:rPr lang="zh-CN" altLang="en-US" sz="1400" b="0" dirty="0">
                          <a:solidFill>
                            <a:srgbClr val="FF0000"/>
                          </a:solidFill>
                          <a:latin typeface="仿宋" panose="02010609060101010101" pitchFamily="49" charset="-122"/>
                          <a:ea typeface="仿宋" panose="02010609060101010101" pitchFamily="49" charset="-122"/>
                        </a:rPr>
                        <a:t>块钱</a:t>
                      </a:r>
                    </a:p>
                  </a:txBody>
                  <a:tcPr marL="63714" marR="63714" marT="31857" marB="31857"/>
                </a:tc>
                <a:extLst>
                  <a:ext uri="{0D108BD9-81ED-4DB2-BD59-A6C34878D82A}">
                    <a16:rowId xmlns:a16="http://schemas.microsoft.com/office/drawing/2014/main" val="3640228462"/>
                  </a:ext>
                </a:extLst>
              </a:tr>
              <a:tr h="383230">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tc>
                  <a:txBody>
                    <a:bodyPr/>
                    <a:lstStyle/>
                    <a:p>
                      <a:endParaRPr lang="zh-CN" altLang="en-US" sz="1300" dirty="0">
                        <a:latin typeface="仿宋" panose="02010609060101010101" pitchFamily="49" charset="-122"/>
                        <a:ea typeface="仿宋" panose="02010609060101010101" pitchFamily="49" charset="-122"/>
                      </a:endParaRPr>
                    </a:p>
                  </a:txBody>
                  <a:tcPr marL="63714" marR="63714" marT="31857" marB="31857"/>
                </a:tc>
                <a:extLst>
                  <a:ext uri="{0D108BD9-81ED-4DB2-BD59-A6C34878D82A}">
                    <a16:rowId xmlns:a16="http://schemas.microsoft.com/office/drawing/2014/main" val="1818415485"/>
                  </a:ext>
                </a:extLst>
              </a:tr>
            </a:tbl>
          </a:graphicData>
        </a:graphic>
      </p:graphicFrame>
      <p:cxnSp>
        <p:nvCxnSpPr>
          <p:cNvPr id="24" name="直接箭头连接符 23"/>
          <p:cNvCxnSpPr/>
          <p:nvPr/>
        </p:nvCxnSpPr>
        <p:spPr>
          <a:xfrm flipH="1">
            <a:off x="1290265" y="3032254"/>
            <a:ext cx="667033" cy="88667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368690"/>
      </p:ext>
    </p:extLst>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500"/>
                                        <p:tgtEl>
                                          <p:spTgt spid="50"/>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787943" cy="307777"/>
          </a:xfrm>
          <a:prstGeom prst="rect">
            <a:avLst/>
          </a:prstGeom>
          <a:noFill/>
        </p:spPr>
        <p:txBody>
          <a:bodyPr wrap="none" rtlCol="0">
            <a:spAutoFit/>
          </a:bodyPr>
          <a:lstStyle/>
          <a:p>
            <a:r>
              <a:rPr lang="zh-CN" altLang="en-US" sz="1400" dirty="0">
                <a:latin typeface="+mj-ea"/>
                <a:ea typeface="+mj-ea"/>
              </a:rPr>
              <a:t>区块链技术和及其应用</a:t>
            </a:r>
            <a:r>
              <a:rPr lang="en-US" altLang="zh-CN" sz="1400" dirty="0">
                <a:latin typeface="+mj-ea"/>
                <a:ea typeface="+mj-ea"/>
              </a:rPr>
              <a:t>-</a:t>
            </a:r>
            <a:r>
              <a:rPr lang="zh-CN" altLang="en-US" sz="1400" dirty="0">
                <a:latin typeface="+mj-ea"/>
                <a:ea typeface="+mj-ea"/>
              </a:rPr>
              <a:t>去中心化</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grpSp>
        <p:nvGrpSpPr>
          <p:cNvPr id="17" name="组合 16"/>
          <p:cNvGrpSpPr/>
          <p:nvPr/>
        </p:nvGrpSpPr>
        <p:grpSpPr>
          <a:xfrm>
            <a:off x="2204325" y="925178"/>
            <a:ext cx="1302278" cy="1692308"/>
            <a:chOff x="3228848" y="935109"/>
            <a:chExt cx="1302278" cy="1692308"/>
          </a:xfrm>
        </p:grpSpPr>
        <p:pic>
          <p:nvPicPr>
            <p:cNvPr id="1034" name="Picture 10" descr="http://img5q.duitang.com/uploads/item/201412/09/20141209110848_vN2Fh.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848" y="935109"/>
              <a:ext cx="1302278" cy="130227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3716466" y="2258085"/>
              <a:ext cx="340112" cy="369332"/>
            </a:xfrm>
            <a:prstGeom prst="rect">
              <a:avLst/>
            </a:prstGeom>
            <a:noFill/>
          </p:spPr>
          <p:txBody>
            <a:bodyPr wrap="square" rtlCol="0">
              <a:spAutoFit/>
            </a:bodyPr>
            <a:lstStyle/>
            <a:p>
              <a:r>
                <a:rPr lang="en-US" altLang="zh-CN" dirty="0"/>
                <a:t>A</a:t>
              </a:r>
              <a:endParaRPr lang="zh-CN" altLang="en-US" dirty="0"/>
            </a:p>
          </p:txBody>
        </p:sp>
      </p:grpSp>
      <p:grpSp>
        <p:nvGrpSpPr>
          <p:cNvPr id="14" name="组合 13"/>
          <p:cNvGrpSpPr/>
          <p:nvPr/>
        </p:nvGrpSpPr>
        <p:grpSpPr>
          <a:xfrm>
            <a:off x="806840" y="3371602"/>
            <a:ext cx="1411144" cy="1754770"/>
            <a:chOff x="929416" y="3044853"/>
            <a:chExt cx="1411144" cy="1754770"/>
          </a:xfrm>
        </p:grpSpPr>
        <p:pic>
          <p:nvPicPr>
            <p:cNvPr id="1032" name="Picture 8" descr="http://cdn.lizhi.fm/radio_cover/2014/08/14/1370441791329037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416" y="3044853"/>
              <a:ext cx="1411144" cy="1411144"/>
            </a:xfrm>
            <a:prstGeom prst="rect">
              <a:avLst/>
            </a:prstGeom>
            <a:noFill/>
            <a:extLst>
              <a:ext uri="{909E8E84-426E-40DD-AFC4-6F175D3DCCD1}">
                <a14:hiddenFill xmlns:a14="http://schemas.microsoft.com/office/drawing/2010/main">
                  <a:solidFill>
                    <a:srgbClr val="FFFFFF"/>
                  </a:solidFill>
                </a14:hiddenFill>
              </a:ext>
            </a:extLst>
          </p:spPr>
        </p:pic>
        <p:sp>
          <p:nvSpPr>
            <p:cNvPr id="44" name="文本框 43"/>
            <p:cNvSpPr txBox="1"/>
            <p:nvPr/>
          </p:nvSpPr>
          <p:spPr>
            <a:xfrm>
              <a:off x="1504953" y="4430291"/>
              <a:ext cx="309700" cy="369332"/>
            </a:xfrm>
            <a:prstGeom prst="rect">
              <a:avLst/>
            </a:prstGeom>
            <a:noFill/>
          </p:spPr>
          <p:txBody>
            <a:bodyPr wrap="none" rtlCol="0">
              <a:spAutoFit/>
            </a:bodyPr>
            <a:lstStyle/>
            <a:p>
              <a:r>
                <a:rPr lang="en-US" altLang="zh-CN" dirty="0"/>
                <a:t>B</a:t>
              </a:r>
              <a:endParaRPr lang="zh-CN" altLang="en-US" dirty="0"/>
            </a:p>
          </p:txBody>
        </p:sp>
      </p:grpSp>
      <p:grpSp>
        <p:nvGrpSpPr>
          <p:cNvPr id="15" name="组合 14"/>
          <p:cNvGrpSpPr/>
          <p:nvPr/>
        </p:nvGrpSpPr>
        <p:grpSpPr>
          <a:xfrm>
            <a:off x="5713614" y="2873489"/>
            <a:ext cx="1111623" cy="1688372"/>
            <a:chOff x="5814384" y="3044853"/>
            <a:chExt cx="1111623" cy="1688372"/>
          </a:xfrm>
        </p:grpSpPr>
        <p:pic>
          <p:nvPicPr>
            <p:cNvPr id="1040" name="Picture 16" descr="阿皮、辛普森、动画电影"/>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4384" y="3044853"/>
              <a:ext cx="1111623" cy="1322832"/>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p:cNvSpPr txBox="1"/>
            <p:nvPr/>
          </p:nvSpPr>
          <p:spPr>
            <a:xfrm>
              <a:off x="6216146" y="4363893"/>
              <a:ext cx="327334" cy="369332"/>
            </a:xfrm>
            <a:prstGeom prst="rect">
              <a:avLst/>
            </a:prstGeom>
            <a:noFill/>
          </p:spPr>
          <p:txBody>
            <a:bodyPr wrap="none" rtlCol="0">
              <a:spAutoFit/>
            </a:bodyPr>
            <a:lstStyle/>
            <a:p>
              <a:r>
                <a:rPr lang="en-US" altLang="zh-CN" dirty="0"/>
                <a:t>D</a:t>
              </a:r>
              <a:endParaRPr lang="zh-CN" altLang="en-US" dirty="0"/>
            </a:p>
          </p:txBody>
        </p:sp>
      </p:grpSp>
      <p:sp>
        <p:nvSpPr>
          <p:cNvPr id="18" name="椭圆形标注 17"/>
          <p:cNvSpPr/>
          <p:nvPr/>
        </p:nvSpPr>
        <p:spPr>
          <a:xfrm>
            <a:off x="6912330" y="2671477"/>
            <a:ext cx="1962384" cy="1213422"/>
          </a:xfrm>
          <a:prstGeom prst="wedgeEllipse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我转给</a:t>
            </a:r>
            <a:r>
              <a:rPr lang="en-US" altLang="zh-CN" sz="1600" dirty="0">
                <a:latin typeface="+mj-ea"/>
                <a:ea typeface="+mj-ea"/>
              </a:rPr>
              <a:t>B</a:t>
            </a:r>
            <a:r>
              <a:rPr lang="zh-CN" altLang="en-US" sz="1600" dirty="0">
                <a:latin typeface="+mj-ea"/>
                <a:ea typeface="+mj-ea"/>
              </a:rPr>
              <a:t>，</a:t>
            </a:r>
            <a:r>
              <a:rPr lang="en-US" altLang="zh-CN" sz="1600" dirty="0">
                <a:latin typeface="+mj-ea"/>
                <a:ea typeface="+mj-ea"/>
              </a:rPr>
              <a:t>3</a:t>
            </a:r>
            <a:r>
              <a:rPr lang="zh-CN" altLang="en-US" sz="1600" dirty="0">
                <a:latin typeface="+mj-ea"/>
                <a:ea typeface="+mj-ea"/>
              </a:rPr>
              <a:t>块钱</a:t>
            </a:r>
          </a:p>
        </p:txBody>
      </p:sp>
      <p:sp>
        <p:nvSpPr>
          <p:cNvPr id="21" name="文本框 20"/>
          <p:cNvSpPr txBox="1"/>
          <p:nvPr/>
        </p:nvSpPr>
        <p:spPr>
          <a:xfrm>
            <a:off x="5431543" y="2132944"/>
            <a:ext cx="633507" cy="307777"/>
          </a:xfrm>
          <a:prstGeom prst="rect">
            <a:avLst/>
          </a:prstGeom>
          <a:noFill/>
        </p:spPr>
        <p:txBody>
          <a:bodyPr wrap="none" rtlCol="0">
            <a:spAutoFit/>
          </a:bodyPr>
          <a:lstStyle/>
          <a:p>
            <a:r>
              <a:rPr lang="en-US" altLang="zh-CN" sz="1400" dirty="0">
                <a:latin typeface="仿宋" panose="02010609060101010101" pitchFamily="49" charset="-122"/>
                <a:ea typeface="仿宋" panose="02010609060101010101" pitchFamily="49" charset="-122"/>
              </a:rPr>
              <a:t>A</a:t>
            </a:r>
            <a:r>
              <a:rPr lang="zh-CN" altLang="en-US" sz="1400" dirty="0">
                <a:latin typeface="仿宋" panose="02010609060101010101" pitchFamily="49" charset="-122"/>
                <a:ea typeface="仿宋" panose="02010609060101010101" pitchFamily="49" charset="-122"/>
              </a:rPr>
              <a:t>账本</a:t>
            </a:r>
          </a:p>
        </p:txBody>
      </p:sp>
      <p:graphicFrame>
        <p:nvGraphicFramePr>
          <p:cNvPr id="50" name="表格 49"/>
          <p:cNvGraphicFramePr>
            <a:graphicFrameLocks noGrp="1"/>
          </p:cNvGraphicFramePr>
          <p:nvPr>
            <p:extLst>
              <p:ext uri="{D42A27DB-BD31-4B8C-83A1-F6EECF244321}">
                <p14:modId xmlns:p14="http://schemas.microsoft.com/office/powerpoint/2010/main" val="4206281022"/>
              </p:ext>
            </p:extLst>
          </p:nvPr>
        </p:nvGraphicFramePr>
        <p:xfrm>
          <a:off x="3720897" y="1238769"/>
          <a:ext cx="3985435" cy="854985"/>
        </p:xfrm>
        <a:graphic>
          <a:graphicData uri="http://schemas.openxmlformats.org/drawingml/2006/table">
            <a:tbl>
              <a:tblPr firstRow="1" bandRow="1">
                <a:tableStyleId>{5C22544A-7EE6-4342-B048-85BDC9FD1C3A}</a:tableStyleId>
              </a:tblPr>
              <a:tblGrid>
                <a:gridCol w="797087">
                  <a:extLst>
                    <a:ext uri="{9D8B030D-6E8A-4147-A177-3AD203B41FA5}">
                      <a16:colId xmlns:a16="http://schemas.microsoft.com/office/drawing/2014/main" val="1187911970"/>
                    </a:ext>
                  </a:extLst>
                </a:gridCol>
                <a:gridCol w="797087">
                  <a:extLst>
                    <a:ext uri="{9D8B030D-6E8A-4147-A177-3AD203B41FA5}">
                      <a16:colId xmlns:a16="http://schemas.microsoft.com/office/drawing/2014/main" val="2644737524"/>
                    </a:ext>
                  </a:extLst>
                </a:gridCol>
                <a:gridCol w="797087">
                  <a:extLst>
                    <a:ext uri="{9D8B030D-6E8A-4147-A177-3AD203B41FA5}">
                      <a16:colId xmlns:a16="http://schemas.microsoft.com/office/drawing/2014/main" val="44899877"/>
                    </a:ext>
                  </a:extLst>
                </a:gridCol>
                <a:gridCol w="797087">
                  <a:extLst>
                    <a:ext uri="{9D8B030D-6E8A-4147-A177-3AD203B41FA5}">
                      <a16:colId xmlns:a16="http://schemas.microsoft.com/office/drawing/2014/main" val="3770114613"/>
                    </a:ext>
                  </a:extLst>
                </a:gridCol>
                <a:gridCol w="797087">
                  <a:extLst>
                    <a:ext uri="{9D8B030D-6E8A-4147-A177-3AD203B41FA5}">
                      <a16:colId xmlns:a16="http://schemas.microsoft.com/office/drawing/2014/main" val="1251522898"/>
                    </a:ext>
                  </a:extLst>
                </a:gridCol>
              </a:tblGrid>
              <a:tr h="284995">
                <a:tc>
                  <a:txBody>
                    <a:bodyPr/>
                    <a:lstStyle/>
                    <a:p>
                      <a:r>
                        <a:rPr lang="zh-CN" altLang="en-US" sz="1000" dirty="0">
                          <a:latin typeface="仿宋" panose="02010609060101010101" pitchFamily="49" charset="-122"/>
                          <a:ea typeface="仿宋" panose="02010609060101010101" pitchFamily="49" charset="-122"/>
                        </a:rPr>
                        <a:t>付款人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金额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付款人余额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收款人余额</a:t>
                      </a:r>
                    </a:p>
                  </a:txBody>
                  <a:tcPr marL="47382" marR="47382" marT="23691" marB="23691"/>
                </a:tc>
                <a:extLst>
                  <a:ext uri="{0D108BD9-81ED-4DB2-BD59-A6C34878D82A}">
                    <a16:rowId xmlns:a16="http://schemas.microsoft.com/office/drawing/2014/main" val="651693729"/>
                  </a:ext>
                </a:extLst>
              </a:tr>
              <a:tr h="284995">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18415485"/>
                  </a:ext>
                </a:extLst>
              </a:tr>
              <a:tr h="284995">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2781483261"/>
                  </a:ext>
                </a:extLst>
              </a:tr>
            </a:tbl>
          </a:graphicData>
        </a:graphic>
      </p:graphicFrame>
      <p:sp>
        <p:nvSpPr>
          <p:cNvPr id="24" name="文本框 23"/>
          <p:cNvSpPr txBox="1"/>
          <p:nvPr/>
        </p:nvSpPr>
        <p:spPr>
          <a:xfrm>
            <a:off x="1901230" y="5992207"/>
            <a:ext cx="633507" cy="307777"/>
          </a:xfrm>
          <a:prstGeom prst="rect">
            <a:avLst/>
          </a:prstGeom>
          <a:noFill/>
        </p:spPr>
        <p:txBody>
          <a:bodyPr wrap="none" rtlCol="0">
            <a:spAutoFit/>
          </a:bodyPr>
          <a:lstStyle/>
          <a:p>
            <a:r>
              <a:rPr lang="en-US" altLang="zh-CN" sz="1400" dirty="0">
                <a:latin typeface="仿宋" panose="02010609060101010101" pitchFamily="49" charset="-122"/>
                <a:ea typeface="仿宋" panose="02010609060101010101" pitchFamily="49" charset="-122"/>
              </a:rPr>
              <a:t>B</a:t>
            </a:r>
            <a:r>
              <a:rPr lang="zh-CN" altLang="en-US" sz="1400" dirty="0">
                <a:latin typeface="仿宋" panose="02010609060101010101" pitchFamily="49" charset="-122"/>
                <a:ea typeface="仿宋" panose="02010609060101010101" pitchFamily="49" charset="-122"/>
              </a:rPr>
              <a:t>账本</a:t>
            </a:r>
          </a:p>
        </p:txBody>
      </p:sp>
      <p:graphicFrame>
        <p:nvGraphicFramePr>
          <p:cNvPr id="27" name="表格 26"/>
          <p:cNvGraphicFramePr>
            <a:graphicFrameLocks noGrp="1"/>
          </p:cNvGraphicFramePr>
          <p:nvPr>
            <p:extLst>
              <p:ext uri="{D42A27DB-BD31-4B8C-83A1-F6EECF244321}">
                <p14:modId xmlns:p14="http://schemas.microsoft.com/office/powerpoint/2010/main" val="308429486"/>
              </p:ext>
            </p:extLst>
          </p:nvPr>
        </p:nvGraphicFramePr>
        <p:xfrm>
          <a:off x="225266" y="5126372"/>
          <a:ext cx="3985435" cy="854985"/>
        </p:xfrm>
        <a:graphic>
          <a:graphicData uri="http://schemas.openxmlformats.org/drawingml/2006/table">
            <a:tbl>
              <a:tblPr firstRow="1" bandRow="1">
                <a:tableStyleId>{5C22544A-7EE6-4342-B048-85BDC9FD1C3A}</a:tableStyleId>
              </a:tblPr>
              <a:tblGrid>
                <a:gridCol w="797087">
                  <a:extLst>
                    <a:ext uri="{9D8B030D-6E8A-4147-A177-3AD203B41FA5}">
                      <a16:colId xmlns:a16="http://schemas.microsoft.com/office/drawing/2014/main" val="1187911970"/>
                    </a:ext>
                  </a:extLst>
                </a:gridCol>
                <a:gridCol w="797087">
                  <a:extLst>
                    <a:ext uri="{9D8B030D-6E8A-4147-A177-3AD203B41FA5}">
                      <a16:colId xmlns:a16="http://schemas.microsoft.com/office/drawing/2014/main" val="2644737524"/>
                    </a:ext>
                  </a:extLst>
                </a:gridCol>
                <a:gridCol w="797087">
                  <a:extLst>
                    <a:ext uri="{9D8B030D-6E8A-4147-A177-3AD203B41FA5}">
                      <a16:colId xmlns:a16="http://schemas.microsoft.com/office/drawing/2014/main" val="44899877"/>
                    </a:ext>
                  </a:extLst>
                </a:gridCol>
                <a:gridCol w="797087">
                  <a:extLst>
                    <a:ext uri="{9D8B030D-6E8A-4147-A177-3AD203B41FA5}">
                      <a16:colId xmlns:a16="http://schemas.microsoft.com/office/drawing/2014/main" val="3770114613"/>
                    </a:ext>
                  </a:extLst>
                </a:gridCol>
                <a:gridCol w="797087">
                  <a:extLst>
                    <a:ext uri="{9D8B030D-6E8A-4147-A177-3AD203B41FA5}">
                      <a16:colId xmlns:a16="http://schemas.microsoft.com/office/drawing/2014/main" val="1251522898"/>
                    </a:ext>
                  </a:extLst>
                </a:gridCol>
              </a:tblGrid>
              <a:tr h="284995">
                <a:tc>
                  <a:txBody>
                    <a:bodyPr/>
                    <a:lstStyle/>
                    <a:p>
                      <a:r>
                        <a:rPr lang="zh-CN" altLang="en-US" sz="1000" dirty="0">
                          <a:latin typeface="仿宋" panose="02010609060101010101" pitchFamily="49" charset="-122"/>
                          <a:ea typeface="仿宋" panose="02010609060101010101" pitchFamily="49" charset="-122"/>
                        </a:rPr>
                        <a:t>付款人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金额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付款人余额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收款人余额</a:t>
                      </a:r>
                    </a:p>
                  </a:txBody>
                  <a:tcPr marL="47382" marR="47382" marT="23691" marB="23691"/>
                </a:tc>
                <a:extLst>
                  <a:ext uri="{0D108BD9-81ED-4DB2-BD59-A6C34878D82A}">
                    <a16:rowId xmlns:a16="http://schemas.microsoft.com/office/drawing/2014/main" val="651693729"/>
                  </a:ext>
                </a:extLst>
              </a:tr>
              <a:tr h="284995">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18415485"/>
                  </a:ext>
                </a:extLst>
              </a:tr>
              <a:tr h="284995">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236471959"/>
                  </a:ext>
                </a:extLst>
              </a:tr>
            </a:tbl>
          </a:graphicData>
        </a:graphic>
      </p:graphicFrame>
      <p:sp>
        <p:nvSpPr>
          <p:cNvPr id="28" name="文本框 27"/>
          <p:cNvSpPr txBox="1"/>
          <p:nvPr/>
        </p:nvSpPr>
        <p:spPr>
          <a:xfrm>
            <a:off x="6630259" y="5453891"/>
            <a:ext cx="633507" cy="307777"/>
          </a:xfrm>
          <a:prstGeom prst="rect">
            <a:avLst/>
          </a:prstGeom>
          <a:noFill/>
        </p:spPr>
        <p:txBody>
          <a:bodyPr wrap="none" rtlCol="0">
            <a:spAutoFit/>
          </a:bodyPr>
          <a:lstStyle/>
          <a:p>
            <a:r>
              <a:rPr lang="en-US" altLang="zh-CN" sz="1400" dirty="0">
                <a:latin typeface="仿宋" panose="02010609060101010101" pitchFamily="49" charset="-122"/>
                <a:ea typeface="仿宋" panose="02010609060101010101" pitchFamily="49" charset="-122"/>
              </a:rPr>
              <a:t>D</a:t>
            </a:r>
            <a:r>
              <a:rPr lang="zh-CN" altLang="en-US" sz="1400" dirty="0">
                <a:latin typeface="仿宋" panose="02010609060101010101" pitchFamily="49" charset="-122"/>
                <a:ea typeface="仿宋" panose="02010609060101010101" pitchFamily="49" charset="-122"/>
              </a:rPr>
              <a:t>账本</a:t>
            </a:r>
          </a:p>
        </p:txBody>
      </p:sp>
      <p:graphicFrame>
        <p:nvGraphicFramePr>
          <p:cNvPr id="29" name="表格 28"/>
          <p:cNvGraphicFramePr>
            <a:graphicFrameLocks noGrp="1"/>
          </p:cNvGraphicFramePr>
          <p:nvPr>
            <p:extLst>
              <p:ext uri="{D42A27DB-BD31-4B8C-83A1-F6EECF244321}">
                <p14:modId xmlns:p14="http://schemas.microsoft.com/office/powerpoint/2010/main" val="391550629"/>
              </p:ext>
            </p:extLst>
          </p:nvPr>
        </p:nvGraphicFramePr>
        <p:xfrm>
          <a:off x="4919613" y="4574776"/>
          <a:ext cx="3985435" cy="854985"/>
        </p:xfrm>
        <a:graphic>
          <a:graphicData uri="http://schemas.openxmlformats.org/drawingml/2006/table">
            <a:tbl>
              <a:tblPr firstRow="1" bandRow="1">
                <a:tableStyleId>{5C22544A-7EE6-4342-B048-85BDC9FD1C3A}</a:tableStyleId>
              </a:tblPr>
              <a:tblGrid>
                <a:gridCol w="797087">
                  <a:extLst>
                    <a:ext uri="{9D8B030D-6E8A-4147-A177-3AD203B41FA5}">
                      <a16:colId xmlns:a16="http://schemas.microsoft.com/office/drawing/2014/main" val="1187911970"/>
                    </a:ext>
                  </a:extLst>
                </a:gridCol>
                <a:gridCol w="797087">
                  <a:extLst>
                    <a:ext uri="{9D8B030D-6E8A-4147-A177-3AD203B41FA5}">
                      <a16:colId xmlns:a16="http://schemas.microsoft.com/office/drawing/2014/main" val="2644737524"/>
                    </a:ext>
                  </a:extLst>
                </a:gridCol>
                <a:gridCol w="797087">
                  <a:extLst>
                    <a:ext uri="{9D8B030D-6E8A-4147-A177-3AD203B41FA5}">
                      <a16:colId xmlns:a16="http://schemas.microsoft.com/office/drawing/2014/main" val="44899877"/>
                    </a:ext>
                  </a:extLst>
                </a:gridCol>
                <a:gridCol w="797087">
                  <a:extLst>
                    <a:ext uri="{9D8B030D-6E8A-4147-A177-3AD203B41FA5}">
                      <a16:colId xmlns:a16="http://schemas.microsoft.com/office/drawing/2014/main" val="3770114613"/>
                    </a:ext>
                  </a:extLst>
                </a:gridCol>
                <a:gridCol w="797087">
                  <a:extLst>
                    <a:ext uri="{9D8B030D-6E8A-4147-A177-3AD203B41FA5}">
                      <a16:colId xmlns:a16="http://schemas.microsoft.com/office/drawing/2014/main" val="1251522898"/>
                    </a:ext>
                  </a:extLst>
                </a:gridCol>
              </a:tblGrid>
              <a:tr h="284995">
                <a:tc>
                  <a:txBody>
                    <a:bodyPr/>
                    <a:lstStyle/>
                    <a:p>
                      <a:r>
                        <a:rPr lang="zh-CN" altLang="en-US" sz="1000" dirty="0">
                          <a:latin typeface="仿宋" panose="02010609060101010101" pitchFamily="49" charset="-122"/>
                          <a:ea typeface="仿宋" panose="02010609060101010101" pitchFamily="49" charset="-122"/>
                        </a:rPr>
                        <a:t>付款人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金额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付款人余额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收款人余额</a:t>
                      </a:r>
                    </a:p>
                  </a:txBody>
                  <a:tcPr marL="47382" marR="47382" marT="23691" marB="23691"/>
                </a:tc>
                <a:extLst>
                  <a:ext uri="{0D108BD9-81ED-4DB2-BD59-A6C34878D82A}">
                    <a16:rowId xmlns:a16="http://schemas.microsoft.com/office/drawing/2014/main" val="651693729"/>
                  </a:ext>
                </a:extLst>
              </a:tr>
              <a:tr h="284995">
                <a:tc>
                  <a:txBody>
                    <a:bodyPr/>
                    <a:lstStyle/>
                    <a:p>
                      <a:endParaRPr lang="en-US" altLang="zh-CN"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18415485"/>
                  </a:ext>
                </a:extLst>
              </a:tr>
              <a:tr h="284995">
                <a:tc>
                  <a:txBody>
                    <a:bodyPr/>
                    <a:lstStyle/>
                    <a:p>
                      <a:endParaRPr lang="en-US" altLang="zh-CN"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6744727"/>
                  </a:ext>
                </a:extLst>
              </a:tr>
            </a:tbl>
          </a:graphicData>
        </a:graphic>
      </p:graphicFrame>
      <p:cxnSp>
        <p:nvCxnSpPr>
          <p:cNvPr id="3" name="直接箭头连接符 2"/>
          <p:cNvCxnSpPr>
            <a:stCxn id="1040" idx="1"/>
            <a:endCxn id="7" idx="3"/>
          </p:cNvCxnSpPr>
          <p:nvPr/>
        </p:nvCxnSpPr>
        <p:spPr>
          <a:xfrm flipH="1" flipV="1">
            <a:off x="3032055" y="2432820"/>
            <a:ext cx="2681559" cy="110208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a:stCxn id="1040" idx="1"/>
            <a:endCxn id="1032" idx="3"/>
          </p:cNvCxnSpPr>
          <p:nvPr/>
        </p:nvCxnSpPr>
        <p:spPr>
          <a:xfrm flipH="1">
            <a:off x="2217984" y="3534905"/>
            <a:ext cx="3495630" cy="54226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aphicFrame>
        <p:nvGraphicFramePr>
          <p:cNvPr id="32" name="表格 31"/>
          <p:cNvGraphicFramePr>
            <a:graphicFrameLocks noGrp="1"/>
          </p:cNvGraphicFramePr>
          <p:nvPr>
            <p:extLst>
              <p:ext uri="{D42A27DB-BD31-4B8C-83A1-F6EECF244321}">
                <p14:modId xmlns:p14="http://schemas.microsoft.com/office/powerpoint/2010/main" val="3388795047"/>
              </p:ext>
            </p:extLst>
          </p:nvPr>
        </p:nvGraphicFramePr>
        <p:xfrm>
          <a:off x="4919612" y="4572780"/>
          <a:ext cx="3985435" cy="854985"/>
        </p:xfrm>
        <a:graphic>
          <a:graphicData uri="http://schemas.openxmlformats.org/drawingml/2006/table">
            <a:tbl>
              <a:tblPr firstRow="1" bandRow="1">
                <a:tableStyleId>{5C22544A-7EE6-4342-B048-85BDC9FD1C3A}</a:tableStyleId>
              </a:tblPr>
              <a:tblGrid>
                <a:gridCol w="797087">
                  <a:extLst>
                    <a:ext uri="{9D8B030D-6E8A-4147-A177-3AD203B41FA5}">
                      <a16:colId xmlns:a16="http://schemas.microsoft.com/office/drawing/2014/main" val="1187911970"/>
                    </a:ext>
                  </a:extLst>
                </a:gridCol>
                <a:gridCol w="797087">
                  <a:extLst>
                    <a:ext uri="{9D8B030D-6E8A-4147-A177-3AD203B41FA5}">
                      <a16:colId xmlns:a16="http://schemas.microsoft.com/office/drawing/2014/main" val="2644737524"/>
                    </a:ext>
                  </a:extLst>
                </a:gridCol>
                <a:gridCol w="797087">
                  <a:extLst>
                    <a:ext uri="{9D8B030D-6E8A-4147-A177-3AD203B41FA5}">
                      <a16:colId xmlns:a16="http://schemas.microsoft.com/office/drawing/2014/main" val="44899877"/>
                    </a:ext>
                  </a:extLst>
                </a:gridCol>
                <a:gridCol w="797087">
                  <a:extLst>
                    <a:ext uri="{9D8B030D-6E8A-4147-A177-3AD203B41FA5}">
                      <a16:colId xmlns:a16="http://schemas.microsoft.com/office/drawing/2014/main" val="3770114613"/>
                    </a:ext>
                  </a:extLst>
                </a:gridCol>
                <a:gridCol w="797087">
                  <a:extLst>
                    <a:ext uri="{9D8B030D-6E8A-4147-A177-3AD203B41FA5}">
                      <a16:colId xmlns:a16="http://schemas.microsoft.com/office/drawing/2014/main" val="1251522898"/>
                    </a:ext>
                  </a:extLst>
                </a:gridCol>
              </a:tblGrid>
              <a:tr h="284995">
                <a:tc>
                  <a:txBody>
                    <a:bodyPr/>
                    <a:lstStyle/>
                    <a:p>
                      <a:r>
                        <a:rPr lang="zh-CN" altLang="en-US" sz="1000" dirty="0">
                          <a:latin typeface="仿宋" panose="02010609060101010101" pitchFamily="49" charset="-122"/>
                          <a:ea typeface="仿宋" panose="02010609060101010101" pitchFamily="49" charset="-122"/>
                        </a:rPr>
                        <a:t>付款人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金额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付款人余额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收款人余额</a:t>
                      </a:r>
                    </a:p>
                  </a:txBody>
                  <a:tcPr marL="47382" marR="47382" marT="23691" marB="23691"/>
                </a:tc>
                <a:extLst>
                  <a:ext uri="{0D108BD9-81ED-4DB2-BD59-A6C34878D82A}">
                    <a16:rowId xmlns:a16="http://schemas.microsoft.com/office/drawing/2014/main" val="651693729"/>
                  </a:ext>
                </a:extLst>
              </a:tr>
              <a:tr h="284995">
                <a:tc>
                  <a:txBody>
                    <a:bodyPr/>
                    <a:lstStyle/>
                    <a:p>
                      <a:r>
                        <a:rPr lang="en-US" altLang="zh-CN" sz="1400" dirty="0">
                          <a:solidFill>
                            <a:srgbClr val="FF0000"/>
                          </a:solidFill>
                          <a:latin typeface="仿宋" panose="02010609060101010101" pitchFamily="49" charset="-122"/>
                          <a:ea typeface="仿宋" panose="02010609060101010101" pitchFamily="49" charset="-122"/>
                        </a:rPr>
                        <a:t>D</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B</a:t>
                      </a:r>
                      <a:endParaRPr lang="zh-CN" altLang="en-US" sz="1400" dirty="0">
                        <a:solidFill>
                          <a:srgbClr val="FF0000"/>
                        </a:solidFill>
                        <a:latin typeface="仿宋" panose="02010609060101010101" pitchFamily="49" charset="-122"/>
                        <a:ea typeface="仿宋" panose="02010609060101010101" pitchFamily="49" charset="-122"/>
                      </a:endParaRP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3</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7</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13</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extLst>
                  <a:ext uri="{0D108BD9-81ED-4DB2-BD59-A6C34878D82A}">
                    <a16:rowId xmlns:a16="http://schemas.microsoft.com/office/drawing/2014/main" val="1818415485"/>
                  </a:ext>
                </a:extLst>
              </a:tr>
              <a:tr h="284995">
                <a:tc>
                  <a:txBody>
                    <a:bodyPr/>
                    <a:lstStyle/>
                    <a:p>
                      <a:endParaRPr lang="en-US" altLang="zh-CN"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6744727"/>
                  </a:ext>
                </a:extLst>
              </a:tr>
            </a:tbl>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36904321"/>
              </p:ext>
            </p:extLst>
          </p:nvPr>
        </p:nvGraphicFramePr>
        <p:xfrm>
          <a:off x="3720897" y="1237771"/>
          <a:ext cx="3985435" cy="854985"/>
        </p:xfrm>
        <a:graphic>
          <a:graphicData uri="http://schemas.openxmlformats.org/drawingml/2006/table">
            <a:tbl>
              <a:tblPr firstRow="1" bandRow="1">
                <a:tableStyleId>{5C22544A-7EE6-4342-B048-85BDC9FD1C3A}</a:tableStyleId>
              </a:tblPr>
              <a:tblGrid>
                <a:gridCol w="797087">
                  <a:extLst>
                    <a:ext uri="{9D8B030D-6E8A-4147-A177-3AD203B41FA5}">
                      <a16:colId xmlns:a16="http://schemas.microsoft.com/office/drawing/2014/main" val="1187911970"/>
                    </a:ext>
                  </a:extLst>
                </a:gridCol>
                <a:gridCol w="797087">
                  <a:extLst>
                    <a:ext uri="{9D8B030D-6E8A-4147-A177-3AD203B41FA5}">
                      <a16:colId xmlns:a16="http://schemas.microsoft.com/office/drawing/2014/main" val="2644737524"/>
                    </a:ext>
                  </a:extLst>
                </a:gridCol>
                <a:gridCol w="797087">
                  <a:extLst>
                    <a:ext uri="{9D8B030D-6E8A-4147-A177-3AD203B41FA5}">
                      <a16:colId xmlns:a16="http://schemas.microsoft.com/office/drawing/2014/main" val="44899877"/>
                    </a:ext>
                  </a:extLst>
                </a:gridCol>
                <a:gridCol w="797087">
                  <a:extLst>
                    <a:ext uri="{9D8B030D-6E8A-4147-A177-3AD203B41FA5}">
                      <a16:colId xmlns:a16="http://schemas.microsoft.com/office/drawing/2014/main" val="3770114613"/>
                    </a:ext>
                  </a:extLst>
                </a:gridCol>
                <a:gridCol w="797087">
                  <a:extLst>
                    <a:ext uri="{9D8B030D-6E8A-4147-A177-3AD203B41FA5}">
                      <a16:colId xmlns:a16="http://schemas.microsoft.com/office/drawing/2014/main" val="1251522898"/>
                    </a:ext>
                  </a:extLst>
                </a:gridCol>
              </a:tblGrid>
              <a:tr h="284995">
                <a:tc>
                  <a:txBody>
                    <a:bodyPr/>
                    <a:lstStyle/>
                    <a:p>
                      <a:r>
                        <a:rPr lang="zh-CN" altLang="en-US" sz="1000" dirty="0">
                          <a:latin typeface="仿宋" panose="02010609060101010101" pitchFamily="49" charset="-122"/>
                          <a:ea typeface="仿宋" panose="02010609060101010101" pitchFamily="49" charset="-122"/>
                        </a:rPr>
                        <a:t>付款人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金额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付款人余额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收款人余额</a:t>
                      </a:r>
                    </a:p>
                  </a:txBody>
                  <a:tcPr marL="47382" marR="47382" marT="23691" marB="23691"/>
                </a:tc>
                <a:extLst>
                  <a:ext uri="{0D108BD9-81ED-4DB2-BD59-A6C34878D82A}">
                    <a16:rowId xmlns:a16="http://schemas.microsoft.com/office/drawing/2014/main" val="651693729"/>
                  </a:ext>
                </a:extLst>
              </a:tr>
              <a:tr h="284995">
                <a:tc>
                  <a:txBody>
                    <a:bodyPr/>
                    <a:lstStyle/>
                    <a:p>
                      <a:r>
                        <a:rPr lang="en-US" altLang="zh-CN" sz="1400" dirty="0">
                          <a:solidFill>
                            <a:srgbClr val="FF0000"/>
                          </a:solidFill>
                          <a:latin typeface="仿宋" panose="02010609060101010101" pitchFamily="49" charset="-122"/>
                          <a:ea typeface="仿宋" panose="02010609060101010101" pitchFamily="49" charset="-122"/>
                        </a:rPr>
                        <a:t>D</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B</a:t>
                      </a:r>
                      <a:endParaRPr lang="zh-CN" altLang="en-US" sz="1400" dirty="0">
                        <a:solidFill>
                          <a:srgbClr val="FF0000"/>
                        </a:solidFill>
                        <a:latin typeface="仿宋" panose="02010609060101010101" pitchFamily="49" charset="-122"/>
                        <a:ea typeface="仿宋" panose="02010609060101010101" pitchFamily="49" charset="-122"/>
                      </a:endParaRP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3</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7</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13</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extLst>
                  <a:ext uri="{0D108BD9-81ED-4DB2-BD59-A6C34878D82A}">
                    <a16:rowId xmlns:a16="http://schemas.microsoft.com/office/drawing/2014/main" val="1818415485"/>
                  </a:ext>
                </a:extLst>
              </a:tr>
              <a:tr h="284995">
                <a:tc>
                  <a:txBody>
                    <a:bodyPr/>
                    <a:lstStyle/>
                    <a:p>
                      <a:endParaRPr lang="en-US" altLang="zh-CN"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6744727"/>
                  </a:ext>
                </a:extLst>
              </a:tr>
            </a:tbl>
          </a:graphicData>
        </a:graphic>
      </p:graphicFrame>
      <p:graphicFrame>
        <p:nvGraphicFramePr>
          <p:cNvPr id="34" name="表格 33"/>
          <p:cNvGraphicFramePr>
            <a:graphicFrameLocks noGrp="1"/>
          </p:cNvGraphicFramePr>
          <p:nvPr>
            <p:extLst>
              <p:ext uri="{D42A27DB-BD31-4B8C-83A1-F6EECF244321}">
                <p14:modId xmlns:p14="http://schemas.microsoft.com/office/powerpoint/2010/main" val="52039957"/>
              </p:ext>
            </p:extLst>
          </p:nvPr>
        </p:nvGraphicFramePr>
        <p:xfrm>
          <a:off x="211607" y="5117262"/>
          <a:ext cx="3985435" cy="854985"/>
        </p:xfrm>
        <a:graphic>
          <a:graphicData uri="http://schemas.openxmlformats.org/drawingml/2006/table">
            <a:tbl>
              <a:tblPr firstRow="1" bandRow="1">
                <a:tableStyleId>{5C22544A-7EE6-4342-B048-85BDC9FD1C3A}</a:tableStyleId>
              </a:tblPr>
              <a:tblGrid>
                <a:gridCol w="797087">
                  <a:extLst>
                    <a:ext uri="{9D8B030D-6E8A-4147-A177-3AD203B41FA5}">
                      <a16:colId xmlns:a16="http://schemas.microsoft.com/office/drawing/2014/main" val="1187911970"/>
                    </a:ext>
                  </a:extLst>
                </a:gridCol>
                <a:gridCol w="797087">
                  <a:extLst>
                    <a:ext uri="{9D8B030D-6E8A-4147-A177-3AD203B41FA5}">
                      <a16:colId xmlns:a16="http://schemas.microsoft.com/office/drawing/2014/main" val="2644737524"/>
                    </a:ext>
                  </a:extLst>
                </a:gridCol>
                <a:gridCol w="797087">
                  <a:extLst>
                    <a:ext uri="{9D8B030D-6E8A-4147-A177-3AD203B41FA5}">
                      <a16:colId xmlns:a16="http://schemas.microsoft.com/office/drawing/2014/main" val="44899877"/>
                    </a:ext>
                  </a:extLst>
                </a:gridCol>
                <a:gridCol w="797087">
                  <a:extLst>
                    <a:ext uri="{9D8B030D-6E8A-4147-A177-3AD203B41FA5}">
                      <a16:colId xmlns:a16="http://schemas.microsoft.com/office/drawing/2014/main" val="3770114613"/>
                    </a:ext>
                  </a:extLst>
                </a:gridCol>
                <a:gridCol w="797087">
                  <a:extLst>
                    <a:ext uri="{9D8B030D-6E8A-4147-A177-3AD203B41FA5}">
                      <a16:colId xmlns:a16="http://schemas.microsoft.com/office/drawing/2014/main" val="1251522898"/>
                    </a:ext>
                  </a:extLst>
                </a:gridCol>
              </a:tblGrid>
              <a:tr h="284995">
                <a:tc>
                  <a:txBody>
                    <a:bodyPr/>
                    <a:lstStyle/>
                    <a:p>
                      <a:r>
                        <a:rPr lang="zh-CN" altLang="en-US" sz="1000" dirty="0">
                          <a:latin typeface="仿宋" panose="02010609060101010101" pitchFamily="49" charset="-122"/>
                          <a:ea typeface="仿宋" panose="02010609060101010101" pitchFamily="49" charset="-122"/>
                        </a:rPr>
                        <a:t>付款人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金额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付款人余额</a:t>
                      </a:r>
                    </a:p>
                  </a:txBody>
                  <a:tcPr marL="47382" marR="47382" marT="23691" marB="23691"/>
                </a:tc>
                <a:tc>
                  <a:txBody>
                    <a:bodyPr/>
                    <a:lstStyle/>
                    <a:p>
                      <a:r>
                        <a:rPr lang="zh-CN" altLang="en-US" sz="1000" dirty="0">
                          <a:latin typeface="仿宋" panose="02010609060101010101" pitchFamily="49" charset="-122"/>
                          <a:ea typeface="仿宋" panose="02010609060101010101" pitchFamily="49" charset="-122"/>
                        </a:rPr>
                        <a:t>收款人余额</a:t>
                      </a:r>
                    </a:p>
                  </a:txBody>
                  <a:tcPr marL="47382" marR="47382" marT="23691" marB="23691"/>
                </a:tc>
                <a:extLst>
                  <a:ext uri="{0D108BD9-81ED-4DB2-BD59-A6C34878D82A}">
                    <a16:rowId xmlns:a16="http://schemas.microsoft.com/office/drawing/2014/main" val="651693729"/>
                  </a:ext>
                </a:extLst>
              </a:tr>
              <a:tr h="284995">
                <a:tc>
                  <a:txBody>
                    <a:bodyPr/>
                    <a:lstStyle/>
                    <a:p>
                      <a:r>
                        <a:rPr lang="en-US" altLang="zh-CN" sz="1400" dirty="0">
                          <a:solidFill>
                            <a:srgbClr val="FF0000"/>
                          </a:solidFill>
                          <a:latin typeface="仿宋" panose="02010609060101010101" pitchFamily="49" charset="-122"/>
                          <a:ea typeface="仿宋" panose="02010609060101010101" pitchFamily="49" charset="-122"/>
                        </a:rPr>
                        <a:t>D</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B</a:t>
                      </a:r>
                      <a:endParaRPr lang="zh-CN" altLang="en-US" sz="1400" dirty="0">
                        <a:solidFill>
                          <a:srgbClr val="FF0000"/>
                        </a:solidFill>
                        <a:latin typeface="仿宋" panose="02010609060101010101" pitchFamily="49" charset="-122"/>
                        <a:ea typeface="仿宋" panose="02010609060101010101" pitchFamily="49" charset="-122"/>
                      </a:endParaRP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3</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7</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tc>
                  <a:txBody>
                    <a:bodyPr/>
                    <a:lstStyle/>
                    <a:p>
                      <a:r>
                        <a:rPr lang="en-US" altLang="zh-CN" sz="1400" dirty="0">
                          <a:solidFill>
                            <a:srgbClr val="FF0000"/>
                          </a:solidFill>
                          <a:latin typeface="仿宋" panose="02010609060101010101" pitchFamily="49" charset="-122"/>
                          <a:ea typeface="仿宋" panose="02010609060101010101" pitchFamily="49" charset="-122"/>
                        </a:rPr>
                        <a:t>13</a:t>
                      </a:r>
                      <a:r>
                        <a:rPr lang="zh-CN" altLang="en-US" sz="1400" dirty="0">
                          <a:solidFill>
                            <a:srgbClr val="FF0000"/>
                          </a:solidFill>
                          <a:latin typeface="仿宋" panose="02010609060101010101" pitchFamily="49" charset="-122"/>
                          <a:ea typeface="仿宋" panose="02010609060101010101" pitchFamily="49" charset="-122"/>
                        </a:rPr>
                        <a:t>块钱</a:t>
                      </a:r>
                    </a:p>
                  </a:txBody>
                  <a:tcPr marL="47382" marR="47382" marT="23691" marB="23691"/>
                </a:tc>
                <a:extLst>
                  <a:ext uri="{0D108BD9-81ED-4DB2-BD59-A6C34878D82A}">
                    <a16:rowId xmlns:a16="http://schemas.microsoft.com/office/drawing/2014/main" val="1818415485"/>
                  </a:ext>
                </a:extLst>
              </a:tr>
              <a:tr h="284995">
                <a:tc>
                  <a:txBody>
                    <a:bodyPr/>
                    <a:lstStyle/>
                    <a:p>
                      <a:endParaRPr lang="en-US" altLang="zh-CN"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tc>
                  <a:txBody>
                    <a:bodyPr/>
                    <a:lstStyle/>
                    <a:p>
                      <a:endParaRPr lang="zh-CN" altLang="en-US" sz="1000" dirty="0">
                        <a:latin typeface="仿宋" panose="02010609060101010101" pitchFamily="49" charset="-122"/>
                        <a:ea typeface="仿宋" panose="02010609060101010101" pitchFamily="49" charset="-122"/>
                      </a:endParaRPr>
                    </a:p>
                  </a:txBody>
                  <a:tcPr marL="47382" marR="47382" marT="23691" marB="23691"/>
                </a:tc>
                <a:extLst>
                  <a:ext uri="{0D108BD9-81ED-4DB2-BD59-A6C34878D82A}">
                    <a16:rowId xmlns:a16="http://schemas.microsoft.com/office/drawing/2014/main" val="186744727"/>
                  </a:ext>
                </a:extLst>
              </a:tr>
            </a:tbl>
          </a:graphicData>
        </a:graphic>
      </p:graphicFrame>
    </p:spTree>
    <p:extLst>
      <p:ext uri="{BB962C8B-B14F-4D97-AF65-F5344CB8AC3E}">
        <p14:creationId xmlns:p14="http://schemas.microsoft.com/office/powerpoint/2010/main" val="1765354854"/>
      </p:ext>
    </p:extLst>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1"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p:bldP spid="24"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 9"/>
          <p:cNvGrpSpPr/>
          <p:nvPr/>
        </p:nvGrpSpPr>
        <p:grpSpPr>
          <a:xfrm>
            <a:off x="1865333" y="3339359"/>
            <a:ext cx="314985" cy="314985"/>
            <a:chOff x="6728178" y="1941689"/>
            <a:chExt cx="1016000" cy="1016000"/>
          </a:xfrm>
        </p:grpSpPr>
        <p:sp>
          <p:nvSpPr>
            <p:cNvPr id="8" name="椭圆 7"/>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694969"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-HASH</a:t>
            </a:r>
            <a:r>
              <a:rPr lang="zh-CN" altLang="en-US" sz="1400" dirty="0">
                <a:latin typeface="+mj-ea"/>
              </a:rPr>
              <a:t>运算</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 name="文本框 1"/>
          <p:cNvSpPr txBox="1"/>
          <p:nvPr/>
        </p:nvSpPr>
        <p:spPr>
          <a:xfrm>
            <a:off x="2262941" y="3312185"/>
            <a:ext cx="3757760" cy="338554"/>
          </a:xfrm>
          <a:prstGeom prst="rect">
            <a:avLst/>
          </a:prstGeom>
          <a:noFill/>
        </p:spPr>
        <p:txBody>
          <a:bodyPr wrap="none" rtlCol="0">
            <a:spAutoFit/>
          </a:bodyPr>
          <a:lstStyle/>
          <a:p>
            <a:pPr lvl="0"/>
            <a:r>
              <a:rPr lang="zh-CN" altLang="zh-CN" sz="1600" dirty="0"/>
              <a:t>不可逆：若</a:t>
            </a:r>
            <a:r>
              <a:rPr lang="en-US" altLang="zh-CN" sz="1600" dirty="0"/>
              <a:t>y=HASH(x),</a:t>
            </a:r>
            <a:r>
              <a:rPr lang="zh-CN" altLang="zh-CN" sz="1600" dirty="0"/>
              <a:t>则根据</a:t>
            </a:r>
            <a:r>
              <a:rPr lang="en-US" altLang="zh-CN" sz="1600" dirty="0"/>
              <a:t>y</a:t>
            </a:r>
            <a:r>
              <a:rPr lang="zh-CN" altLang="zh-CN" sz="1600" dirty="0"/>
              <a:t>无法求得</a:t>
            </a:r>
            <a:r>
              <a:rPr lang="en-US" altLang="zh-CN" sz="1600" dirty="0"/>
              <a:t>x</a:t>
            </a:r>
            <a:endParaRPr lang="zh-CN" altLang="zh-CN" sz="1600" dirty="0"/>
          </a:p>
        </p:txBody>
      </p:sp>
      <p:grpSp>
        <p:nvGrpSpPr>
          <p:cNvPr id="54" name="组 9"/>
          <p:cNvGrpSpPr/>
          <p:nvPr/>
        </p:nvGrpSpPr>
        <p:grpSpPr>
          <a:xfrm>
            <a:off x="1865333" y="2613407"/>
            <a:ext cx="314985" cy="314985"/>
            <a:chOff x="6728178" y="1941689"/>
            <a:chExt cx="1016000" cy="1016000"/>
          </a:xfrm>
        </p:grpSpPr>
        <p:sp>
          <p:nvSpPr>
            <p:cNvPr id="55" name="椭圆 54"/>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56" name="椭圆 55"/>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57" name="文本框 56"/>
          <p:cNvSpPr txBox="1"/>
          <p:nvPr/>
        </p:nvSpPr>
        <p:spPr>
          <a:xfrm>
            <a:off x="2262941" y="2586233"/>
            <a:ext cx="4951997" cy="338554"/>
          </a:xfrm>
          <a:prstGeom prst="rect">
            <a:avLst/>
          </a:prstGeom>
          <a:noFill/>
        </p:spPr>
        <p:txBody>
          <a:bodyPr wrap="none" rtlCol="0">
            <a:spAutoFit/>
          </a:bodyPr>
          <a:lstStyle/>
          <a:p>
            <a:pPr lvl="0"/>
            <a:r>
              <a:rPr lang="zh-CN" altLang="zh-CN" sz="1600" dirty="0"/>
              <a:t>对于任意长度的输入</a:t>
            </a:r>
            <a:r>
              <a:rPr lang="en-US" altLang="zh-CN" sz="1600" dirty="0"/>
              <a:t>x, HASH(x)</a:t>
            </a:r>
            <a:r>
              <a:rPr lang="zh-CN" altLang="zh-CN" sz="1600" dirty="0"/>
              <a:t>得出的结果是固定长度</a:t>
            </a:r>
          </a:p>
        </p:txBody>
      </p:sp>
      <p:grpSp>
        <p:nvGrpSpPr>
          <p:cNvPr id="58" name="组 9"/>
          <p:cNvGrpSpPr/>
          <p:nvPr/>
        </p:nvGrpSpPr>
        <p:grpSpPr>
          <a:xfrm>
            <a:off x="1865333" y="4062151"/>
            <a:ext cx="314985" cy="314985"/>
            <a:chOff x="6728178" y="1941689"/>
            <a:chExt cx="1016000" cy="1016000"/>
          </a:xfrm>
        </p:grpSpPr>
        <p:sp>
          <p:nvSpPr>
            <p:cNvPr id="59" name="椭圆 58"/>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60" name="椭圆 59"/>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61" name="文本框 60"/>
          <p:cNvSpPr txBox="1"/>
          <p:nvPr/>
        </p:nvSpPr>
        <p:spPr>
          <a:xfrm>
            <a:off x="2262941" y="4034977"/>
            <a:ext cx="4479111" cy="338554"/>
          </a:xfrm>
          <a:prstGeom prst="rect">
            <a:avLst/>
          </a:prstGeom>
          <a:noFill/>
        </p:spPr>
        <p:txBody>
          <a:bodyPr wrap="none" rtlCol="0">
            <a:spAutoFit/>
          </a:bodyPr>
          <a:lstStyle/>
          <a:p>
            <a:pPr lvl="0"/>
            <a:r>
              <a:rPr lang="zh-CN" altLang="zh-CN" sz="1600" dirty="0"/>
              <a:t>无冲突：若</a:t>
            </a:r>
            <a:r>
              <a:rPr lang="en-US" altLang="zh-CN" sz="1600" dirty="0"/>
              <a:t>y=HASH(x)</a:t>
            </a:r>
            <a:r>
              <a:rPr lang="zh-CN" altLang="zh-CN" sz="1600" dirty="0"/>
              <a:t>，不存在</a:t>
            </a:r>
            <a:r>
              <a:rPr lang="en-US" altLang="zh-CN" sz="1600" dirty="0"/>
              <a:t>z</a:t>
            </a:r>
            <a:r>
              <a:rPr lang="zh-CN" altLang="zh-CN" sz="1600" dirty="0"/>
              <a:t>，使得</a:t>
            </a:r>
            <a:r>
              <a:rPr lang="en-US" altLang="zh-CN" sz="1600" dirty="0"/>
              <a:t>HASH(z)=y</a:t>
            </a:r>
            <a:endParaRPr lang="zh-CN" altLang="zh-CN" sz="1600" dirty="0"/>
          </a:p>
        </p:txBody>
      </p:sp>
      <p:sp>
        <p:nvSpPr>
          <p:cNvPr id="3" name="文本框 2"/>
          <p:cNvSpPr txBox="1"/>
          <p:nvPr/>
        </p:nvSpPr>
        <p:spPr>
          <a:xfrm>
            <a:off x="1766388" y="1805827"/>
            <a:ext cx="1648208" cy="369332"/>
          </a:xfrm>
          <a:prstGeom prst="rect">
            <a:avLst/>
          </a:prstGeom>
          <a:noFill/>
        </p:spPr>
        <p:txBody>
          <a:bodyPr wrap="none" rtlCol="0">
            <a:spAutoFit/>
          </a:bodyPr>
          <a:lstStyle/>
          <a:p>
            <a:r>
              <a:rPr lang="en-US" altLang="zh-CN" b="1" dirty="0"/>
              <a:t>HASH</a:t>
            </a:r>
            <a:r>
              <a:rPr lang="zh-CN" altLang="en-US" b="1" dirty="0"/>
              <a:t>运算性质</a:t>
            </a:r>
          </a:p>
        </p:txBody>
      </p:sp>
      <p:sp>
        <p:nvSpPr>
          <p:cNvPr id="4" name="文本框 3"/>
          <p:cNvSpPr txBox="1"/>
          <p:nvPr/>
        </p:nvSpPr>
        <p:spPr>
          <a:xfrm>
            <a:off x="1865333" y="4784943"/>
            <a:ext cx="4317207" cy="307777"/>
          </a:xfrm>
          <a:prstGeom prst="rect">
            <a:avLst/>
          </a:prstGeom>
          <a:noFill/>
        </p:spPr>
        <p:txBody>
          <a:bodyPr wrap="none" rtlCol="0">
            <a:spAutoFit/>
          </a:bodyPr>
          <a:lstStyle/>
          <a:p>
            <a:r>
              <a:rPr lang="zh-CN" altLang="zh-CN" sz="1400" dirty="0"/>
              <a:t>注意：以上</a:t>
            </a:r>
            <a:r>
              <a:rPr lang="en-US" altLang="zh-CN" sz="1400" dirty="0"/>
              <a:t>2</a:t>
            </a:r>
            <a:r>
              <a:rPr lang="zh-CN" altLang="zh-CN" sz="1400" dirty="0"/>
              <a:t>、</a:t>
            </a:r>
            <a:r>
              <a:rPr lang="en-US" altLang="zh-CN" sz="1400" dirty="0"/>
              <a:t>3</a:t>
            </a:r>
            <a:r>
              <a:rPr lang="zh-CN" altLang="zh-CN" sz="1400" dirty="0"/>
              <a:t>两条性质都是指在计算上不可能实现</a:t>
            </a:r>
          </a:p>
        </p:txBody>
      </p:sp>
    </p:spTree>
    <p:extLst>
      <p:ext uri="{BB962C8B-B14F-4D97-AF65-F5344CB8AC3E}">
        <p14:creationId xmlns:p14="http://schemas.microsoft.com/office/powerpoint/2010/main" val="2085726465"/>
      </p:ext>
    </p:extLst>
  </p:cSld>
  <p:clrMapOvr>
    <a:masterClrMapping/>
  </p:clrMapOvr>
  <p:transition>
    <p:pull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 9"/>
          <p:cNvGrpSpPr/>
          <p:nvPr/>
        </p:nvGrpSpPr>
        <p:grpSpPr>
          <a:xfrm>
            <a:off x="1865333" y="3038911"/>
            <a:ext cx="314985" cy="314985"/>
            <a:chOff x="6728178" y="1941689"/>
            <a:chExt cx="1016000" cy="1016000"/>
          </a:xfrm>
        </p:grpSpPr>
        <p:sp>
          <p:nvSpPr>
            <p:cNvPr id="8" name="椭圆 7"/>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428870"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区块链</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 name="文本框 1"/>
          <p:cNvSpPr txBox="1"/>
          <p:nvPr/>
        </p:nvSpPr>
        <p:spPr>
          <a:xfrm>
            <a:off x="2262941" y="3011737"/>
            <a:ext cx="4326826" cy="338554"/>
          </a:xfrm>
          <a:prstGeom prst="rect">
            <a:avLst/>
          </a:prstGeom>
          <a:noFill/>
        </p:spPr>
        <p:txBody>
          <a:bodyPr wrap="none" rtlCol="0">
            <a:spAutoFit/>
          </a:bodyPr>
          <a:lstStyle/>
          <a:p>
            <a:pPr lvl="0"/>
            <a:r>
              <a:rPr lang="zh-CN" altLang="zh-CN" sz="1600" dirty="0"/>
              <a:t>每个区块</a:t>
            </a:r>
            <a:r>
              <a:rPr lang="zh-CN" altLang="en-US" sz="1600" dirty="0"/>
              <a:t>（</a:t>
            </a:r>
            <a:r>
              <a:rPr lang="en-US" altLang="zh-CN" sz="1600" dirty="0"/>
              <a:t>block</a:t>
            </a:r>
            <a:r>
              <a:rPr lang="zh-CN" altLang="en-US" sz="1600" dirty="0"/>
              <a:t>）</a:t>
            </a:r>
            <a:r>
              <a:rPr lang="zh-CN" altLang="zh-CN" sz="1600" dirty="0"/>
              <a:t>有不超过</a:t>
            </a:r>
            <a:r>
              <a:rPr lang="en-US" altLang="zh-CN" sz="1600" dirty="0"/>
              <a:t>4000</a:t>
            </a:r>
            <a:r>
              <a:rPr lang="zh-CN" altLang="zh-CN" sz="1600" dirty="0"/>
              <a:t>条的交易组成</a:t>
            </a:r>
          </a:p>
        </p:txBody>
      </p:sp>
      <p:grpSp>
        <p:nvGrpSpPr>
          <p:cNvPr id="54" name="组 9"/>
          <p:cNvGrpSpPr/>
          <p:nvPr/>
        </p:nvGrpSpPr>
        <p:grpSpPr>
          <a:xfrm>
            <a:off x="1865333" y="2312959"/>
            <a:ext cx="314985" cy="314985"/>
            <a:chOff x="6728178" y="1941689"/>
            <a:chExt cx="1016000" cy="1016000"/>
          </a:xfrm>
        </p:grpSpPr>
        <p:sp>
          <p:nvSpPr>
            <p:cNvPr id="55" name="椭圆 54"/>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56" name="椭圆 55"/>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57" name="文本框 56"/>
          <p:cNvSpPr txBox="1"/>
          <p:nvPr/>
        </p:nvSpPr>
        <p:spPr>
          <a:xfrm>
            <a:off x="2262941" y="2285785"/>
            <a:ext cx="3499676" cy="338554"/>
          </a:xfrm>
          <a:prstGeom prst="rect">
            <a:avLst/>
          </a:prstGeom>
          <a:noFill/>
        </p:spPr>
        <p:txBody>
          <a:bodyPr wrap="none" rtlCol="0">
            <a:spAutoFit/>
          </a:bodyPr>
          <a:lstStyle/>
          <a:p>
            <a:pPr lvl="0"/>
            <a:r>
              <a:rPr lang="zh-CN" altLang="zh-CN" sz="1600" dirty="0"/>
              <a:t>分布式账本由区块（</a:t>
            </a:r>
            <a:r>
              <a:rPr lang="en-US" altLang="zh-CN" sz="1600" dirty="0"/>
              <a:t>block</a:t>
            </a:r>
            <a:r>
              <a:rPr lang="zh-CN" altLang="zh-CN" sz="1600" dirty="0"/>
              <a:t>）链接形成</a:t>
            </a:r>
          </a:p>
        </p:txBody>
      </p:sp>
      <p:grpSp>
        <p:nvGrpSpPr>
          <p:cNvPr id="58" name="组 9"/>
          <p:cNvGrpSpPr/>
          <p:nvPr/>
        </p:nvGrpSpPr>
        <p:grpSpPr>
          <a:xfrm>
            <a:off x="1865333" y="3761703"/>
            <a:ext cx="314985" cy="314985"/>
            <a:chOff x="6728178" y="1941689"/>
            <a:chExt cx="1016000" cy="1016000"/>
          </a:xfrm>
        </p:grpSpPr>
        <p:sp>
          <p:nvSpPr>
            <p:cNvPr id="59" name="椭圆 58"/>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60" name="椭圆 59"/>
            <p:cNvSpPr/>
            <p:nvPr/>
          </p:nvSpPr>
          <p:spPr>
            <a:xfrm>
              <a:off x="6956778" y="2170289"/>
              <a:ext cx="558800" cy="5588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61" name="文本框 60"/>
          <p:cNvSpPr txBox="1"/>
          <p:nvPr/>
        </p:nvSpPr>
        <p:spPr>
          <a:xfrm>
            <a:off x="2262941" y="3734529"/>
            <a:ext cx="4945456" cy="338554"/>
          </a:xfrm>
          <a:prstGeom prst="rect">
            <a:avLst/>
          </a:prstGeom>
          <a:noFill/>
        </p:spPr>
        <p:txBody>
          <a:bodyPr wrap="none" rtlCol="0">
            <a:spAutoFit/>
          </a:bodyPr>
          <a:lstStyle/>
          <a:p>
            <a:pPr lvl="0"/>
            <a:r>
              <a:rPr lang="zh-CN" altLang="zh-CN" sz="1600" dirty="0"/>
              <a:t>每个区块都有头信息</a:t>
            </a:r>
            <a:r>
              <a:rPr lang="en-US" altLang="zh-CN" sz="1600" dirty="0"/>
              <a:t>Header</a:t>
            </a:r>
            <a:r>
              <a:rPr lang="zh-CN" altLang="zh-CN" sz="1600" dirty="0"/>
              <a:t>（</a:t>
            </a:r>
            <a:r>
              <a:rPr lang="en-US" altLang="zh-CN" sz="1600" dirty="0"/>
              <a:t>hash</a:t>
            </a:r>
            <a:r>
              <a:rPr lang="en-US" altLang="zh-CN" sz="1600" baseline="-25000" dirty="0"/>
              <a:t>pre</a:t>
            </a:r>
            <a:r>
              <a:rPr lang="en-US" altLang="zh-CN" sz="1600" dirty="0"/>
              <a:t>,hash</a:t>
            </a:r>
            <a:r>
              <a:rPr lang="en-US" altLang="zh-CN" sz="1600" baseline="-25000" dirty="0"/>
              <a:t>trans</a:t>
            </a:r>
            <a:r>
              <a:rPr lang="en-US" altLang="zh-CN" sz="1600" dirty="0"/>
              <a:t>,Nonce</a:t>
            </a:r>
            <a:r>
              <a:rPr lang="zh-CN" altLang="zh-CN" sz="1600" dirty="0"/>
              <a:t>）</a:t>
            </a:r>
            <a:endParaRPr lang="en-US" altLang="zh-CN" sz="1600" dirty="0"/>
          </a:p>
        </p:txBody>
      </p:sp>
      <p:sp>
        <p:nvSpPr>
          <p:cNvPr id="3" name="文本框 2"/>
          <p:cNvSpPr txBox="1"/>
          <p:nvPr/>
        </p:nvSpPr>
        <p:spPr>
          <a:xfrm>
            <a:off x="1766388" y="1505379"/>
            <a:ext cx="3422732" cy="369332"/>
          </a:xfrm>
          <a:prstGeom prst="rect">
            <a:avLst/>
          </a:prstGeom>
          <a:noFill/>
        </p:spPr>
        <p:txBody>
          <a:bodyPr wrap="none" rtlCol="0">
            <a:spAutoFit/>
          </a:bodyPr>
          <a:lstStyle/>
          <a:p>
            <a:r>
              <a:rPr lang="zh-CN" altLang="en-US" b="1" dirty="0"/>
              <a:t>区块链数据结构（</a:t>
            </a:r>
            <a:r>
              <a:rPr lang="en-US" altLang="zh-CN" b="1" dirty="0"/>
              <a:t> BlockChain </a:t>
            </a:r>
            <a:r>
              <a:rPr lang="zh-CN" altLang="en-US" b="1" dirty="0"/>
              <a:t>）</a:t>
            </a:r>
          </a:p>
        </p:txBody>
      </p:sp>
      <p:sp>
        <p:nvSpPr>
          <p:cNvPr id="5" name="文本框 4"/>
          <p:cNvSpPr txBox="1"/>
          <p:nvPr/>
        </p:nvSpPr>
        <p:spPr>
          <a:xfrm>
            <a:off x="1865333" y="4459404"/>
            <a:ext cx="6157968" cy="1077218"/>
          </a:xfrm>
          <a:prstGeom prst="rect">
            <a:avLst/>
          </a:prstGeom>
          <a:noFill/>
        </p:spPr>
        <p:txBody>
          <a:bodyPr wrap="none" rtlCol="0">
            <a:spAutoFit/>
          </a:bodyPr>
          <a:lstStyle/>
          <a:p>
            <a:pPr lvl="0"/>
            <a:r>
              <a:rPr lang="en-US" altLang="zh-CN" sz="1600" dirty="0"/>
              <a:t>hash</a:t>
            </a:r>
            <a:r>
              <a:rPr lang="en-US" altLang="zh-CN" sz="1600" baseline="-25000" dirty="0"/>
              <a:t>pre</a:t>
            </a:r>
            <a:r>
              <a:rPr lang="zh-CN" altLang="zh-CN" sz="1600" dirty="0"/>
              <a:t>是前一个区块信息的</a:t>
            </a:r>
            <a:r>
              <a:rPr lang="en-US" altLang="zh-CN" sz="1600" dirty="0"/>
              <a:t>hash</a:t>
            </a:r>
            <a:r>
              <a:rPr lang="zh-CN" altLang="zh-CN" sz="1600" dirty="0"/>
              <a:t>值，</a:t>
            </a:r>
            <a:endParaRPr lang="en-US" altLang="zh-CN" sz="1600" dirty="0"/>
          </a:p>
          <a:p>
            <a:pPr lvl="0"/>
            <a:r>
              <a:rPr lang="en-US" altLang="zh-CN" sz="1600" dirty="0"/>
              <a:t>hash</a:t>
            </a:r>
            <a:r>
              <a:rPr lang="en-US" altLang="zh-CN" sz="1600" baseline="-25000" dirty="0"/>
              <a:t>trans</a:t>
            </a:r>
            <a:r>
              <a:rPr lang="zh-CN" altLang="zh-CN" sz="1600" dirty="0"/>
              <a:t>是本区块中所有交易记录形成的</a:t>
            </a:r>
            <a:r>
              <a:rPr lang="en-US" altLang="zh-CN" sz="1600" dirty="0"/>
              <a:t>Merkel-Tree</a:t>
            </a:r>
            <a:r>
              <a:rPr lang="zh-CN" altLang="zh-CN" sz="1600" dirty="0"/>
              <a:t>的树根的</a:t>
            </a:r>
            <a:r>
              <a:rPr lang="en-US" altLang="zh-CN" sz="1600" dirty="0"/>
              <a:t>hash</a:t>
            </a:r>
            <a:r>
              <a:rPr lang="zh-CN" altLang="zh-CN" sz="1600" dirty="0"/>
              <a:t>值</a:t>
            </a:r>
            <a:endParaRPr lang="en-US" altLang="zh-CN" sz="1600" dirty="0"/>
          </a:p>
          <a:p>
            <a:pPr lvl="0"/>
            <a:r>
              <a:rPr lang="en-US" altLang="zh-CN" sz="1600" dirty="0"/>
              <a:t>Nonce</a:t>
            </a:r>
            <a:r>
              <a:rPr lang="zh-CN" altLang="zh-CN" sz="1600" dirty="0"/>
              <a:t>是</a:t>
            </a:r>
            <a:r>
              <a:rPr lang="en-US" altLang="zh-CN" sz="1600" dirty="0"/>
              <a:t>proof-of-work</a:t>
            </a:r>
            <a:r>
              <a:rPr lang="zh-CN" altLang="zh-CN" sz="1600" dirty="0"/>
              <a:t>机制中计算出的随机数值。</a:t>
            </a:r>
          </a:p>
          <a:p>
            <a:endParaRPr lang="zh-CN" altLang="en-US" sz="1600" dirty="0"/>
          </a:p>
        </p:txBody>
      </p:sp>
    </p:spTree>
    <p:extLst>
      <p:ext uri="{BB962C8B-B14F-4D97-AF65-F5344CB8AC3E}">
        <p14:creationId xmlns:p14="http://schemas.microsoft.com/office/powerpoint/2010/main" val="2512097933"/>
      </p:ext>
    </p:extLst>
  </p:cSld>
  <p:clrMapOvr>
    <a:masterClrMapping/>
  </p:clrMapOvr>
  <p:transition>
    <p:pull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428870"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区块链</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cxnSp>
        <p:nvCxnSpPr>
          <p:cNvPr id="6" name="直接箭头连接符 5"/>
          <p:cNvCxnSpPr>
            <a:stCxn id="3" idx="2"/>
            <a:endCxn id="4" idx="0"/>
          </p:cNvCxnSpPr>
          <p:nvPr/>
        </p:nvCxnSpPr>
        <p:spPr>
          <a:xfrm>
            <a:off x="3360627" y="2432426"/>
            <a:ext cx="785014" cy="463826"/>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003189" y="1184650"/>
            <a:ext cx="7057649" cy="1247776"/>
            <a:chOff x="1003189" y="1184650"/>
            <a:chExt cx="7057649" cy="1247776"/>
          </a:xfrm>
        </p:grpSpPr>
        <p:pic>
          <p:nvPicPr>
            <p:cNvPr id="3" name="图片 2"/>
            <p:cNvPicPr>
              <a:picLocks noChangeAspect="1"/>
            </p:cNvPicPr>
            <p:nvPr/>
          </p:nvPicPr>
          <p:blipFill>
            <a:blip r:embed="rId2"/>
            <a:stretch>
              <a:fillRect/>
            </a:stretch>
          </p:blipFill>
          <p:spPr>
            <a:xfrm>
              <a:off x="1003189" y="1184651"/>
              <a:ext cx="4714875" cy="1247775"/>
            </a:xfrm>
            <a:prstGeom prst="rect">
              <a:avLst/>
            </a:prstGeom>
          </p:spPr>
        </p:pic>
        <p:pic>
          <p:nvPicPr>
            <p:cNvPr id="37" name="图片 36"/>
            <p:cNvPicPr>
              <a:picLocks noChangeAspect="1"/>
            </p:cNvPicPr>
            <p:nvPr/>
          </p:nvPicPr>
          <p:blipFill rotWithShape="1">
            <a:blip r:embed="rId2"/>
            <a:srcRect l="3398" r="44515"/>
            <a:stretch/>
          </p:blipFill>
          <p:spPr>
            <a:xfrm>
              <a:off x="5605021" y="1184650"/>
              <a:ext cx="2455817" cy="1247775"/>
            </a:xfrm>
            <a:prstGeom prst="rect">
              <a:avLst/>
            </a:prstGeom>
          </p:spPr>
        </p:pic>
      </p:grpSp>
      <p:sp>
        <p:nvSpPr>
          <p:cNvPr id="7" name="矩形标注 6"/>
          <p:cNvSpPr/>
          <p:nvPr/>
        </p:nvSpPr>
        <p:spPr>
          <a:xfrm>
            <a:off x="6152606" y="273668"/>
            <a:ext cx="1358537" cy="871794"/>
          </a:xfrm>
          <a:prstGeom prst="wedgeRect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区块链</a:t>
            </a:r>
          </a:p>
        </p:txBody>
      </p:sp>
      <p:pic>
        <p:nvPicPr>
          <p:cNvPr id="4" name="图片 3"/>
          <p:cNvPicPr>
            <a:picLocks noChangeAspect="1"/>
          </p:cNvPicPr>
          <p:nvPr/>
        </p:nvPicPr>
        <p:blipFill>
          <a:blip r:embed="rId3"/>
          <a:stretch>
            <a:fillRect/>
          </a:stretch>
        </p:blipFill>
        <p:spPr>
          <a:xfrm>
            <a:off x="2497084" y="2896252"/>
            <a:ext cx="3297114" cy="3739680"/>
          </a:xfrm>
          <a:prstGeom prst="rect">
            <a:avLst/>
          </a:prstGeom>
        </p:spPr>
      </p:pic>
      <p:sp>
        <p:nvSpPr>
          <p:cNvPr id="12" name="矩形 11"/>
          <p:cNvSpPr/>
          <p:nvPr/>
        </p:nvSpPr>
        <p:spPr>
          <a:xfrm>
            <a:off x="2259875" y="3775166"/>
            <a:ext cx="3384335" cy="24688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794198" y="5874714"/>
            <a:ext cx="1348446" cy="369332"/>
          </a:xfrm>
          <a:prstGeom prst="rect">
            <a:avLst/>
          </a:prstGeom>
          <a:noFill/>
        </p:spPr>
        <p:txBody>
          <a:bodyPr wrap="none" rtlCol="0">
            <a:spAutoFit/>
          </a:bodyPr>
          <a:lstStyle/>
          <a:p>
            <a:r>
              <a:rPr lang="en-US" altLang="zh-CN" b="1" dirty="0">
                <a:solidFill>
                  <a:srgbClr val="FF0000"/>
                </a:solidFill>
              </a:rPr>
              <a:t>Merkle-Tree</a:t>
            </a:r>
            <a:endParaRPr lang="zh-CN" altLang="en-US" b="1" dirty="0">
              <a:solidFill>
                <a:srgbClr val="FF0000"/>
              </a:solidFill>
            </a:endParaRPr>
          </a:p>
        </p:txBody>
      </p:sp>
      <p:sp>
        <p:nvSpPr>
          <p:cNvPr id="11" name="矩形标注 10"/>
          <p:cNvSpPr/>
          <p:nvPr/>
        </p:nvSpPr>
        <p:spPr>
          <a:xfrm>
            <a:off x="5794198" y="3735977"/>
            <a:ext cx="1358537" cy="666206"/>
          </a:xfrm>
          <a:prstGeom prst="wedgeRectCallout">
            <a:avLst>
              <a:gd name="adj1" fmla="val -57371"/>
              <a:gd name="adj2" fmla="val -2181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区块</a:t>
            </a:r>
          </a:p>
        </p:txBody>
      </p:sp>
    </p:spTree>
    <p:extLst>
      <p:ext uri="{BB962C8B-B14F-4D97-AF65-F5344CB8AC3E}">
        <p14:creationId xmlns:p14="http://schemas.microsoft.com/office/powerpoint/2010/main" val="3558644847"/>
      </p:ext>
    </p:extLst>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250"/>
                                        <p:tgtEl>
                                          <p:spTgt spid="6"/>
                                        </p:tgtEl>
                                      </p:cBhvr>
                                    </p:animEffect>
                                  </p:childTnLst>
                                </p:cTn>
                              </p:par>
                            </p:childTnLst>
                          </p:cTn>
                        </p:par>
                        <p:par>
                          <p:cTn id="15" fill="hold">
                            <p:stCondLst>
                              <p:cond delay="250"/>
                            </p:stCondLst>
                            <p:childTnLst>
                              <p:par>
                                <p:cTn id="16" presetID="10"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250"/>
                                        <p:tgtEl>
                                          <p:spTgt spid="4"/>
                                        </p:tgtEl>
                                      </p:cBhvr>
                                    </p:animEffect>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anim calcmode="lin" valueType="num">
                                      <p:cBhvr>
                                        <p:cTn id="23" dur="500" fill="hold"/>
                                        <p:tgtEl>
                                          <p:spTgt spid="11"/>
                                        </p:tgtEl>
                                        <p:attrNameLst>
                                          <p:attrName>ppt_x</p:attrName>
                                        </p:attrNameLst>
                                      </p:cBhvr>
                                      <p:tavLst>
                                        <p:tav tm="0">
                                          <p:val>
                                            <p:strVal val="#ppt_x"/>
                                          </p:val>
                                        </p:tav>
                                        <p:tav tm="100000">
                                          <p:val>
                                            <p:strVal val="#ppt_x"/>
                                          </p:val>
                                        </p:tav>
                                      </p:tavLst>
                                    </p:anim>
                                    <p:anim calcmode="lin" valueType="num">
                                      <p:cBhvr>
                                        <p:cTn id="2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428870"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区块链</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 name="文本框 2"/>
          <p:cNvSpPr txBox="1"/>
          <p:nvPr/>
        </p:nvSpPr>
        <p:spPr>
          <a:xfrm>
            <a:off x="3005392" y="652103"/>
            <a:ext cx="2855269" cy="369332"/>
          </a:xfrm>
          <a:prstGeom prst="rect">
            <a:avLst/>
          </a:prstGeom>
          <a:noFill/>
        </p:spPr>
        <p:txBody>
          <a:bodyPr wrap="none" rtlCol="0">
            <a:spAutoFit/>
          </a:bodyPr>
          <a:lstStyle/>
          <a:p>
            <a:r>
              <a:rPr lang="en-US" altLang="zh-CN" b="1" dirty="0"/>
              <a:t>BlockChain</a:t>
            </a:r>
            <a:r>
              <a:rPr lang="zh-CN" altLang="en-US" b="1" dirty="0"/>
              <a:t>性质：链式反应</a:t>
            </a:r>
          </a:p>
        </p:txBody>
      </p:sp>
      <p:cxnSp>
        <p:nvCxnSpPr>
          <p:cNvPr id="15" name="直接箭头连接符 14"/>
          <p:cNvCxnSpPr>
            <a:stCxn id="18" idx="2"/>
            <a:endCxn id="17" idx="0"/>
          </p:cNvCxnSpPr>
          <p:nvPr/>
        </p:nvCxnSpPr>
        <p:spPr>
          <a:xfrm>
            <a:off x="3648013" y="2412343"/>
            <a:ext cx="785014" cy="463826"/>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290575" y="1164567"/>
            <a:ext cx="7057649" cy="1247776"/>
            <a:chOff x="1003189" y="1184650"/>
            <a:chExt cx="7057649" cy="1247776"/>
          </a:xfrm>
        </p:grpSpPr>
        <p:pic>
          <p:nvPicPr>
            <p:cNvPr id="18" name="图片 17"/>
            <p:cNvPicPr>
              <a:picLocks noChangeAspect="1"/>
            </p:cNvPicPr>
            <p:nvPr/>
          </p:nvPicPr>
          <p:blipFill>
            <a:blip r:embed="rId2"/>
            <a:stretch>
              <a:fillRect/>
            </a:stretch>
          </p:blipFill>
          <p:spPr>
            <a:xfrm>
              <a:off x="1003189" y="1184651"/>
              <a:ext cx="4714875" cy="1247775"/>
            </a:xfrm>
            <a:prstGeom prst="rect">
              <a:avLst/>
            </a:prstGeom>
          </p:spPr>
        </p:pic>
        <p:pic>
          <p:nvPicPr>
            <p:cNvPr id="19" name="图片 18"/>
            <p:cNvPicPr>
              <a:picLocks noChangeAspect="1"/>
            </p:cNvPicPr>
            <p:nvPr/>
          </p:nvPicPr>
          <p:blipFill rotWithShape="1">
            <a:blip r:embed="rId2"/>
            <a:srcRect l="3398" r="44515"/>
            <a:stretch/>
          </p:blipFill>
          <p:spPr>
            <a:xfrm>
              <a:off x="5605021" y="1184650"/>
              <a:ext cx="2455817" cy="1247775"/>
            </a:xfrm>
            <a:prstGeom prst="rect">
              <a:avLst/>
            </a:prstGeom>
          </p:spPr>
        </p:pic>
      </p:grpSp>
      <p:pic>
        <p:nvPicPr>
          <p:cNvPr id="17" name="图片 16"/>
          <p:cNvPicPr>
            <a:picLocks noChangeAspect="1"/>
          </p:cNvPicPr>
          <p:nvPr/>
        </p:nvPicPr>
        <p:blipFill>
          <a:blip r:embed="rId3"/>
          <a:stretch>
            <a:fillRect/>
          </a:stretch>
        </p:blipFill>
        <p:spPr>
          <a:xfrm>
            <a:off x="2784470" y="2876169"/>
            <a:ext cx="3297114" cy="3739680"/>
          </a:xfrm>
          <a:prstGeom prst="rect">
            <a:avLst/>
          </a:prstGeom>
        </p:spPr>
      </p:pic>
      <p:sp>
        <p:nvSpPr>
          <p:cNvPr id="4" name="矩形 3"/>
          <p:cNvSpPr/>
          <p:nvPr/>
        </p:nvSpPr>
        <p:spPr>
          <a:xfrm>
            <a:off x="3038631" y="5773762"/>
            <a:ext cx="658157" cy="389660"/>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1" name="矩形 20"/>
          <p:cNvSpPr/>
          <p:nvPr/>
        </p:nvSpPr>
        <p:spPr>
          <a:xfrm>
            <a:off x="3038631" y="5178315"/>
            <a:ext cx="658157" cy="389660"/>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2" name="矩形 21"/>
          <p:cNvSpPr/>
          <p:nvPr/>
        </p:nvSpPr>
        <p:spPr>
          <a:xfrm>
            <a:off x="3279744" y="4451743"/>
            <a:ext cx="926496" cy="389660"/>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a:p>
        </p:txBody>
      </p:sp>
      <p:sp>
        <p:nvSpPr>
          <p:cNvPr id="23" name="矩形 22"/>
          <p:cNvSpPr/>
          <p:nvPr/>
        </p:nvSpPr>
        <p:spPr>
          <a:xfrm>
            <a:off x="3895391" y="3714176"/>
            <a:ext cx="1146871" cy="389660"/>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a:p>
        </p:txBody>
      </p:sp>
      <p:sp>
        <p:nvSpPr>
          <p:cNvPr id="24" name="矩形 23"/>
          <p:cNvSpPr/>
          <p:nvPr/>
        </p:nvSpPr>
        <p:spPr>
          <a:xfrm>
            <a:off x="4468826" y="3015768"/>
            <a:ext cx="1146871" cy="376627"/>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a:p>
        </p:txBody>
      </p:sp>
      <p:sp>
        <p:nvSpPr>
          <p:cNvPr id="27" name="矩形 26"/>
          <p:cNvSpPr/>
          <p:nvPr/>
        </p:nvSpPr>
        <p:spPr>
          <a:xfrm>
            <a:off x="4143693" y="1556997"/>
            <a:ext cx="1055326" cy="376627"/>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a:p>
        </p:txBody>
      </p:sp>
      <p:sp>
        <p:nvSpPr>
          <p:cNvPr id="28" name="矩形 27"/>
          <p:cNvSpPr/>
          <p:nvPr/>
        </p:nvSpPr>
        <p:spPr>
          <a:xfrm>
            <a:off x="6357252" y="1556996"/>
            <a:ext cx="1055326" cy="376627"/>
          </a:xfrm>
          <a:prstGeom prst="rect">
            <a:avLst/>
          </a:prstGeom>
          <a:noFill/>
          <a:ln w="3492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3160630574"/>
      </p:ext>
    </p:extLst>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P spid="22" grpId="0" animBg="1"/>
      <p:bldP spid="23" grpId="0" animBg="1"/>
      <p:bldP spid="24"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249334"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交易</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 name="文本框 2"/>
          <p:cNvSpPr txBox="1"/>
          <p:nvPr/>
        </p:nvSpPr>
        <p:spPr>
          <a:xfrm>
            <a:off x="1357029" y="1281135"/>
            <a:ext cx="1338828" cy="369332"/>
          </a:xfrm>
          <a:prstGeom prst="rect">
            <a:avLst/>
          </a:prstGeom>
          <a:noFill/>
        </p:spPr>
        <p:txBody>
          <a:bodyPr wrap="none" rtlCol="0">
            <a:spAutoFit/>
          </a:bodyPr>
          <a:lstStyle/>
          <a:p>
            <a:r>
              <a:rPr lang="zh-CN" altLang="en-US" b="1" dirty="0"/>
              <a:t>比特币交易</a:t>
            </a:r>
          </a:p>
        </p:txBody>
      </p:sp>
      <p:sp>
        <p:nvSpPr>
          <p:cNvPr id="5" name="矩形 4"/>
          <p:cNvSpPr/>
          <p:nvPr/>
        </p:nvSpPr>
        <p:spPr>
          <a:xfrm>
            <a:off x="1515291" y="2116183"/>
            <a:ext cx="6021978" cy="4833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Transaction:= (Pub_key</a:t>
            </a:r>
            <a:r>
              <a:rPr lang="en-US" altLang="zh-CN" sz="2000" baseline="-25000" dirty="0"/>
              <a:t>receiver </a:t>
            </a:r>
            <a:r>
              <a:rPr lang="en-US" altLang="zh-CN" sz="2000" dirty="0"/>
              <a:t>,Ori_trans , Sign</a:t>
            </a:r>
            <a:r>
              <a:rPr lang="en-US" altLang="zh-CN" sz="2000" baseline="-25000" dirty="0"/>
              <a:t>sender</a:t>
            </a:r>
            <a:r>
              <a:rPr lang="en-US" altLang="zh-CN" sz="2000" dirty="0"/>
              <a:t>)</a:t>
            </a:r>
            <a:endParaRPr lang="zh-CN" altLang="zh-CN" sz="2000" dirty="0"/>
          </a:p>
        </p:txBody>
      </p:sp>
      <p:grpSp>
        <p:nvGrpSpPr>
          <p:cNvPr id="21" name="组 9"/>
          <p:cNvGrpSpPr/>
          <p:nvPr/>
        </p:nvGrpSpPr>
        <p:grpSpPr>
          <a:xfrm>
            <a:off x="1782711" y="3011739"/>
            <a:ext cx="244114" cy="244114"/>
            <a:chOff x="6728178" y="1941689"/>
            <a:chExt cx="1016000" cy="1016000"/>
          </a:xfrm>
        </p:grpSpPr>
        <p:sp>
          <p:nvSpPr>
            <p:cNvPr id="22" name="椭圆 21"/>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23" name="椭圆 22"/>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24" name="文本框 23"/>
          <p:cNvSpPr txBox="1"/>
          <p:nvPr/>
        </p:nvSpPr>
        <p:spPr>
          <a:xfrm>
            <a:off x="2180318" y="2984564"/>
            <a:ext cx="4413581" cy="338554"/>
          </a:xfrm>
          <a:prstGeom prst="rect">
            <a:avLst/>
          </a:prstGeom>
          <a:noFill/>
        </p:spPr>
        <p:txBody>
          <a:bodyPr wrap="none" rtlCol="0">
            <a:spAutoFit/>
          </a:bodyPr>
          <a:lstStyle/>
          <a:p>
            <a:pPr lvl="0"/>
            <a:r>
              <a:rPr lang="en-US" altLang="zh-CN" sz="1600" dirty="0"/>
              <a:t>Pub_key</a:t>
            </a:r>
            <a:r>
              <a:rPr lang="en-US" altLang="zh-CN" sz="1600" baseline="-25000" dirty="0"/>
              <a:t>receiver</a:t>
            </a:r>
            <a:r>
              <a:rPr lang="zh-CN" altLang="zh-CN" sz="1600" dirty="0"/>
              <a:t>指的是交易收款方的账户（公钥）</a:t>
            </a:r>
          </a:p>
        </p:txBody>
      </p:sp>
      <p:grpSp>
        <p:nvGrpSpPr>
          <p:cNvPr id="33" name="组 9"/>
          <p:cNvGrpSpPr/>
          <p:nvPr/>
        </p:nvGrpSpPr>
        <p:grpSpPr>
          <a:xfrm>
            <a:off x="1781618" y="3538502"/>
            <a:ext cx="244114" cy="244114"/>
            <a:chOff x="6728178" y="1941689"/>
            <a:chExt cx="1016000" cy="1016000"/>
          </a:xfrm>
        </p:grpSpPr>
        <p:sp>
          <p:nvSpPr>
            <p:cNvPr id="34" name="椭圆 33"/>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35" name="椭圆 34"/>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36" name="文本框 35"/>
          <p:cNvSpPr txBox="1"/>
          <p:nvPr/>
        </p:nvSpPr>
        <p:spPr>
          <a:xfrm>
            <a:off x="2179225" y="3511327"/>
            <a:ext cx="4345036" cy="338554"/>
          </a:xfrm>
          <a:prstGeom prst="rect">
            <a:avLst/>
          </a:prstGeom>
          <a:noFill/>
        </p:spPr>
        <p:txBody>
          <a:bodyPr wrap="none" rtlCol="0">
            <a:spAutoFit/>
          </a:bodyPr>
          <a:lstStyle/>
          <a:p>
            <a:pPr lvl="0"/>
            <a:r>
              <a:rPr lang="en-US" altLang="zh-CN" sz="1600" dirty="0"/>
              <a:t>Ori_tras</a:t>
            </a:r>
            <a:r>
              <a:rPr lang="zh-CN" altLang="zh-CN" sz="1600" dirty="0"/>
              <a:t>指的是交易金额的来源，来源也是交易</a:t>
            </a:r>
          </a:p>
        </p:txBody>
      </p:sp>
      <p:grpSp>
        <p:nvGrpSpPr>
          <p:cNvPr id="37" name="组 9"/>
          <p:cNvGrpSpPr/>
          <p:nvPr/>
        </p:nvGrpSpPr>
        <p:grpSpPr>
          <a:xfrm>
            <a:off x="1780525" y="4037355"/>
            <a:ext cx="244114" cy="244114"/>
            <a:chOff x="6728178" y="1941689"/>
            <a:chExt cx="1016000" cy="1016000"/>
          </a:xfrm>
        </p:grpSpPr>
        <p:sp>
          <p:nvSpPr>
            <p:cNvPr id="38" name="椭圆 37"/>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39" name="椭圆 38"/>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40" name="文本框 39"/>
          <p:cNvSpPr txBox="1"/>
          <p:nvPr/>
        </p:nvSpPr>
        <p:spPr>
          <a:xfrm>
            <a:off x="2178132" y="4010180"/>
            <a:ext cx="3576620" cy="338554"/>
          </a:xfrm>
          <a:prstGeom prst="rect">
            <a:avLst/>
          </a:prstGeom>
          <a:noFill/>
        </p:spPr>
        <p:txBody>
          <a:bodyPr wrap="none" rtlCol="0">
            <a:spAutoFit/>
          </a:bodyPr>
          <a:lstStyle/>
          <a:p>
            <a:pPr lvl="0"/>
            <a:r>
              <a:rPr lang="en-US" altLang="zh-CN" sz="1600" dirty="0"/>
              <a:t>Sign</a:t>
            </a:r>
            <a:r>
              <a:rPr lang="en-US" altLang="zh-CN" sz="1600" baseline="-25000" dirty="0"/>
              <a:t>sender</a:t>
            </a:r>
            <a:r>
              <a:rPr lang="zh-CN" altLang="zh-CN" sz="1600" dirty="0"/>
              <a:t>指的是付款方的签名（私钥）</a:t>
            </a:r>
          </a:p>
        </p:txBody>
      </p:sp>
      <p:grpSp>
        <p:nvGrpSpPr>
          <p:cNvPr id="41" name="组 9"/>
          <p:cNvGrpSpPr/>
          <p:nvPr/>
        </p:nvGrpSpPr>
        <p:grpSpPr>
          <a:xfrm>
            <a:off x="1780525" y="4561970"/>
            <a:ext cx="244114" cy="244114"/>
            <a:chOff x="6728178" y="1941689"/>
            <a:chExt cx="1016000" cy="1016000"/>
          </a:xfrm>
        </p:grpSpPr>
        <p:sp>
          <p:nvSpPr>
            <p:cNvPr id="42" name="椭圆 41"/>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43" name="椭圆 42"/>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44" name="文本框 43"/>
          <p:cNvSpPr txBox="1"/>
          <p:nvPr/>
        </p:nvSpPr>
        <p:spPr>
          <a:xfrm>
            <a:off x="2178132" y="4534795"/>
            <a:ext cx="5314275" cy="1107996"/>
          </a:xfrm>
          <a:prstGeom prst="rect">
            <a:avLst/>
          </a:prstGeom>
          <a:noFill/>
        </p:spPr>
        <p:txBody>
          <a:bodyPr wrap="none" rtlCol="0">
            <a:spAutoFit/>
          </a:bodyPr>
          <a:lstStyle/>
          <a:p>
            <a:pPr lvl="0"/>
            <a:r>
              <a:rPr lang="en-US" altLang="zh-CN" sz="1600" dirty="0"/>
              <a:t>Sign</a:t>
            </a:r>
            <a:r>
              <a:rPr lang="en-US" altLang="zh-CN" sz="1600" baseline="-25000" dirty="0"/>
              <a:t>sender</a:t>
            </a:r>
            <a:r>
              <a:rPr lang="en-US" altLang="zh-CN" sz="1600" dirty="0"/>
              <a:t>:= Encrypt</a:t>
            </a:r>
            <a:r>
              <a:rPr lang="en-US" altLang="zh-CN" sz="1600" baseline="-25000" dirty="0"/>
              <a:t>pri_key</a:t>
            </a:r>
            <a:r>
              <a:rPr lang="en-US" altLang="zh-CN" sz="1600" dirty="0"/>
              <a:t>(HASH(Ori_trans+ Pub_key</a:t>
            </a:r>
            <a:r>
              <a:rPr lang="en-US" altLang="zh-CN" sz="1600" baseline="-25000" dirty="0"/>
              <a:t>receiver</a:t>
            </a:r>
            <a:r>
              <a:rPr lang="en-US" altLang="zh-CN" sz="1600" dirty="0"/>
              <a:t>))</a:t>
            </a:r>
            <a:endParaRPr lang="zh-CN" altLang="zh-CN" sz="1600" dirty="0"/>
          </a:p>
          <a:p>
            <a:endParaRPr lang="en-US" altLang="zh-CN" sz="1600" dirty="0"/>
          </a:p>
          <a:p>
            <a:r>
              <a:rPr lang="zh-CN" altLang="zh-CN" sz="1600" dirty="0"/>
              <a:t>即使用付款方的私钥加密本次交易中指定的之前的交易和</a:t>
            </a:r>
            <a:endParaRPr lang="en-US" altLang="zh-CN" sz="1600" dirty="0"/>
          </a:p>
          <a:p>
            <a:r>
              <a:rPr lang="zh-CN" altLang="zh-CN" sz="1600" dirty="0"/>
              <a:t>收款方公钥的</a:t>
            </a:r>
            <a:r>
              <a:rPr lang="en-US" altLang="zh-CN" sz="1600" dirty="0"/>
              <a:t>hash</a:t>
            </a:r>
            <a:r>
              <a:rPr lang="zh-CN" altLang="zh-CN" sz="1600" dirty="0"/>
              <a:t>值。</a:t>
            </a:r>
          </a:p>
        </p:txBody>
      </p:sp>
    </p:spTree>
    <p:extLst>
      <p:ext uri="{BB962C8B-B14F-4D97-AF65-F5344CB8AC3E}">
        <p14:creationId xmlns:p14="http://schemas.microsoft.com/office/powerpoint/2010/main" val="26239542"/>
      </p:ext>
    </p:extLst>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childTnLst>
                          </p:cTn>
                        </p:par>
                        <p:par>
                          <p:cTn id="11" fill="hold">
                            <p:stCondLst>
                              <p:cond delay="250"/>
                            </p:stCondLst>
                            <p:childTnLst>
                              <p:par>
                                <p:cTn id="12" presetID="10" presetClass="entr" presetSubtype="0" fill="hold" nodeType="afterEffect">
                                  <p:stCondLst>
                                    <p:cond delay="25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250"/>
                                        <p:tgtEl>
                                          <p:spTgt spid="33"/>
                                        </p:tgtEl>
                                      </p:cBhvr>
                                    </p:animEffect>
                                  </p:childTnLst>
                                </p:cTn>
                              </p:par>
                              <p:par>
                                <p:cTn id="15" presetID="10" presetClass="entr" presetSubtype="0" fill="hold" grpId="0" nodeType="withEffect">
                                  <p:stCondLst>
                                    <p:cond delay="25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250"/>
                                        <p:tgtEl>
                                          <p:spTgt spid="36"/>
                                        </p:tgtEl>
                                      </p:cBhvr>
                                    </p:animEffect>
                                  </p:childTnLst>
                                </p:cTn>
                              </p:par>
                            </p:childTnLst>
                          </p:cTn>
                        </p:par>
                        <p:par>
                          <p:cTn id="18" fill="hold">
                            <p:stCondLst>
                              <p:cond delay="750"/>
                            </p:stCondLst>
                            <p:childTnLst>
                              <p:par>
                                <p:cTn id="19" presetID="10" presetClass="entr" presetSubtype="0" fill="hold" nodeType="afterEffect">
                                  <p:stCondLst>
                                    <p:cond delay="25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250"/>
                                        <p:tgtEl>
                                          <p:spTgt spid="37"/>
                                        </p:tgtEl>
                                      </p:cBhvr>
                                    </p:animEffect>
                                  </p:childTnLst>
                                </p:cTn>
                              </p:par>
                              <p:par>
                                <p:cTn id="22" presetID="10" presetClass="entr" presetSubtype="0" fill="hold" grpId="0" nodeType="withEffect">
                                  <p:stCondLst>
                                    <p:cond delay="25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250"/>
                                        <p:tgtEl>
                                          <p:spTgt spid="40"/>
                                        </p:tgtEl>
                                      </p:cBhvr>
                                    </p:animEffect>
                                  </p:childTnLst>
                                </p:cTn>
                              </p:par>
                            </p:childTnLst>
                          </p:cTn>
                        </p:par>
                        <p:par>
                          <p:cTn id="25" fill="hold">
                            <p:stCondLst>
                              <p:cond delay="1250"/>
                            </p:stCondLst>
                            <p:childTnLst>
                              <p:par>
                                <p:cTn id="26" presetID="10" presetClass="entr" presetSubtype="0" fill="hold" nodeType="afterEffect">
                                  <p:stCondLst>
                                    <p:cond delay="25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250"/>
                                        <p:tgtEl>
                                          <p:spTgt spid="4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2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6" grpId="0"/>
      <p:bldP spid="40"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967479"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交易签名验证</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 name="文本框 2"/>
          <p:cNvSpPr txBox="1"/>
          <p:nvPr/>
        </p:nvSpPr>
        <p:spPr>
          <a:xfrm>
            <a:off x="1357029" y="928434"/>
            <a:ext cx="2262158" cy="369332"/>
          </a:xfrm>
          <a:prstGeom prst="rect">
            <a:avLst/>
          </a:prstGeom>
          <a:noFill/>
        </p:spPr>
        <p:txBody>
          <a:bodyPr wrap="none" rtlCol="0">
            <a:spAutoFit/>
          </a:bodyPr>
          <a:lstStyle/>
          <a:p>
            <a:r>
              <a:rPr lang="zh-CN" altLang="en-US" b="1" dirty="0"/>
              <a:t>比特币交易签名验证</a:t>
            </a:r>
          </a:p>
        </p:txBody>
      </p:sp>
      <p:pic>
        <p:nvPicPr>
          <p:cNvPr id="6" name="图片 5"/>
          <p:cNvPicPr>
            <a:picLocks noChangeAspect="1"/>
          </p:cNvPicPr>
          <p:nvPr/>
        </p:nvPicPr>
        <p:blipFill>
          <a:blip r:embed="rId2"/>
          <a:stretch>
            <a:fillRect/>
          </a:stretch>
        </p:blipFill>
        <p:spPr>
          <a:xfrm>
            <a:off x="1592157" y="2101961"/>
            <a:ext cx="5709104" cy="3534207"/>
          </a:xfrm>
          <a:prstGeom prst="rect">
            <a:avLst/>
          </a:prstGeom>
        </p:spPr>
      </p:pic>
      <p:sp>
        <p:nvSpPr>
          <p:cNvPr id="2" name="矩形标注 1"/>
          <p:cNvSpPr/>
          <p:nvPr/>
        </p:nvSpPr>
        <p:spPr>
          <a:xfrm>
            <a:off x="2362773" y="1531488"/>
            <a:ext cx="3528576" cy="583535"/>
          </a:xfrm>
          <a:prstGeom prst="wedgeRectCallout">
            <a:avLst>
              <a:gd name="adj1" fmla="val -28390"/>
              <a:gd name="adj2" fmla="val 758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t>1. </a:t>
            </a:r>
            <a:r>
              <a:rPr lang="zh-CN" altLang="en-US" sz="1600" b="1" dirty="0"/>
              <a:t>从前一个交易中获取支付方的公钥</a:t>
            </a:r>
          </a:p>
        </p:txBody>
      </p:sp>
      <p:sp>
        <p:nvSpPr>
          <p:cNvPr id="27" name="矩形标注 26"/>
          <p:cNvSpPr/>
          <p:nvPr/>
        </p:nvSpPr>
        <p:spPr>
          <a:xfrm>
            <a:off x="5248156" y="3958203"/>
            <a:ext cx="3071373" cy="583535"/>
          </a:xfrm>
          <a:prstGeom prst="wedgeRectCallout">
            <a:avLst>
              <a:gd name="adj1" fmla="val -55185"/>
              <a:gd name="adj2" fmla="val 17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t>2. </a:t>
            </a:r>
            <a:r>
              <a:rPr lang="zh-CN" altLang="en-US" sz="1600" b="1" dirty="0"/>
              <a:t>使用公钥解密签名信息</a:t>
            </a:r>
          </a:p>
        </p:txBody>
      </p:sp>
      <p:sp>
        <p:nvSpPr>
          <p:cNvPr id="28" name="矩形标注 27"/>
          <p:cNvSpPr/>
          <p:nvPr/>
        </p:nvSpPr>
        <p:spPr>
          <a:xfrm>
            <a:off x="5248156" y="2863773"/>
            <a:ext cx="3071373" cy="689324"/>
          </a:xfrm>
          <a:prstGeom prst="wedgeRectCallout">
            <a:avLst>
              <a:gd name="adj1" fmla="val -61990"/>
              <a:gd name="adj2" fmla="val 602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t>3. </a:t>
            </a:r>
            <a:r>
              <a:rPr lang="zh-CN" altLang="en-US" sz="1600" b="1" dirty="0"/>
              <a:t>验证本交易中的</a:t>
            </a:r>
            <a:r>
              <a:rPr lang="en-US" altLang="zh-CN" sz="1600" b="1" dirty="0"/>
              <a:t>Hash</a:t>
            </a:r>
            <a:r>
              <a:rPr lang="zh-CN" altLang="en-US" sz="1600" b="1" dirty="0"/>
              <a:t>值和签名解密后的</a:t>
            </a:r>
            <a:r>
              <a:rPr lang="en-US" altLang="zh-CN" sz="1600" b="1" dirty="0"/>
              <a:t>Hash</a:t>
            </a:r>
            <a:r>
              <a:rPr lang="zh-CN" altLang="en-US" sz="1600" b="1" dirty="0"/>
              <a:t>值是否相同</a:t>
            </a:r>
          </a:p>
        </p:txBody>
      </p:sp>
    </p:spTree>
    <p:extLst>
      <p:ext uri="{BB962C8B-B14F-4D97-AF65-F5344CB8AC3E}">
        <p14:creationId xmlns:p14="http://schemas.microsoft.com/office/powerpoint/2010/main" val="103679123"/>
      </p:ext>
    </p:extLst>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3147015"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区块链工作机制</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 name="文本框 2"/>
          <p:cNvSpPr txBox="1"/>
          <p:nvPr/>
        </p:nvSpPr>
        <p:spPr>
          <a:xfrm>
            <a:off x="1487659" y="1281135"/>
            <a:ext cx="2262158" cy="369332"/>
          </a:xfrm>
          <a:prstGeom prst="rect">
            <a:avLst/>
          </a:prstGeom>
          <a:noFill/>
        </p:spPr>
        <p:txBody>
          <a:bodyPr wrap="none" rtlCol="0">
            <a:spAutoFit/>
          </a:bodyPr>
          <a:lstStyle/>
          <a:p>
            <a:r>
              <a:rPr lang="zh-CN" altLang="en-US" b="1" dirty="0"/>
              <a:t>区块链网络工作机制</a:t>
            </a:r>
          </a:p>
        </p:txBody>
      </p:sp>
      <p:grpSp>
        <p:nvGrpSpPr>
          <p:cNvPr id="21" name="组 9"/>
          <p:cNvGrpSpPr/>
          <p:nvPr/>
        </p:nvGrpSpPr>
        <p:grpSpPr>
          <a:xfrm>
            <a:off x="1678207" y="1968812"/>
            <a:ext cx="244114" cy="244114"/>
            <a:chOff x="6728178" y="1941689"/>
            <a:chExt cx="1016000" cy="1016000"/>
          </a:xfrm>
        </p:grpSpPr>
        <p:sp>
          <p:nvSpPr>
            <p:cNvPr id="22" name="椭圆 21"/>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23" name="椭圆 22"/>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24" name="文本框 23"/>
          <p:cNvSpPr txBox="1"/>
          <p:nvPr/>
        </p:nvSpPr>
        <p:spPr>
          <a:xfrm>
            <a:off x="2075814" y="1941637"/>
            <a:ext cx="2441694" cy="338554"/>
          </a:xfrm>
          <a:prstGeom prst="rect">
            <a:avLst/>
          </a:prstGeom>
          <a:noFill/>
        </p:spPr>
        <p:txBody>
          <a:bodyPr wrap="none" rtlCol="0">
            <a:spAutoFit/>
          </a:bodyPr>
          <a:lstStyle/>
          <a:p>
            <a:pPr lvl="0"/>
            <a:r>
              <a:rPr lang="zh-CN" altLang="zh-CN" sz="1600" dirty="0"/>
              <a:t>新的交易广播到所有节点</a:t>
            </a:r>
          </a:p>
        </p:txBody>
      </p:sp>
      <p:grpSp>
        <p:nvGrpSpPr>
          <p:cNvPr id="33" name="组 9"/>
          <p:cNvGrpSpPr/>
          <p:nvPr/>
        </p:nvGrpSpPr>
        <p:grpSpPr>
          <a:xfrm>
            <a:off x="1677114" y="2495575"/>
            <a:ext cx="244114" cy="244114"/>
            <a:chOff x="6728178" y="1941689"/>
            <a:chExt cx="1016000" cy="1016000"/>
          </a:xfrm>
        </p:grpSpPr>
        <p:sp>
          <p:nvSpPr>
            <p:cNvPr id="34" name="椭圆 33"/>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35" name="椭圆 34"/>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36" name="文本框 35"/>
          <p:cNvSpPr txBox="1"/>
          <p:nvPr/>
        </p:nvSpPr>
        <p:spPr>
          <a:xfrm>
            <a:off x="2074721" y="2468400"/>
            <a:ext cx="4320413" cy="338554"/>
          </a:xfrm>
          <a:prstGeom prst="rect">
            <a:avLst/>
          </a:prstGeom>
          <a:noFill/>
        </p:spPr>
        <p:txBody>
          <a:bodyPr wrap="none" rtlCol="0">
            <a:spAutoFit/>
          </a:bodyPr>
          <a:lstStyle/>
          <a:p>
            <a:pPr lvl="0"/>
            <a:r>
              <a:rPr lang="zh-CN" altLang="zh-CN" sz="1600" dirty="0"/>
              <a:t>每个节点将接收到的交易添加到自己的</a:t>
            </a:r>
            <a:r>
              <a:rPr lang="en-US" altLang="zh-CN" sz="1600" dirty="0"/>
              <a:t>block</a:t>
            </a:r>
            <a:r>
              <a:rPr lang="zh-CN" altLang="zh-CN" sz="1600" dirty="0"/>
              <a:t>中</a:t>
            </a:r>
          </a:p>
        </p:txBody>
      </p:sp>
      <p:grpSp>
        <p:nvGrpSpPr>
          <p:cNvPr id="37" name="组 9"/>
          <p:cNvGrpSpPr/>
          <p:nvPr/>
        </p:nvGrpSpPr>
        <p:grpSpPr>
          <a:xfrm>
            <a:off x="1676021" y="2994428"/>
            <a:ext cx="244114" cy="244114"/>
            <a:chOff x="6728178" y="1941689"/>
            <a:chExt cx="1016000" cy="1016000"/>
          </a:xfrm>
        </p:grpSpPr>
        <p:sp>
          <p:nvSpPr>
            <p:cNvPr id="38" name="椭圆 37"/>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39" name="椭圆 38"/>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40" name="文本框 39"/>
          <p:cNvSpPr txBox="1"/>
          <p:nvPr/>
        </p:nvSpPr>
        <p:spPr>
          <a:xfrm>
            <a:off x="2073628" y="2967253"/>
            <a:ext cx="3833101" cy="338554"/>
          </a:xfrm>
          <a:prstGeom prst="rect">
            <a:avLst/>
          </a:prstGeom>
          <a:noFill/>
        </p:spPr>
        <p:txBody>
          <a:bodyPr wrap="none" rtlCol="0">
            <a:spAutoFit/>
          </a:bodyPr>
          <a:lstStyle/>
          <a:p>
            <a:pPr lvl="0"/>
            <a:r>
              <a:rPr lang="zh-CN" altLang="zh-CN" sz="1600" dirty="0"/>
              <a:t>每个节点根据自己的</a:t>
            </a:r>
            <a:r>
              <a:rPr lang="en-US" altLang="zh-CN" sz="1600" dirty="0"/>
              <a:t>block</a:t>
            </a:r>
            <a:r>
              <a:rPr lang="zh-CN" altLang="zh-CN" sz="1600" dirty="0"/>
              <a:t>计算出</a:t>
            </a:r>
            <a:r>
              <a:rPr lang="en-US" altLang="zh-CN" sz="1600" dirty="0"/>
              <a:t>Nonce</a:t>
            </a:r>
            <a:r>
              <a:rPr lang="zh-CN" altLang="zh-CN" sz="1600" dirty="0"/>
              <a:t>值</a:t>
            </a:r>
          </a:p>
        </p:txBody>
      </p:sp>
      <p:grpSp>
        <p:nvGrpSpPr>
          <p:cNvPr id="41" name="组 9"/>
          <p:cNvGrpSpPr/>
          <p:nvPr/>
        </p:nvGrpSpPr>
        <p:grpSpPr>
          <a:xfrm>
            <a:off x="1676021" y="3519043"/>
            <a:ext cx="244114" cy="244114"/>
            <a:chOff x="6728178" y="1941689"/>
            <a:chExt cx="1016000" cy="1016000"/>
          </a:xfrm>
        </p:grpSpPr>
        <p:sp>
          <p:nvSpPr>
            <p:cNvPr id="42" name="椭圆 41"/>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43" name="椭圆 42"/>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44" name="文本框 43"/>
          <p:cNvSpPr txBox="1"/>
          <p:nvPr/>
        </p:nvSpPr>
        <p:spPr>
          <a:xfrm>
            <a:off x="2073628" y="3491868"/>
            <a:ext cx="5269391" cy="338554"/>
          </a:xfrm>
          <a:prstGeom prst="rect">
            <a:avLst/>
          </a:prstGeom>
          <a:noFill/>
        </p:spPr>
        <p:txBody>
          <a:bodyPr wrap="none" rtlCol="0">
            <a:spAutoFit/>
          </a:bodyPr>
          <a:lstStyle/>
          <a:p>
            <a:pPr lvl="0"/>
            <a:r>
              <a:rPr lang="zh-CN" altLang="zh-CN" sz="1600" dirty="0"/>
              <a:t>一旦节点计算出</a:t>
            </a:r>
            <a:r>
              <a:rPr lang="en-US" altLang="zh-CN" sz="1600" dirty="0"/>
              <a:t>Nonce</a:t>
            </a:r>
            <a:r>
              <a:rPr lang="zh-CN" altLang="zh-CN" sz="1600" dirty="0"/>
              <a:t>值，就向所有节点广播自己的</a:t>
            </a:r>
            <a:r>
              <a:rPr lang="en-US" altLang="zh-CN" sz="1600" dirty="0"/>
              <a:t>block</a:t>
            </a:r>
            <a:endParaRPr lang="zh-CN" altLang="zh-CN" sz="1600" dirty="0"/>
          </a:p>
        </p:txBody>
      </p:sp>
      <p:grpSp>
        <p:nvGrpSpPr>
          <p:cNvPr id="27" name="组 9"/>
          <p:cNvGrpSpPr/>
          <p:nvPr/>
        </p:nvGrpSpPr>
        <p:grpSpPr>
          <a:xfrm>
            <a:off x="1674928" y="4050068"/>
            <a:ext cx="244114" cy="244114"/>
            <a:chOff x="6728178" y="1941689"/>
            <a:chExt cx="1016000" cy="1016000"/>
          </a:xfrm>
        </p:grpSpPr>
        <p:sp>
          <p:nvSpPr>
            <p:cNvPr id="28" name="椭圆 27"/>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29" name="椭圆 28"/>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32" name="文本框 31"/>
          <p:cNvSpPr txBox="1"/>
          <p:nvPr/>
        </p:nvSpPr>
        <p:spPr>
          <a:xfrm>
            <a:off x="2072535" y="4022893"/>
            <a:ext cx="5993949" cy="584775"/>
          </a:xfrm>
          <a:prstGeom prst="rect">
            <a:avLst/>
          </a:prstGeom>
          <a:noFill/>
        </p:spPr>
        <p:txBody>
          <a:bodyPr wrap="none" rtlCol="0">
            <a:spAutoFit/>
          </a:bodyPr>
          <a:lstStyle/>
          <a:p>
            <a:pPr lvl="0"/>
            <a:r>
              <a:rPr lang="zh-CN" altLang="zh-CN" sz="1600" dirty="0"/>
              <a:t>当其他节点接收到</a:t>
            </a:r>
            <a:r>
              <a:rPr lang="en-US" altLang="zh-CN" sz="1600" dirty="0"/>
              <a:t>block</a:t>
            </a:r>
            <a:r>
              <a:rPr lang="zh-CN" altLang="zh-CN" sz="1600" dirty="0"/>
              <a:t>时，检查</a:t>
            </a:r>
            <a:r>
              <a:rPr lang="en-US" altLang="zh-CN" sz="1600" dirty="0"/>
              <a:t>block</a:t>
            </a:r>
            <a:r>
              <a:rPr lang="zh-CN" altLang="zh-CN" sz="1600" dirty="0"/>
              <a:t>中的交易是否有效以及是否</a:t>
            </a:r>
            <a:endParaRPr lang="en-US" altLang="zh-CN" sz="1600" dirty="0"/>
          </a:p>
          <a:p>
            <a:pPr lvl="0"/>
            <a:r>
              <a:rPr lang="zh-CN" altLang="zh-CN" sz="1600" dirty="0"/>
              <a:t>存在重复支付，如果没有，则接受该区块</a:t>
            </a:r>
          </a:p>
        </p:txBody>
      </p:sp>
      <p:grpSp>
        <p:nvGrpSpPr>
          <p:cNvPr id="45" name="组 9"/>
          <p:cNvGrpSpPr/>
          <p:nvPr/>
        </p:nvGrpSpPr>
        <p:grpSpPr>
          <a:xfrm>
            <a:off x="1673835" y="4825275"/>
            <a:ext cx="244114" cy="244114"/>
            <a:chOff x="6728178" y="1941689"/>
            <a:chExt cx="1016000" cy="1016000"/>
          </a:xfrm>
        </p:grpSpPr>
        <p:sp>
          <p:nvSpPr>
            <p:cNvPr id="46" name="椭圆 45"/>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47" name="椭圆 46"/>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
        <p:nvSpPr>
          <p:cNvPr id="48" name="文本框 47"/>
          <p:cNvSpPr txBox="1"/>
          <p:nvPr/>
        </p:nvSpPr>
        <p:spPr>
          <a:xfrm>
            <a:off x="2071442" y="4798100"/>
            <a:ext cx="5788764" cy="830997"/>
          </a:xfrm>
          <a:prstGeom prst="rect">
            <a:avLst/>
          </a:prstGeom>
          <a:noFill/>
        </p:spPr>
        <p:txBody>
          <a:bodyPr wrap="none" rtlCol="0">
            <a:spAutoFit/>
          </a:bodyPr>
          <a:lstStyle/>
          <a:p>
            <a:pPr lvl="0"/>
            <a:r>
              <a:rPr lang="zh-CN" altLang="zh-CN" sz="1600" dirty="0"/>
              <a:t>节点接受了来自别的节点的</a:t>
            </a:r>
            <a:r>
              <a:rPr lang="en-US" altLang="zh-CN" sz="1600" dirty="0"/>
              <a:t>block</a:t>
            </a:r>
            <a:r>
              <a:rPr lang="zh-CN" altLang="zh-CN" sz="1600" dirty="0"/>
              <a:t>后就将</a:t>
            </a:r>
            <a:r>
              <a:rPr lang="en-US" altLang="zh-CN" sz="1600" dirty="0"/>
              <a:t>block</a:t>
            </a:r>
            <a:r>
              <a:rPr lang="zh-CN" altLang="zh-CN" sz="1600" dirty="0"/>
              <a:t>添加到自己维护的</a:t>
            </a:r>
            <a:endParaRPr lang="en-US" altLang="zh-CN" sz="1600" dirty="0"/>
          </a:p>
          <a:p>
            <a:pPr lvl="0"/>
            <a:r>
              <a:rPr lang="zh-CN" altLang="zh-CN" sz="1600" dirty="0"/>
              <a:t>区块链中，并把该区块的头部信息</a:t>
            </a:r>
            <a:r>
              <a:rPr lang="en-US" altLang="zh-CN" sz="1600" dirty="0"/>
              <a:t>hash</a:t>
            </a:r>
            <a:r>
              <a:rPr lang="zh-CN" altLang="zh-CN" sz="1600" dirty="0"/>
              <a:t>值作为自己下一个</a:t>
            </a:r>
            <a:endParaRPr lang="en-US" altLang="zh-CN" sz="1600" dirty="0"/>
          </a:p>
          <a:p>
            <a:pPr lvl="0"/>
            <a:r>
              <a:rPr lang="zh-CN" altLang="zh-CN" sz="1600" dirty="0"/>
              <a:t>区块的头部信息一部分</a:t>
            </a:r>
          </a:p>
        </p:txBody>
      </p:sp>
    </p:spTree>
    <p:extLst>
      <p:ext uri="{BB962C8B-B14F-4D97-AF65-F5344CB8AC3E}">
        <p14:creationId xmlns:p14="http://schemas.microsoft.com/office/powerpoint/2010/main" val="2693058446"/>
      </p:ext>
    </p:extLst>
  </p:cSld>
  <p:clrMapOvr>
    <a:masterClrMapping/>
  </p:clrMapOvr>
  <p:transition>
    <p:pull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04562" y="306594"/>
            <a:ext cx="74365" cy="3532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6" name="文本框 25"/>
          <p:cNvSpPr txBox="1"/>
          <p:nvPr/>
        </p:nvSpPr>
        <p:spPr>
          <a:xfrm>
            <a:off x="355600" y="312856"/>
            <a:ext cx="2608406" cy="307777"/>
          </a:xfrm>
          <a:prstGeom prst="rect">
            <a:avLst/>
          </a:prstGeom>
          <a:noFill/>
        </p:spPr>
        <p:txBody>
          <a:bodyPr wrap="none" rtlCol="0">
            <a:spAutoFit/>
          </a:bodyPr>
          <a:lstStyle/>
          <a:p>
            <a:r>
              <a:rPr lang="zh-CN" altLang="en-US" sz="1400" dirty="0">
                <a:latin typeface="+mj-ea"/>
              </a:rPr>
              <a:t>区块链技术及其应用</a:t>
            </a:r>
            <a:r>
              <a:rPr lang="en-US" altLang="zh-CN" sz="1400" dirty="0">
                <a:latin typeface="+mj-ea"/>
              </a:rPr>
              <a:t>-</a:t>
            </a:r>
            <a:r>
              <a:rPr lang="zh-CN" altLang="en-US" sz="1400" dirty="0">
                <a:latin typeface="+mj-ea"/>
              </a:rPr>
              <a:t>交易打包</a:t>
            </a:r>
          </a:p>
        </p:txBody>
      </p:sp>
      <p:sp>
        <p:nvSpPr>
          <p:cNvPr id="30" name="矩形 29"/>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矩形 30"/>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 name="文本框 2"/>
          <p:cNvSpPr txBox="1"/>
          <p:nvPr/>
        </p:nvSpPr>
        <p:spPr>
          <a:xfrm>
            <a:off x="1357029" y="1294122"/>
            <a:ext cx="3608745" cy="369332"/>
          </a:xfrm>
          <a:prstGeom prst="rect">
            <a:avLst/>
          </a:prstGeom>
          <a:noFill/>
        </p:spPr>
        <p:txBody>
          <a:bodyPr wrap="none" rtlCol="0">
            <a:spAutoFit/>
          </a:bodyPr>
          <a:lstStyle/>
          <a:p>
            <a:r>
              <a:rPr lang="zh-CN" altLang="en-US" b="1" dirty="0"/>
              <a:t>工作量证明机制（</a:t>
            </a:r>
            <a:r>
              <a:rPr lang="en-US" altLang="zh-CN" b="1" dirty="0"/>
              <a:t>proof-of-work</a:t>
            </a:r>
            <a:r>
              <a:rPr lang="zh-CN" altLang="en-US" b="1" dirty="0"/>
              <a:t>）</a:t>
            </a:r>
          </a:p>
        </p:txBody>
      </p:sp>
      <p:sp>
        <p:nvSpPr>
          <p:cNvPr id="5" name="矩形 4"/>
          <p:cNvSpPr/>
          <p:nvPr/>
        </p:nvSpPr>
        <p:spPr>
          <a:xfrm>
            <a:off x="1474247" y="2257662"/>
            <a:ext cx="6021978" cy="4833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HASH(pre_hash,trans_hash,Nonce) = v</a:t>
            </a:r>
            <a:endParaRPr lang="zh-CN" altLang="zh-CN" sz="2000" dirty="0"/>
          </a:p>
        </p:txBody>
      </p:sp>
      <p:sp>
        <p:nvSpPr>
          <p:cNvPr id="2" name="文本框 1"/>
          <p:cNvSpPr txBox="1"/>
          <p:nvPr/>
        </p:nvSpPr>
        <p:spPr>
          <a:xfrm>
            <a:off x="1474247" y="3177706"/>
            <a:ext cx="6596678" cy="2800767"/>
          </a:xfrm>
          <a:prstGeom prst="rect">
            <a:avLst/>
          </a:prstGeom>
          <a:noFill/>
        </p:spPr>
        <p:txBody>
          <a:bodyPr wrap="none" rtlCol="0">
            <a:spAutoFit/>
          </a:bodyPr>
          <a:lstStyle/>
          <a:p>
            <a:r>
              <a:rPr lang="zh-CN" altLang="zh-CN" sz="1600" dirty="0"/>
              <a:t>其中，</a:t>
            </a:r>
            <a:r>
              <a:rPr lang="en-US" altLang="zh-CN" sz="1600" dirty="0"/>
              <a:t>v</a:t>
            </a:r>
            <a:r>
              <a:rPr lang="zh-CN" altLang="zh-CN" sz="1600" dirty="0"/>
              <a:t>是以一定数量</a:t>
            </a:r>
            <a:r>
              <a:rPr lang="en-US" altLang="zh-CN" sz="1600" dirty="0"/>
              <a:t>0</a:t>
            </a:r>
            <a:r>
              <a:rPr lang="zh-CN" altLang="zh-CN" sz="1600" dirty="0"/>
              <a:t>开头的符号串，上述算式表示</a:t>
            </a:r>
            <a:r>
              <a:rPr lang="en-US" altLang="zh-CN" sz="1600" dirty="0"/>
              <a:t>HASH</a:t>
            </a:r>
            <a:r>
              <a:rPr lang="zh-CN" altLang="zh-CN" sz="1600" dirty="0"/>
              <a:t>计算的值</a:t>
            </a:r>
            <a:endParaRPr lang="en-US" altLang="zh-CN" sz="1600" dirty="0"/>
          </a:p>
          <a:p>
            <a:r>
              <a:rPr lang="zh-CN" altLang="zh-CN" sz="1600" dirty="0"/>
              <a:t>必须和</a:t>
            </a:r>
            <a:r>
              <a:rPr lang="en-US" altLang="zh-CN" sz="1600" dirty="0"/>
              <a:t>v</a:t>
            </a:r>
            <a:r>
              <a:rPr lang="zh-CN" altLang="zh-CN" sz="1600" dirty="0"/>
              <a:t>以相同数量的</a:t>
            </a:r>
            <a:r>
              <a:rPr lang="en-US" altLang="zh-CN" sz="1600" dirty="0"/>
              <a:t>0</a:t>
            </a:r>
            <a:r>
              <a:rPr lang="zh-CN" altLang="zh-CN" sz="1600" dirty="0"/>
              <a:t>开头。</a:t>
            </a:r>
          </a:p>
          <a:p>
            <a:endParaRPr lang="en-US" altLang="zh-CN" sz="1600" dirty="0"/>
          </a:p>
          <a:p>
            <a:r>
              <a:rPr lang="zh-CN" altLang="zh-CN" sz="1600" dirty="0"/>
              <a:t>由于</a:t>
            </a:r>
            <a:r>
              <a:rPr lang="en-US" altLang="zh-CN" sz="1600" dirty="0"/>
              <a:t>HASH</a:t>
            </a:r>
            <a:r>
              <a:rPr lang="zh-CN" altLang="zh-CN" sz="1600" dirty="0"/>
              <a:t>运算的不可逆性，因此必须尝试所有可以尝试的随机数，</a:t>
            </a:r>
            <a:endParaRPr lang="en-US" altLang="zh-CN" sz="1600" dirty="0"/>
          </a:p>
          <a:p>
            <a:r>
              <a:rPr lang="zh-CN" altLang="zh-CN" sz="1600" dirty="0"/>
              <a:t>而</a:t>
            </a:r>
            <a:r>
              <a:rPr lang="en-US" altLang="zh-CN" sz="1600" dirty="0"/>
              <a:t>HASH</a:t>
            </a:r>
            <a:r>
              <a:rPr lang="zh-CN" altLang="zh-CN" sz="1600" dirty="0"/>
              <a:t>运算得出结果非常简单迅速，平均计算次数随着要求值中</a:t>
            </a:r>
            <a:endParaRPr lang="en-US" altLang="zh-CN" sz="1600" dirty="0"/>
          </a:p>
          <a:p>
            <a:r>
              <a:rPr lang="zh-CN" altLang="zh-CN" sz="1600" dirty="0"/>
              <a:t>的</a:t>
            </a:r>
            <a:r>
              <a:rPr lang="en-US" altLang="zh-CN" sz="1600" dirty="0"/>
              <a:t>0</a:t>
            </a:r>
            <a:r>
              <a:rPr lang="zh-CN" altLang="zh-CN" sz="1600" dirty="0"/>
              <a:t>的个数呈指数变化。</a:t>
            </a:r>
            <a:endParaRPr lang="en-US" altLang="zh-CN" sz="1600" dirty="0"/>
          </a:p>
          <a:p>
            <a:endParaRPr lang="en-US" altLang="zh-CN" sz="1600" dirty="0"/>
          </a:p>
          <a:p>
            <a:r>
              <a:rPr lang="zh-CN" altLang="zh-CN" sz="1600" dirty="0"/>
              <a:t>当</a:t>
            </a:r>
            <a:r>
              <a:rPr lang="en-US" altLang="zh-CN" sz="1600" dirty="0"/>
              <a:t>0</a:t>
            </a:r>
            <a:r>
              <a:rPr lang="zh-CN" altLang="zh-CN" sz="1600" dirty="0"/>
              <a:t>的个数较大时，平均运算时间会非常的长。</a:t>
            </a:r>
            <a:endParaRPr lang="en-US" altLang="zh-CN" sz="1600" dirty="0"/>
          </a:p>
          <a:p>
            <a:r>
              <a:rPr lang="zh-CN" altLang="zh-CN" sz="1600" dirty="0"/>
              <a:t>一旦计算出满足条件的</a:t>
            </a:r>
            <a:r>
              <a:rPr lang="en-US" altLang="zh-CN" sz="1600" dirty="0"/>
              <a:t>Nonce</a:t>
            </a:r>
            <a:r>
              <a:rPr lang="zh-CN" altLang="zh-CN" sz="1600" dirty="0"/>
              <a:t>值，要想再更改区块中交易内容，</a:t>
            </a:r>
            <a:r>
              <a:rPr lang="en-US" altLang="zh-CN" sz="1600" dirty="0"/>
              <a:t>Nonce</a:t>
            </a:r>
            <a:r>
              <a:rPr lang="zh-CN" altLang="zh-CN" sz="1600" dirty="0"/>
              <a:t>值</a:t>
            </a:r>
            <a:endParaRPr lang="en-US" altLang="zh-CN" sz="1600" dirty="0"/>
          </a:p>
          <a:p>
            <a:r>
              <a:rPr lang="zh-CN" altLang="zh-CN" sz="1600" dirty="0"/>
              <a:t>就必须要重新计算。</a:t>
            </a:r>
          </a:p>
          <a:p>
            <a:endParaRPr lang="zh-CN" altLang="en-US" sz="1600" dirty="0"/>
          </a:p>
        </p:txBody>
      </p:sp>
    </p:spTree>
    <p:extLst>
      <p:ext uri="{BB962C8B-B14F-4D97-AF65-F5344CB8AC3E}">
        <p14:creationId xmlns:p14="http://schemas.microsoft.com/office/powerpoint/2010/main" val="3467301804"/>
      </p:ext>
    </p:extLst>
  </p:cSld>
  <p:clrMapOvr>
    <a:masterClrMapping/>
  </p:clrMapOvr>
  <p:transition>
    <p:pull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650836" y="3233111"/>
            <a:ext cx="3673764" cy="434061"/>
          </a:xfrm>
        </p:spPr>
        <p:txBody>
          <a:bodyPr>
            <a:normAutofit fontScale="90000"/>
          </a:bodyPr>
          <a:lstStyle/>
          <a:p>
            <a:pPr>
              <a:spcBef>
                <a:spcPts val="4200"/>
              </a:spcBef>
              <a:spcAft>
                <a:spcPts val="1000"/>
              </a:spcAft>
            </a:pPr>
            <a:r>
              <a:rPr kumimoji="1" lang="zh-CN" altLang="en-US" sz="4400" dirty="0">
                <a:latin typeface="黑体" panose="02010609060101010101" pitchFamily="49" charset="-122"/>
                <a:ea typeface="黑体" panose="02010609060101010101" pitchFamily="49" charset="-122"/>
              </a:rPr>
              <a:t>区块链应用</a:t>
            </a:r>
            <a:br>
              <a:rPr kumimoji="1" lang="en-US" altLang="zh-CN" sz="4000" dirty="0">
                <a:latin typeface="黑体" panose="02010609060101010101" pitchFamily="49" charset="-122"/>
                <a:ea typeface="黑体" panose="02010609060101010101" pitchFamily="49" charset="-122"/>
              </a:rPr>
            </a:br>
            <a:endParaRPr kumimoji="1" lang="zh-CN" altLang="en-US" sz="4000" dirty="0">
              <a:latin typeface="宋体" panose="02010600030101010101" pitchFamily="2" charset="-122"/>
              <a:ea typeface="宋体" panose="02010600030101010101" pitchFamily="2" charset="-122"/>
            </a:endParaRPr>
          </a:p>
        </p:txBody>
      </p:sp>
      <p:sp>
        <p:nvSpPr>
          <p:cNvPr id="3" name="矩形 2">
            <a:extLst>
              <a:ext uri="{FF2B5EF4-FFF2-40B4-BE49-F238E27FC236}">
                <a16:creationId xmlns:a16="http://schemas.microsoft.com/office/drawing/2014/main" id="{8A2C8D50-A849-4215-B548-4B57C33D64A6}"/>
              </a:ext>
            </a:extLst>
          </p:cNvPr>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4" name="矩形 3">
            <a:extLst>
              <a:ext uri="{FF2B5EF4-FFF2-40B4-BE49-F238E27FC236}">
                <a16:creationId xmlns:a16="http://schemas.microsoft.com/office/drawing/2014/main" id="{1F2277C7-2B94-4986-9868-879F7CA055BC}"/>
              </a:ext>
            </a:extLst>
          </p:cNvPr>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矩形 4">
            <a:extLst>
              <a:ext uri="{FF2B5EF4-FFF2-40B4-BE49-F238E27FC236}">
                <a16:creationId xmlns:a16="http://schemas.microsoft.com/office/drawing/2014/main" id="{834F986C-F710-4EDF-98C0-1BD2CDB5B550}"/>
              </a:ext>
            </a:extLst>
          </p:cNvPr>
          <p:cNvSpPr/>
          <p:nvPr/>
        </p:nvSpPr>
        <p:spPr>
          <a:xfrm rot="2489354">
            <a:off x="464939" y="-522209"/>
            <a:ext cx="247577" cy="2953719"/>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6" name="矩形 5">
            <a:extLst>
              <a:ext uri="{FF2B5EF4-FFF2-40B4-BE49-F238E27FC236}">
                <a16:creationId xmlns:a16="http://schemas.microsoft.com/office/drawing/2014/main" id="{E0D502CE-D97E-450D-ABA1-85274E2913E3}"/>
              </a:ext>
            </a:extLst>
          </p:cNvPr>
          <p:cNvSpPr/>
          <p:nvPr/>
        </p:nvSpPr>
        <p:spPr>
          <a:xfrm rot="2489354">
            <a:off x="282907" y="-695230"/>
            <a:ext cx="247577" cy="2953720"/>
          </a:xfrm>
          <a:prstGeom prst="rect">
            <a:avLst/>
          </a:prstGeom>
          <a:solidFill>
            <a:srgbClr val="76D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7" name="标题 1">
            <a:extLst>
              <a:ext uri="{FF2B5EF4-FFF2-40B4-BE49-F238E27FC236}">
                <a16:creationId xmlns:a16="http://schemas.microsoft.com/office/drawing/2014/main" id="{FB86E399-E372-4605-872B-BD8C2516E92D}"/>
              </a:ext>
            </a:extLst>
          </p:cNvPr>
          <p:cNvSpPr txBox="1">
            <a:spLocks/>
          </p:cNvSpPr>
          <p:nvPr/>
        </p:nvSpPr>
        <p:spPr>
          <a:xfrm>
            <a:off x="2735118" y="3232919"/>
            <a:ext cx="3673764" cy="3921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4200"/>
              </a:spcBef>
              <a:spcAft>
                <a:spcPts val="1000"/>
              </a:spcAft>
            </a:pPr>
            <a:r>
              <a:rPr kumimoji="1" lang="zh-CN" altLang="en-US" sz="1600" dirty="0">
                <a:latin typeface="宋体" panose="02010600030101010101" pitchFamily="2" charset="-122"/>
                <a:ea typeface="宋体" panose="02010600030101010101" pitchFamily="2" charset="-122"/>
              </a:rPr>
              <a:t>信息安全  金融  物联网</a:t>
            </a:r>
            <a:endParaRPr kumimoji="1" lang="zh-CN" altLang="en-US" sz="4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929146114"/>
      </p:ext>
    </p:extLst>
  </p:cSld>
  <p:clrMapOvr>
    <a:masterClrMapping/>
  </p:clrMapOvr>
  <p:transition spd="med">
    <p:pull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681037"/>
            <a:ext cx="3065895" cy="1009652"/>
          </a:xfrm>
        </p:spPr>
        <p:txBody>
          <a:bodyPr>
            <a:normAutofit/>
          </a:bodyPr>
          <a:lstStyle/>
          <a:p>
            <a:r>
              <a:rPr kumimoji="1" lang="zh-CN" altLang="en-US" sz="2800" b="1" dirty="0">
                <a:latin typeface="宋体" panose="02010600030101010101" pitchFamily="2" charset="-122"/>
                <a:ea typeface="宋体" panose="02010600030101010101" pitchFamily="2" charset="-122"/>
              </a:rPr>
              <a:t>区块链安全性分析</a:t>
            </a:r>
          </a:p>
        </p:txBody>
      </p:sp>
      <p:sp>
        <p:nvSpPr>
          <p:cNvPr id="3" name="内容占位符 2"/>
          <p:cNvSpPr>
            <a:spLocks noGrp="1"/>
          </p:cNvSpPr>
          <p:nvPr>
            <p:ph idx="1"/>
          </p:nvPr>
        </p:nvSpPr>
        <p:spPr>
          <a:xfrm>
            <a:off x="827951" y="1729160"/>
            <a:ext cx="7886700" cy="4351338"/>
          </a:xfrm>
        </p:spPr>
        <p:txBody>
          <a:bodyPr/>
          <a:lstStyle/>
          <a:p>
            <a:pPr marL="0" indent="0">
              <a:buNone/>
            </a:pPr>
            <a:r>
              <a:rPr lang="zh-CN" altLang="en-US" sz="2400" dirty="0">
                <a:latin typeface="宋体" panose="02010600030101010101" pitchFamily="2" charset="-122"/>
                <a:ea typeface="宋体" panose="02010600030101010101" pitchFamily="2" charset="-122"/>
              </a:rPr>
              <a:t>密码算法安全性：非对称加密 </a:t>
            </a:r>
          </a:p>
          <a:p>
            <a:pPr marL="0" indent="0">
              <a:buNone/>
            </a:pPr>
            <a:r>
              <a:rPr lang="zh-CN" altLang="en-US" sz="2400" dirty="0">
                <a:latin typeface="宋体" panose="02010600030101010101" pitchFamily="2" charset="-122"/>
                <a:ea typeface="宋体" panose="02010600030101010101" pitchFamily="2" charset="-122"/>
              </a:rPr>
              <a:t>协议安全性：区块链中的节点如果可以掌握全网几乎一半以上的计算能力，便可以进行伪造和篡改数据 </a:t>
            </a:r>
          </a:p>
          <a:p>
            <a:pPr marL="0" indent="0">
              <a:buNone/>
            </a:pPr>
            <a:r>
              <a:rPr lang="zh-CN" altLang="en-US" sz="2400" dirty="0">
                <a:latin typeface="宋体" panose="02010600030101010101" pitchFamily="2" charset="-122"/>
                <a:ea typeface="宋体" panose="02010600030101010101" pitchFamily="2" charset="-122"/>
              </a:rPr>
              <a:t>使用安全性：不可篡改和和不可伪造，并且计算不可逆  </a:t>
            </a:r>
          </a:p>
          <a:p>
            <a:pPr marL="0" indent="0">
              <a:buNone/>
            </a:pPr>
            <a:r>
              <a:rPr lang="zh-CN" altLang="en-US" sz="2400" dirty="0">
                <a:latin typeface="宋体" panose="02010600030101010101" pitchFamily="2" charset="-122"/>
                <a:ea typeface="宋体" panose="02010600030101010101" pitchFamily="2" charset="-122"/>
              </a:rPr>
              <a:t>系统安全性：没有中心服务器，区块链是对某一节点进行攻击，便不会起到这样恶 劣的影响，也就能在整体上提升安全性 </a:t>
            </a:r>
          </a:p>
          <a:p>
            <a:endParaRPr lang="zh-CN" altLang="en-US" dirty="0"/>
          </a:p>
          <a:p>
            <a:endParaRPr lang="zh-CN" altLang="en-US" dirty="0"/>
          </a:p>
          <a:p>
            <a:endParaRPr kumimoji="1" lang="zh-CN" altLang="en-US" dirty="0"/>
          </a:p>
        </p:txBody>
      </p:sp>
      <p:sp>
        <p:nvSpPr>
          <p:cNvPr id="4" name="矩形 3">
            <a:extLst>
              <a:ext uri="{FF2B5EF4-FFF2-40B4-BE49-F238E27FC236}">
                <a16:creationId xmlns:a16="http://schemas.microsoft.com/office/drawing/2014/main" id="{DCF0D43A-569C-4B84-AFA1-E1955DA2624C}"/>
              </a:ext>
            </a:extLst>
          </p:cNvPr>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矩形 4">
            <a:extLst>
              <a:ext uri="{FF2B5EF4-FFF2-40B4-BE49-F238E27FC236}">
                <a16:creationId xmlns:a16="http://schemas.microsoft.com/office/drawing/2014/main" id="{838DDE2C-EB7D-4E60-AC3A-B406B532D606}"/>
              </a:ext>
            </a:extLst>
          </p:cNvPr>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6" name="文本框 5">
            <a:extLst>
              <a:ext uri="{FF2B5EF4-FFF2-40B4-BE49-F238E27FC236}">
                <a16:creationId xmlns:a16="http://schemas.microsoft.com/office/drawing/2014/main" id="{AB9D9976-0183-42F8-8944-198E71603268}"/>
              </a:ext>
            </a:extLst>
          </p:cNvPr>
          <p:cNvSpPr txBox="1"/>
          <p:nvPr/>
        </p:nvSpPr>
        <p:spPr>
          <a:xfrm>
            <a:off x="355600" y="312856"/>
            <a:ext cx="1351652" cy="307777"/>
          </a:xfrm>
          <a:prstGeom prst="rect">
            <a:avLst/>
          </a:prstGeom>
          <a:noFill/>
        </p:spPr>
        <p:txBody>
          <a:bodyPr wrap="none" rtlCol="0">
            <a:spAutoFit/>
          </a:bodyPr>
          <a:lstStyle/>
          <a:p>
            <a:r>
              <a:rPr lang="zh-CN" altLang="en-US" sz="1400" dirty="0">
                <a:latin typeface="+mj-ea"/>
              </a:rPr>
              <a:t>应用</a:t>
            </a:r>
            <a:r>
              <a:rPr lang="en-US" altLang="zh-CN" sz="1400" dirty="0">
                <a:latin typeface="+mj-ea"/>
              </a:rPr>
              <a:t>-</a:t>
            </a:r>
            <a:r>
              <a:rPr lang="zh-CN" altLang="en-US" sz="1400" dirty="0">
                <a:latin typeface="+mj-ea"/>
              </a:rPr>
              <a:t>信息安全</a:t>
            </a:r>
          </a:p>
        </p:txBody>
      </p:sp>
      <p:grpSp>
        <p:nvGrpSpPr>
          <p:cNvPr id="7" name="组 9">
            <a:extLst>
              <a:ext uri="{FF2B5EF4-FFF2-40B4-BE49-F238E27FC236}">
                <a16:creationId xmlns:a16="http://schemas.microsoft.com/office/drawing/2014/main" id="{A51FE537-881E-42CA-A090-3F4D210C4E17}"/>
              </a:ext>
            </a:extLst>
          </p:cNvPr>
          <p:cNvGrpSpPr/>
          <p:nvPr/>
        </p:nvGrpSpPr>
        <p:grpSpPr>
          <a:xfrm>
            <a:off x="579625" y="1800347"/>
            <a:ext cx="244114" cy="244114"/>
            <a:chOff x="6728178" y="1941689"/>
            <a:chExt cx="1016000" cy="1016000"/>
          </a:xfrm>
        </p:grpSpPr>
        <p:sp>
          <p:nvSpPr>
            <p:cNvPr id="8" name="椭圆 7">
              <a:extLst>
                <a:ext uri="{FF2B5EF4-FFF2-40B4-BE49-F238E27FC236}">
                  <a16:creationId xmlns:a16="http://schemas.microsoft.com/office/drawing/2014/main" id="{45E4F68D-C6AA-41C5-BFE1-064C4904EAF4}"/>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a:extLst>
                <a:ext uri="{FF2B5EF4-FFF2-40B4-BE49-F238E27FC236}">
                  <a16:creationId xmlns:a16="http://schemas.microsoft.com/office/drawing/2014/main" id="{7FCF0399-EDF3-4BF2-8BE4-5CE849B80804}"/>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0" name="组 9">
            <a:extLst>
              <a:ext uri="{FF2B5EF4-FFF2-40B4-BE49-F238E27FC236}">
                <a16:creationId xmlns:a16="http://schemas.microsoft.com/office/drawing/2014/main" id="{E0F830D6-0820-4072-85C4-D613F0496584}"/>
              </a:ext>
            </a:extLst>
          </p:cNvPr>
          <p:cNvGrpSpPr/>
          <p:nvPr/>
        </p:nvGrpSpPr>
        <p:grpSpPr>
          <a:xfrm>
            <a:off x="563612" y="2395254"/>
            <a:ext cx="244114" cy="244114"/>
            <a:chOff x="6728178" y="1941689"/>
            <a:chExt cx="1016000" cy="1016000"/>
          </a:xfrm>
        </p:grpSpPr>
        <p:sp>
          <p:nvSpPr>
            <p:cNvPr id="11" name="椭圆 10">
              <a:extLst>
                <a:ext uri="{FF2B5EF4-FFF2-40B4-BE49-F238E27FC236}">
                  <a16:creationId xmlns:a16="http://schemas.microsoft.com/office/drawing/2014/main" id="{243C5A9A-0D64-4867-A900-167A07750558}"/>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2" name="椭圆 11">
              <a:extLst>
                <a:ext uri="{FF2B5EF4-FFF2-40B4-BE49-F238E27FC236}">
                  <a16:creationId xmlns:a16="http://schemas.microsoft.com/office/drawing/2014/main" id="{3A880E51-5CE0-407A-B0BE-870ACF48B964}"/>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3" name="组 9">
            <a:extLst>
              <a:ext uri="{FF2B5EF4-FFF2-40B4-BE49-F238E27FC236}">
                <a16:creationId xmlns:a16="http://schemas.microsoft.com/office/drawing/2014/main" id="{D16DA020-C1A9-4CC5-96ED-D0A8EFF555BA}"/>
              </a:ext>
            </a:extLst>
          </p:cNvPr>
          <p:cNvGrpSpPr/>
          <p:nvPr/>
        </p:nvGrpSpPr>
        <p:grpSpPr>
          <a:xfrm>
            <a:off x="563612" y="3020444"/>
            <a:ext cx="244114" cy="244114"/>
            <a:chOff x="6728178" y="1941689"/>
            <a:chExt cx="1016000" cy="1016000"/>
          </a:xfrm>
        </p:grpSpPr>
        <p:sp>
          <p:nvSpPr>
            <p:cNvPr id="14" name="椭圆 13">
              <a:extLst>
                <a:ext uri="{FF2B5EF4-FFF2-40B4-BE49-F238E27FC236}">
                  <a16:creationId xmlns:a16="http://schemas.microsoft.com/office/drawing/2014/main" id="{C66AACAB-9381-470F-9126-1C6905EC8B55}"/>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5" name="椭圆 14">
              <a:extLst>
                <a:ext uri="{FF2B5EF4-FFF2-40B4-BE49-F238E27FC236}">
                  <a16:creationId xmlns:a16="http://schemas.microsoft.com/office/drawing/2014/main" id="{A8E3BD76-E132-46A4-9B62-E8A36A86F6AC}"/>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6" name="组 9">
            <a:extLst>
              <a:ext uri="{FF2B5EF4-FFF2-40B4-BE49-F238E27FC236}">
                <a16:creationId xmlns:a16="http://schemas.microsoft.com/office/drawing/2014/main" id="{56F26A9A-A060-4EDD-B891-0645CB0CC280}"/>
              </a:ext>
            </a:extLst>
          </p:cNvPr>
          <p:cNvGrpSpPr/>
          <p:nvPr/>
        </p:nvGrpSpPr>
        <p:grpSpPr>
          <a:xfrm>
            <a:off x="550549" y="3642100"/>
            <a:ext cx="244114" cy="244114"/>
            <a:chOff x="6728178" y="1941689"/>
            <a:chExt cx="1016000" cy="1016000"/>
          </a:xfrm>
        </p:grpSpPr>
        <p:sp>
          <p:nvSpPr>
            <p:cNvPr id="17" name="椭圆 16">
              <a:extLst>
                <a:ext uri="{FF2B5EF4-FFF2-40B4-BE49-F238E27FC236}">
                  <a16:creationId xmlns:a16="http://schemas.microsoft.com/office/drawing/2014/main" id="{D2430DD1-36D6-4571-8A28-5AAB6C24F3C1}"/>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8" name="椭圆 17">
              <a:extLst>
                <a:ext uri="{FF2B5EF4-FFF2-40B4-BE49-F238E27FC236}">
                  <a16:creationId xmlns:a16="http://schemas.microsoft.com/office/drawing/2014/main" id="{D34F36D0-48F3-4C9C-B444-26F3024B019A}"/>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Tree>
    <p:extLst>
      <p:ext uri="{BB962C8B-B14F-4D97-AF65-F5344CB8AC3E}">
        <p14:creationId xmlns:p14="http://schemas.microsoft.com/office/powerpoint/2010/main" val="1916315238"/>
      </p:ext>
    </p:extLst>
  </p:cSld>
  <p:clrMapOvr>
    <a:masterClrMapping/>
  </p:clrMapOvr>
  <p:transition spd="med">
    <p:pull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98594"/>
            <a:ext cx="7886700" cy="585071"/>
          </a:xfrm>
        </p:spPr>
        <p:txBody>
          <a:bodyPr>
            <a:noAutofit/>
          </a:bodyPr>
          <a:lstStyle/>
          <a:p>
            <a:r>
              <a:rPr kumimoji="1" lang="zh-CN" altLang="en-US" sz="2800" b="1" dirty="0">
                <a:latin typeface="宋体" panose="02010600030101010101" pitchFamily="2" charset="-122"/>
                <a:ea typeface="宋体" panose="02010600030101010101" pitchFamily="2" charset="-122"/>
              </a:rPr>
              <a:t>信息安全领域应用</a:t>
            </a:r>
          </a:p>
        </p:txBody>
      </p:sp>
      <p:sp>
        <p:nvSpPr>
          <p:cNvPr id="3" name="内容占位符 2"/>
          <p:cNvSpPr>
            <a:spLocks noGrp="1"/>
          </p:cNvSpPr>
          <p:nvPr>
            <p:ph idx="1"/>
          </p:nvPr>
        </p:nvSpPr>
        <p:spPr>
          <a:xfrm>
            <a:off x="784551" y="1723605"/>
            <a:ext cx="7886700" cy="3773807"/>
          </a:xfrm>
        </p:spPr>
        <p:txBody>
          <a:bodyPr>
            <a:normAutofit fontScale="92500" lnSpcReduction="10000"/>
          </a:bodyPr>
          <a:lstStyle/>
          <a:p>
            <a:pPr marL="0" indent="0">
              <a:buNone/>
            </a:pPr>
            <a:r>
              <a:rPr lang="zh-CN" altLang="en-US" sz="2000" dirty="0">
                <a:latin typeface="宋体" panose="02010600030101010101" pitchFamily="2" charset="-122"/>
                <a:ea typeface="宋体" panose="02010600030101010101" pitchFamily="2" charset="-122"/>
              </a:rPr>
              <a:t>重要数据的存储和共享 ：数据既需要一定程度的隐私保护和验证，又需要在一定程度上开放。利用区块链，可以在细粒度地确保数据隐私的前提下，保证数据不被篡改</a:t>
            </a:r>
          </a:p>
          <a:p>
            <a:pPr marL="0" indent="0">
              <a:buNone/>
            </a:pPr>
            <a:r>
              <a:rPr lang="zh-CN" altLang="en-US" sz="2000" dirty="0">
                <a:latin typeface="宋体" panose="02010600030101010101" pitchFamily="2" charset="-122"/>
                <a:ea typeface="宋体" panose="02010600030101010101" pitchFamily="2" charset="-122"/>
              </a:rPr>
              <a:t>保护关键基础设施 ：目前互联网中的中心化基础设施不但会成为性能瓶颈，而且非常容易因为单点故障而瘫痪，继而波及基于这些基础设施构建的服务和应用程序，从而引发巨大的连锁反应，使应用程序和服务甚至其他基础设施失效</a:t>
            </a:r>
          </a:p>
          <a:p>
            <a:pPr marL="0" indent="0">
              <a:buNone/>
            </a:pPr>
            <a:r>
              <a:rPr lang="zh-CN" altLang="en-US" sz="2000" dirty="0">
                <a:latin typeface="宋体" panose="02010600030101010101" pitchFamily="2" charset="-122"/>
                <a:ea typeface="宋体" panose="02010600030101010101" pitchFamily="2" charset="-122"/>
              </a:rPr>
              <a:t>区块链社交网络：利用区块链搭建的社交网络，由于区块链分布式运作的特点，用户对发布的内容、个人账户等数据有更多的控制权。区块链对用户信息和消息的严格加密则保障了用户的个人隐私</a:t>
            </a:r>
          </a:p>
          <a:p>
            <a:pPr marL="0" indent="0">
              <a:buNone/>
            </a:pPr>
            <a:r>
              <a:rPr lang="zh-CN" altLang="en-US" sz="2000" dirty="0">
                <a:latin typeface="宋体" panose="02010600030101010101" pitchFamily="2" charset="-122"/>
                <a:ea typeface="宋体" panose="02010600030101010101" pitchFamily="2" charset="-122"/>
              </a:rPr>
              <a:t>智能合约实现网络众筹 ：合约发布与交易发布大体相同，合约制定之后，合约参与方将合约发布到</a:t>
            </a:r>
            <a:r>
              <a:rPr lang="en-US" altLang="zh-CN" sz="2000" dirty="0">
                <a:latin typeface="宋体" panose="02010600030101010101" pitchFamily="2" charset="-122"/>
                <a:ea typeface="宋体" panose="02010600030101010101" pitchFamily="2" charset="-122"/>
              </a:rPr>
              <a:t>P2P </a:t>
            </a:r>
            <a:r>
              <a:rPr lang="zh-CN" altLang="en-US" sz="2000" dirty="0">
                <a:latin typeface="宋体" panose="02010600030101010101" pitchFamily="2" charset="-122"/>
                <a:ea typeface="宋体" panose="02010600030101010101" pitchFamily="2" charset="-122"/>
              </a:rPr>
              <a:t>网络，网络中的节点将合约打包到区块链中，各节点进行相互转发并且定时更新，使所有节点对新发布的合约达成一致</a:t>
            </a:r>
          </a:p>
          <a:p>
            <a:endParaRPr kumimoji="1" lang="zh-CN" altLang="en-US" dirty="0"/>
          </a:p>
        </p:txBody>
      </p:sp>
      <p:sp>
        <p:nvSpPr>
          <p:cNvPr id="4" name="矩形 3">
            <a:extLst>
              <a:ext uri="{FF2B5EF4-FFF2-40B4-BE49-F238E27FC236}">
                <a16:creationId xmlns:a16="http://schemas.microsoft.com/office/drawing/2014/main" id="{740879A3-5EE8-4706-8EFA-C922048BDF71}"/>
              </a:ext>
            </a:extLst>
          </p:cNvPr>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矩形 4">
            <a:extLst>
              <a:ext uri="{FF2B5EF4-FFF2-40B4-BE49-F238E27FC236}">
                <a16:creationId xmlns:a16="http://schemas.microsoft.com/office/drawing/2014/main" id="{03628E25-18B3-4F23-9C58-80665FCE224F}"/>
              </a:ext>
            </a:extLst>
          </p:cNvPr>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6" name="文本框 5">
            <a:extLst>
              <a:ext uri="{FF2B5EF4-FFF2-40B4-BE49-F238E27FC236}">
                <a16:creationId xmlns:a16="http://schemas.microsoft.com/office/drawing/2014/main" id="{1042A632-46A3-4BBD-80EA-7A52DC8F1383}"/>
              </a:ext>
            </a:extLst>
          </p:cNvPr>
          <p:cNvSpPr txBox="1"/>
          <p:nvPr/>
        </p:nvSpPr>
        <p:spPr>
          <a:xfrm>
            <a:off x="355600" y="312856"/>
            <a:ext cx="1351652" cy="307777"/>
          </a:xfrm>
          <a:prstGeom prst="rect">
            <a:avLst/>
          </a:prstGeom>
          <a:noFill/>
        </p:spPr>
        <p:txBody>
          <a:bodyPr wrap="none" rtlCol="0">
            <a:spAutoFit/>
          </a:bodyPr>
          <a:lstStyle/>
          <a:p>
            <a:r>
              <a:rPr lang="zh-CN" altLang="en-US" sz="1400" dirty="0">
                <a:latin typeface="+mj-ea"/>
              </a:rPr>
              <a:t>应用</a:t>
            </a:r>
            <a:r>
              <a:rPr lang="en-US" altLang="zh-CN" sz="1400" dirty="0">
                <a:latin typeface="+mj-ea"/>
              </a:rPr>
              <a:t>-</a:t>
            </a:r>
            <a:r>
              <a:rPr lang="zh-CN" altLang="en-US" sz="1400" dirty="0">
                <a:latin typeface="+mj-ea"/>
              </a:rPr>
              <a:t>信息安全</a:t>
            </a:r>
          </a:p>
        </p:txBody>
      </p:sp>
      <p:grpSp>
        <p:nvGrpSpPr>
          <p:cNvPr id="7" name="组 9">
            <a:extLst>
              <a:ext uri="{FF2B5EF4-FFF2-40B4-BE49-F238E27FC236}">
                <a16:creationId xmlns:a16="http://schemas.microsoft.com/office/drawing/2014/main" id="{8530D1C3-0926-4F10-929A-564C38BF5940}"/>
              </a:ext>
            </a:extLst>
          </p:cNvPr>
          <p:cNvGrpSpPr/>
          <p:nvPr/>
        </p:nvGrpSpPr>
        <p:grpSpPr>
          <a:xfrm>
            <a:off x="511637" y="1769065"/>
            <a:ext cx="244114" cy="244114"/>
            <a:chOff x="6728178" y="1941689"/>
            <a:chExt cx="1016000" cy="1016000"/>
          </a:xfrm>
        </p:grpSpPr>
        <p:sp>
          <p:nvSpPr>
            <p:cNvPr id="8" name="椭圆 7">
              <a:extLst>
                <a:ext uri="{FF2B5EF4-FFF2-40B4-BE49-F238E27FC236}">
                  <a16:creationId xmlns:a16="http://schemas.microsoft.com/office/drawing/2014/main" id="{7BE678A4-56E3-4802-8F37-C4B01D4952C5}"/>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a:extLst>
                <a:ext uri="{FF2B5EF4-FFF2-40B4-BE49-F238E27FC236}">
                  <a16:creationId xmlns:a16="http://schemas.microsoft.com/office/drawing/2014/main" id="{BDDABCD0-537F-48B3-9A8B-B5BAF38DD75F}"/>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0" name="组 9">
            <a:extLst>
              <a:ext uri="{FF2B5EF4-FFF2-40B4-BE49-F238E27FC236}">
                <a16:creationId xmlns:a16="http://schemas.microsoft.com/office/drawing/2014/main" id="{517D3A52-58F5-4A85-AA14-7C7744642DD0}"/>
              </a:ext>
            </a:extLst>
          </p:cNvPr>
          <p:cNvGrpSpPr/>
          <p:nvPr/>
        </p:nvGrpSpPr>
        <p:grpSpPr>
          <a:xfrm>
            <a:off x="471688" y="2650059"/>
            <a:ext cx="244114" cy="244114"/>
            <a:chOff x="6728178" y="1941689"/>
            <a:chExt cx="1016000" cy="1016000"/>
          </a:xfrm>
        </p:grpSpPr>
        <p:sp>
          <p:nvSpPr>
            <p:cNvPr id="11" name="椭圆 10">
              <a:extLst>
                <a:ext uri="{FF2B5EF4-FFF2-40B4-BE49-F238E27FC236}">
                  <a16:creationId xmlns:a16="http://schemas.microsoft.com/office/drawing/2014/main" id="{5E04D0F8-BC93-43BE-B813-1F060145B2AE}"/>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2" name="椭圆 11">
              <a:extLst>
                <a:ext uri="{FF2B5EF4-FFF2-40B4-BE49-F238E27FC236}">
                  <a16:creationId xmlns:a16="http://schemas.microsoft.com/office/drawing/2014/main" id="{3AC02164-73D7-400E-A7BE-BC66F6CC5A19}"/>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3" name="组 9">
            <a:extLst>
              <a:ext uri="{FF2B5EF4-FFF2-40B4-BE49-F238E27FC236}">
                <a16:creationId xmlns:a16="http://schemas.microsoft.com/office/drawing/2014/main" id="{6E7271FA-7DB8-474E-A58E-C52BCF91329F}"/>
              </a:ext>
            </a:extLst>
          </p:cNvPr>
          <p:cNvGrpSpPr/>
          <p:nvPr/>
        </p:nvGrpSpPr>
        <p:grpSpPr>
          <a:xfrm>
            <a:off x="498574" y="3743566"/>
            <a:ext cx="244114" cy="244114"/>
            <a:chOff x="6728178" y="1941689"/>
            <a:chExt cx="1016000" cy="1016000"/>
          </a:xfrm>
        </p:grpSpPr>
        <p:sp>
          <p:nvSpPr>
            <p:cNvPr id="14" name="椭圆 13">
              <a:extLst>
                <a:ext uri="{FF2B5EF4-FFF2-40B4-BE49-F238E27FC236}">
                  <a16:creationId xmlns:a16="http://schemas.microsoft.com/office/drawing/2014/main" id="{DAC3A66E-A5C8-4A8B-8332-73A13636D917}"/>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5" name="椭圆 14">
              <a:extLst>
                <a:ext uri="{FF2B5EF4-FFF2-40B4-BE49-F238E27FC236}">
                  <a16:creationId xmlns:a16="http://schemas.microsoft.com/office/drawing/2014/main" id="{EBF6E01B-A49C-452F-96A2-14D1B791E2F9}"/>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6" name="组 9">
            <a:extLst>
              <a:ext uri="{FF2B5EF4-FFF2-40B4-BE49-F238E27FC236}">
                <a16:creationId xmlns:a16="http://schemas.microsoft.com/office/drawing/2014/main" id="{D0119A59-BA14-4BE2-9862-B4081A304651}"/>
              </a:ext>
            </a:extLst>
          </p:cNvPr>
          <p:cNvGrpSpPr/>
          <p:nvPr/>
        </p:nvGrpSpPr>
        <p:grpSpPr>
          <a:xfrm>
            <a:off x="441555" y="4624560"/>
            <a:ext cx="244114" cy="244114"/>
            <a:chOff x="6728178" y="1941689"/>
            <a:chExt cx="1016000" cy="1016000"/>
          </a:xfrm>
        </p:grpSpPr>
        <p:sp>
          <p:nvSpPr>
            <p:cNvPr id="17" name="椭圆 16">
              <a:extLst>
                <a:ext uri="{FF2B5EF4-FFF2-40B4-BE49-F238E27FC236}">
                  <a16:creationId xmlns:a16="http://schemas.microsoft.com/office/drawing/2014/main" id="{92DF7CE9-2F6C-40A8-AC55-EC92FAB2AF8D}"/>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8" name="椭圆 17">
              <a:extLst>
                <a:ext uri="{FF2B5EF4-FFF2-40B4-BE49-F238E27FC236}">
                  <a16:creationId xmlns:a16="http://schemas.microsoft.com/office/drawing/2014/main" id="{702A8E1E-1A5E-42F8-A84C-AE15FB27A2A2}"/>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Tree>
    <p:extLst>
      <p:ext uri="{BB962C8B-B14F-4D97-AF65-F5344CB8AC3E}">
        <p14:creationId xmlns:p14="http://schemas.microsoft.com/office/powerpoint/2010/main" val="478174638"/>
      </p:ext>
    </p:extLst>
  </p:cSld>
  <p:clrMapOvr>
    <a:masterClrMapping/>
  </p:clrMapOvr>
  <p:transition spd="med">
    <p:pull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8033" y="785092"/>
            <a:ext cx="1902114" cy="692727"/>
          </a:xfrm>
        </p:spPr>
        <p:txBody>
          <a:bodyPr>
            <a:normAutofit/>
          </a:bodyPr>
          <a:lstStyle/>
          <a:p>
            <a:r>
              <a:rPr kumimoji="1" lang="zh-CN" altLang="en-US" sz="2800" b="1" dirty="0">
                <a:latin typeface="宋体" panose="02010600030101010101" pitchFamily="2" charset="-122"/>
                <a:ea typeface="宋体" panose="02010600030101010101" pitchFamily="2" charset="-122"/>
              </a:rPr>
              <a:t>金融领域</a:t>
            </a:r>
          </a:p>
        </p:txBody>
      </p:sp>
      <p:sp>
        <p:nvSpPr>
          <p:cNvPr id="3" name="内容占位符 2"/>
          <p:cNvSpPr>
            <a:spLocks noGrp="1"/>
          </p:cNvSpPr>
          <p:nvPr>
            <p:ph idx="1"/>
          </p:nvPr>
        </p:nvSpPr>
        <p:spPr>
          <a:xfrm>
            <a:off x="781747" y="1797172"/>
            <a:ext cx="7886700" cy="4351338"/>
          </a:xfrm>
        </p:spPr>
        <p:txBody>
          <a:bodyPr>
            <a:normAutofit/>
          </a:bodyPr>
          <a:lstStyle/>
          <a:p>
            <a:pPr marL="0" indent="0">
              <a:buNone/>
            </a:pPr>
            <a:r>
              <a:rPr lang="zh-CN" altLang="en-US" sz="2400" dirty="0">
                <a:latin typeface="宋体" panose="02010600030101010101" pitchFamily="2" charset="-122"/>
                <a:ea typeface="宋体" panose="02010600030101010101" pitchFamily="2" charset="-122"/>
              </a:rPr>
              <a:t>电子加密货币：银行的信息搜集、处理、挖掘能力将成为核心竞争力</a:t>
            </a:r>
          </a:p>
          <a:p>
            <a:pPr marL="0" indent="0">
              <a:buNone/>
            </a:pPr>
            <a:r>
              <a:rPr lang="zh-CN" altLang="en-US" sz="2400" dirty="0">
                <a:latin typeface="宋体" panose="02010600030101010101" pitchFamily="2" charset="-122"/>
                <a:ea typeface="宋体" panose="02010600030101010101" pitchFamily="2" charset="-122"/>
              </a:rPr>
              <a:t>智能合约：让用户提前设定智能交易合约，合约可以根据具体市场环境条件的变化，在适当的时机在区块链网络中自动地、智能地执行 </a:t>
            </a:r>
            <a:endParaRPr lang="en-US" altLang="zh-CN" sz="2400" dirty="0">
              <a:latin typeface="宋体" panose="02010600030101010101" pitchFamily="2" charset="-122"/>
              <a:ea typeface="宋体" panose="02010600030101010101" pitchFamily="2" charset="-122"/>
            </a:endParaRPr>
          </a:p>
          <a:p>
            <a:pPr marL="0" indent="0">
              <a:buNone/>
            </a:pPr>
            <a:r>
              <a:rPr lang="zh-CN" altLang="en-US" sz="2400" dirty="0">
                <a:latin typeface="宋体" panose="02010600030101010101" pitchFamily="2" charset="-122"/>
                <a:ea typeface="宋体" panose="02010600030101010101" pitchFamily="2" charset="-122"/>
              </a:rPr>
              <a:t>智能财产：理论上区块链技术可以用以对任何形式的财产进行登记、储存和交易</a:t>
            </a:r>
          </a:p>
          <a:p>
            <a:pPr marL="0" indent="0">
              <a:buNone/>
            </a:pPr>
            <a:r>
              <a:rPr lang="zh-CN" altLang="en-US" sz="2400" dirty="0">
                <a:latin typeface="宋体" panose="02010600030101010101" pitchFamily="2" charset="-122"/>
                <a:ea typeface="宋体" panose="02010600030101010101" pitchFamily="2" charset="-122"/>
              </a:rPr>
              <a:t>贸易金融：区块链技术有交易即结算的特点，可以利用区块链技术增强原来的信用证贸易模式 </a:t>
            </a:r>
          </a:p>
          <a:p>
            <a:endParaRPr lang="zh-CN" altLang="en-US" sz="2400" dirty="0">
              <a:latin typeface="宋体" panose="02010600030101010101" pitchFamily="2" charset="-122"/>
              <a:ea typeface="宋体" panose="02010600030101010101" pitchFamily="2" charset="-122"/>
            </a:endParaRPr>
          </a:p>
          <a:p>
            <a:endParaRPr lang="zh-CN" altLang="en-US" dirty="0"/>
          </a:p>
          <a:p>
            <a:endParaRPr lang="zh-CN" altLang="en-US" dirty="0"/>
          </a:p>
          <a:p>
            <a:endParaRPr kumimoji="1" lang="zh-CN" altLang="en-US" dirty="0"/>
          </a:p>
        </p:txBody>
      </p:sp>
      <p:sp>
        <p:nvSpPr>
          <p:cNvPr id="4" name="矩形 3">
            <a:extLst>
              <a:ext uri="{FF2B5EF4-FFF2-40B4-BE49-F238E27FC236}">
                <a16:creationId xmlns:a16="http://schemas.microsoft.com/office/drawing/2014/main" id="{8DE68A92-DF10-482C-9D9A-58C483932377}"/>
              </a:ext>
            </a:extLst>
          </p:cNvPr>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矩形 4">
            <a:extLst>
              <a:ext uri="{FF2B5EF4-FFF2-40B4-BE49-F238E27FC236}">
                <a16:creationId xmlns:a16="http://schemas.microsoft.com/office/drawing/2014/main" id="{134CE17A-F3B8-4DE7-BB48-FB1F77F5DB8D}"/>
              </a:ext>
            </a:extLst>
          </p:cNvPr>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6" name="文本框 5">
            <a:extLst>
              <a:ext uri="{FF2B5EF4-FFF2-40B4-BE49-F238E27FC236}">
                <a16:creationId xmlns:a16="http://schemas.microsoft.com/office/drawing/2014/main" id="{1EF7E4EA-5FE8-4298-AB04-CFA2D757CC77}"/>
              </a:ext>
            </a:extLst>
          </p:cNvPr>
          <p:cNvSpPr txBox="1"/>
          <p:nvPr/>
        </p:nvSpPr>
        <p:spPr>
          <a:xfrm>
            <a:off x="355600" y="312856"/>
            <a:ext cx="1351652" cy="307777"/>
          </a:xfrm>
          <a:prstGeom prst="rect">
            <a:avLst/>
          </a:prstGeom>
          <a:noFill/>
        </p:spPr>
        <p:txBody>
          <a:bodyPr wrap="none" rtlCol="0">
            <a:spAutoFit/>
          </a:bodyPr>
          <a:lstStyle/>
          <a:p>
            <a:r>
              <a:rPr lang="zh-CN" altLang="en-US" sz="1400" dirty="0">
                <a:latin typeface="+mj-ea"/>
              </a:rPr>
              <a:t>应用</a:t>
            </a:r>
            <a:r>
              <a:rPr lang="en-US" altLang="zh-CN" sz="1400" dirty="0">
                <a:latin typeface="+mj-ea"/>
              </a:rPr>
              <a:t>-</a:t>
            </a:r>
            <a:r>
              <a:rPr lang="zh-CN" altLang="en-US" sz="1400" dirty="0">
                <a:latin typeface="+mj-ea"/>
              </a:rPr>
              <a:t>金融领域</a:t>
            </a:r>
          </a:p>
        </p:txBody>
      </p:sp>
      <p:grpSp>
        <p:nvGrpSpPr>
          <p:cNvPr id="7" name="组 9">
            <a:extLst>
              <a:ext uri="{FF2B5EF4-FFF2-40B4-BE49-F238E27FC236}">
                <a16:creationId xmlns:a16="http://schemas.microsoft.com/office/drawing/2014/main" id="{19BD0B82-6A4C-4DF3-944B-24DF88D913D9}"/>
              </a:ext>
            </a:extLst>
          </p:cNvPr>
          <p:cNvGrpSpPr/>
          <p:nvPr/>
        </p:nvGrpSpPr>
        <p:grpSpPr>
          <a:xfrm>
            <a:off x="502776" y="1931484"/>
            <a:ext cx="244114" cy="244114"/>
            <a:chOff x="6728178" y="1941689"/>
            <a:chExt cx="1016000" cy="1016000"/>
          </a:xfrm>
        </p:grpSpPr>
        <p:sp>
          <p:nvSpPr>
            <p:cNvPr id="8" name="椭圆 7">
              <a:extLst>
                <a:ext uri="{FF2B5EF4-FFF2-40B4-BE49-F238E27FC236}">
                  <a16:creationId xmlns:a16="http://schemas.microsoft.com/office/drawing/2014/main" id="{84AF313B-912B-4159-BEA0-725DDBD99F5A}"/>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a:extLst>
                <a:ext uri="{FF2B5EF4-FFF2-40B4-BE49-F238E27FC236}">
                  <a16:creationId xmlns:a16="http://schemas.microsoft.com/office/drawing/2014/main" id="{9C927F2A-34E7-4474-BE9C-74D852C4ADBC}"/>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0" name="组 9">
            <a:extLst>
              <a:ext uri="{FF2B5EF4-FFF2-40B4-BE49-F238E27FC236}">
                <a16:creationId xmlns:a16="http://schemas.microsoft.com/office/drawing/2014/main" id="{CA5949D3-E5E9-4849-AB38-116BB5F2D8FC}"/>
              </a:ext>
            </a:extLst>
          </p:cNvPr>
          <p:cNvGrpSpPr/>
          <p:nvPr/>
        </p:nvGrpSpPr>
        <p:grpSpPr>
          <a:xfrm>
            <a:off x="502776" y="2706067"/>
            <a:ext cx="244114" cy="244114"/>
            <a:chOff x="6728178" y="1941689"/>
            <a:chExt cx="1016000" cy="1016000"/>
          </a:xfrm>
        </p:grpSpPr>
        <p:sp>
          <p:nvSpPr>
            <p:cNvPr id="11" name="椭圆 10">
              <a:extLst>
                <a:ext uri="{FF2B5EF4-FFF2-40B4-BE49-F238E27FC236}">
                  <a16:creationId xmlns:a16="http://schemas.microsoft.com/office/drawing/2014/main" id="{F4DD2D13-C8EC-4C2C-A99E-31F37DE22E94}"/>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2" name="椭圆 11">
              <a:extLst>
                <a:ext uri="{FF2B5EF4-FFF2-40B4-BE49-F238E27FC236}">
                  <a16:creationId xmlns:a16="http://schemas.microsoft.com/office/drawing/2014/main" id="{CE8AC84D-A721-49CD-8B6A-5820E1AE05E9}"/>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3" name="组 9">
            <a:extLst>
              <a:ext uri="{FF2B5EF4-FFF2-40B4-BE49-F238E27FC236}">
                <a16:creationId xmlns:a16="http://schemas.microsoft.com/office/drawing/2014/main" id="{9E823CEF-E892-461F-B92C-2BB0CB68FA02}"/>
              </a:ext>
            </a:extLst>
          </p:cNvPr>
          <p:cNvGrpSpPr/>
          <p:nvPr/>
        </p:nvGrpSpPr>
        <p:grpSpPr>
          <a:xfrm>
            <a:off x="501986" y="3764998"/>
            <a:ext cx="244114" cy="244114"/>
            <a:chOff x="6728178" y="1941689"/>
            <a:chExt cx="1016000" cy="1016000"/>
          </a:xfrm>
        </p:grpSpPr>
        <p:sp>
          <p:nvSpPr>
            <p:cNvPr id="14" name="椭圆 13">
              <a:extLst>
                <a:ext uri="{FF2B5EF4-FFF2-40B4-BE49-F238E27FC236}">
                  <a16:creationId xmlns:a16="http://schemas.microsoft.com/office/drawing/2014/main" id="{198F2001-CF72-4AC4-9869-81865662A92B}"/>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5" name="椭圆 14">
              <a:extLst>
                <a:ext uri="{FF2B5EF4-FFF2-40B4-BE49-F238E27FC236}">
                  <a16:creationId xmlns:a16="http://schemas.microsoft.com/office/drawing/2014/main" id="{AA308B4C-44A4-4719-8D90-8A9D2F3D525A}"/>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6" name="组 9">
            <a:extLst>
              <a:ext uri="{FF2B5EF4-FFF2-40B4-BE49-F238E27FC236}">
                <a16:creationId xmlns:a16="http://schemas.microsoft.com/office/drawing/2014/main" id="{33515619-095E-4F5F-8554-49E2B2F9BD56}"/>
              </a:ext>
            </a:extLst>
          </p:cNvPr>
          <p:cNvGrpSpPr/>
          <p:nvPr/>
        </p:nvGrpSpPr>
        <p:grpSpPr>
          <a:xfrm>
            <a:off x="501986" y="4539581"/>
            <a:ext cx="244114" cy="244114"/>
            <a:chOff x="6728178" y="1941689"/>
            <a:chExt cx="1016000" cy="1016000"/>
          </a:xfrm>
        </p:grpSpPr>
        <p:sp>
          <p:nvSpPr>
            <p:cNvPr id="17" name="椭圆 16">
              <a:extLst>
                <a:ext uri="{FF2B5EF4-FFF2-40B4-BE49-F238E27FC236}">
                  <a16:creationId xmlns:a16="http://schemas.microsoft.com/office/drawing/2014/main" id="{E0A00377-49F8-4A10-BFB0-E6DA965E0476}"/>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8" name="椭圆 17">
              <a:extLst>
                <a:ext uri="{FF2B5EF4-FFF2-40B4-BE49-F238E27FC236}">
                  <a16:creationId xmlns:a16="http://schemas.microsoft.com/office/drawing/2014/main" id="{E3FD551B-2CE4-4C85-9254-3E7872C9F6AE}"/>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Tree>
    <p:extLst>
      <p:ext uri="{BB962C8B-B14F-4D97-AF65-F5344CB8AC3E}">
        <p14:creationId xmlns:p14="http://schemas.microsoft.com/office/powerpoint/2010/main" val="9225538"/>
      </p:ext>
    </p:extLst>
  </p:cSld>
  <p:clrMapOvr>
    <a:masterClrMapping/>
  </p:clrMapOvr>
  <p:transition spd="med">
    <p:pull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2541" y="784184"/>
            <a:ext cx="4866986" cy="877889"/>
          </a:xfrm>
        </p:spPr>
        <p:txBody>
          <a:bodyPr>
            <a:normAutofit/>
          </a:bodyPr>
          <a:lstStyle/>
          <a:p>
            <a:r>
              <a:rPr kumimoji="1" lang="zh-CN" altLang="en-US" sz="2800" b="1" dirty="0">
                <a:latin typeface="宋体" panose="02010600030101010101" pitchFamily="2" charset="-122"/>
                <a:ea typeface="宋体" panose="02010600030101010101" pitchFamily="2" charset="-122"/>
              </a:rPr>
              <a:t>物联网存在的问题</a:t>
            </a:r>
          </a:p>
        </p:txBody>
      </p:sp>
      <p:sp>
        <p:nvSpPr>
          <p:cNvPr id="3" name="内容占位符 2"/>
          <p:cNvSpPr>
            <a:spLocks noGrp="1"/>
          </p:cNvSpPr>
          <p:nvPr>
            <p:ph idx="1"/>
          </p:nvPr>
        </p:nvSpPr>
        <p:spPr>
          <a:xfrm>
            <a:off x="846741" y="1821916"/>
            <a:ext cx="7886700" cy="4351338"/>
          </a:xfrm>
        </p:spPr>
        <p:txBody>
          <a:bodyPr/>
          <a:lstStyle/>
          <a:p>
            <a:pPr marL="0" indent="0">
              <a:buNone/>
            </a:pPr>
            <a:r>
              <a:rPr lang="zh-CN" altLang="en-US" sz="2400" dirty="0">
                <a:latin typeface="宋体" panose="02010600030101010101" pitchFamily="2" charset="-122"/>
                <a:ea typeface="宋体" panose="02010600030101010101" pitchFamily="2" charset="-122"/>
              </a:rPr>
              <a:t>物联网的运营成本：物联网架构是由数据汇总到单一的中心控制系统控制，导致中心服务 器在能耗和企业成本支出方面存在巨大压力。 </a:t>
            </a:r>
          </a:p>
          <a:p>
            <a:pPr marL="0" indent="0">
              <a:buNone/>
            </a:pPr>
            <a:r>
              <a:rPr lang="zh-CN" altLang="en-US" sz="2400" dirty="0">
                <a:latin typeface="宋体" panose="02010600030101010101" pitchFamily="2" charset="-122"/>
                <a:ea typeface="宋体" panose="02010600030101010101" pitchFamily="2" charset="-122"/>
              </a:rPr>
              <a:t>隐私保护问题：目前的中心化服务构架将所有的监测数据和控制信号都由中央服务器存储和转发。 </a:t>
            </a:r>
          </a:p>
          <a:p>
            <a:pPr marL="0" indent="0">
              <a:buNone/>
            </a:pPr>
            <a:r>
              <a:rPr lang="zh-CN" altLang="en-US" sz="2400" dirty="0">
                <a:latin typeface="宋体" panose="02010600030101010101" pitchFamily="2" charset="-122"/>
                <a:ea typeface="宋体" panose="02010600030101010101" pitchFamily="2" charset="-122"/>
              </a:rPr>
              <a:t>物联网新的商业模式 ：人们更加希望连入物联网的设备能够具有一定的智能，在给定的规则逻辑下进行自主协作，完成各种具备商业价值 的应用 </a:t>
            </a:r>
          </a:p>
          <a:p>
            <a:endParaRPr kumimoji="1" lang="zh-CN" altLang="en-US" dirty="0"/>
          </a:p>
        </p:txBody>
      </p:sp>
      <p:sp>
        <p:nvSpPr>
          <p:cNvPr id="4" name="矩形 3">
            <a:extLst>
              <a:ext uri="{FF2B5EF4-FFF2-40B4-BE49-F238E27FC236}">
                <a16:creationId xmlns:a16="http://schemas.microsoft.com/office/drawing/2014/main" id="{FD960886-06F5-4A8F-9718-5311BF0BA60A}"/>
              </a:ext>
            </a:extLst>
          </p:cNvPr>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矩形 4">
            <a:extLst>
              <a:ext uri="{FF2B5EF4-FFF2-40B4-BE49-F238E27FC236}">
                <a16:creationId xmlns:a16="http://schemas.microsoft.com/office/drawing/2014/main" id="{2BDE289D-2230-454C-9210-2B03BEDAD867}"/>
              </a:ext>
            </a:extLst>
          </p:cNvPr>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6" name="文本框 5">
            <a:extLst>
              <a:ext uri="{FF2B5EF4-FFF2-40B4-BE49-F238E27FC236}">
                <a16:creationId xmlns:a16="http://schemas.microsoft.com/office/drawing/2014/main" id="{3F3CA6DE-9402-4B8D-8DA6-1F778CDFA104}"/>
              </a:ext>
            </a:extLst>
          </p:cNvPr>
          <p:cNvSpPr txBox="1"/>
          <p:nvPr/>
        </p:nvSpPr>
        <p:spPr>
          <a:xfrm>
            <a:off x="355600" y="312856"/>
            <a:ext cx="1172116" cy="307777"/>
          </a:xfrm>
          <a:prstGeom prst="rect">
            <a:avLst/>
          </a:prstGeom>
          <a:noFill/>
        </p:spPr>
        <p:txBody>
          <a:bodyPr wrap="none" rtlCol="0">
            <a:spAutoFit/>
          </a:bodyPr>
          <a:lstStyle/>
          <a:p>
            <a:r>
              <a:rPr lang="zh-CN" altLang="en-US" sz="1400" dirty="0">
                <a:latin typeface="+mj-ea"/>
              </a:rPr>
              <a:t>应用</a:t>
            </a:r>
            <a:r>
              <a:rPr lang="en-US" altLang="zh-CN" sz="1400" dirty="0">
                <a:latin typeface="+mj-ea"/>
              </a:rPr>
              <a:t>-</a:t>
            </a:r>
            <a:r>
              <a:rPr lang="zh-CN" altLang="en-US" sz="1400" dirty="0">
                <a:latin typeface="+mj-ea"/>
              </a:rPr>
              <a:t>物联网</a:t>
            </a:r>
          </a:p>
        </p:txBody>
      </p:sp>
      <p:grpSp>
        <p:nvGrpSpPr>
          <p:cNvPr id="7" name="组 9">
            <a:extLst>
              <a:ext uri="{FF2B5EF4-FFF2-40B4-BE49-F238E27FC236}">
                <a16:creationId xmlns:a16="http://schemas.microsoft.com/office/drawing/2014/main" id="{A4DCC08E-4B8E-4476-A9FE-844DBD60E8F2}"/>
              </a:ext>
            </a:extLst>
          </p:cNvPr>
          <p:cNvGrpSpPr/>
          <p:nvPr/>
        </p:nvGrpSpPr>
        <p:grpSpPr>
          <a:xfrm>
            <a:off x="529588" y="1947681"/>
            <a:ext cx="244114" cy="244114"/>
            <a:chOff x="6728178" y="1941689"/>
            <a:chExt cx="1016000" cy="1016000"/>
          </a:xfrm>
        </p:grpSpPr>
        <p:sp>
          <p:nvSpPr>
            <p:cNvPr id="8" name="椭圆 7">
              <a:extLst>
                <a:ext uri="{FF2B5EF4-FFF2-40B4-BE49-F238E27FC236}">
                  <a16:creationId xmlns:a16="http://schemas.microsoft.com/office/drawing/2014/main" id="{9447673D-395D-44CE-A849-1D3862E079C3}"/>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a:extLst>
                <a:ext uri="{FF2B5EF4-FFF2-40B4-BE49-F238E27FC236}">
                  <a16:creationId xmlns:a16="http://schemas.microsoft.com/office/drawing/2014/main" id="{2BA42EF1-DF2A-4C3E-B55A-7CE7A372A948}"/>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0" name="组 9">
            <a:extLst>
              <a:ext uri="{FF2B5EF4-FFF2-40B4-BE49-F238E27FC236}">
                <a16:creationId xmlns:a16="http://schemas.microsoft.com/office/drawing/2014/main" id="{CE0FD41B-F100-4478-A364-FF0E6F2CB7F4}"/>
              </a:ext>
            </a:extLst>
          </p:cNvPr>
          <p:cNvGrpSpPr/>
          <p:nvPr/>
        </p:nvGrpSpPr>
        <p:grpSpPr>
          <a:xfrm>
            <a:off x="548246" y="3024735"/>
            <a:ext cx="244114" cy="244114"/>
            <a:chOff x="6728178" y="1941689"/>
            <a:chExt cx="1016000" cy="1016000"/>
          </a:xfrm>
        </p:grpSpPr>
        <p:sp>
          <p:nvSpPr>
            <p:cNvPr id="11" name="椭圆 10">
              <a:extLst>
                <a:ext uri="{FF2B5EF4-FFF2-40B4-BE49-F238E27FC236}">
                  <a16:creationId xmlns:a16="http://schemas.microsoft.com/office/drawing/2014/main" id="{11BDE72F-B586-490B-960E-6CB44440B735}"/>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2" name="椭圆 11">
              <a:extLst>
                <a:ext uri="{FF2B5EF4-FFF2-40B4-BE49-F238E27FC236}">
                  <a16:creationId xmlns:a16="http://schemas.microsoft.com/office/drawing/2014/main" id="{86E1AC1B-58CB-47E6-A259-C9BC3C495EDD}"/>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3" name="组 9">
            <a:extLst>
              <a:ext uri="{FF2B5EF4-FFF2-40B4-BE49-F238E27FC236}">
                <a16:creationId xmlns:a16="http://schemas.microsoft.com/office/drawing/2014/main" id="{BB0ACB83-E6F8-4738-B2BC-4B5917907D2A}"/>
              </a:ext>
            </a:extLst>
          </p:cNvPr>
          <p:cNvGrpSpPr/>
          <p:nvPr/>
        </p:nvGrpSpPr>
        <p:grpSpPr>
          <a:xfrm>
            <a:off x="548246" y="3810109"/>
            <a:ext cx="244114" cy="244114"/>
            <a:chOff x="6728178" y="1941689"/>
            <a:chExt cx="1016000" cy="1016000"/>
          </a:xfrm>
        </p:grpSpPr>
        <p:sp>
          <p:nvSpPr>
            <p:cNvPr id="14" name="椭圆 13">
              <a:extLst>
                <a:ext uri="{FF2B5EF4-FFF2-40B4-BE49-F238E27FC236}">
                  <a16:creationId xmlns:a16="http://schemas.microsoft.com/office/drawing/2014/main" id="{703C3262-3C0C-4D83-B44E-C91CEC1899FC}"/>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5" name="椭圆 14">
              <a:extLst>
                <a:ext uri="{FF2B5EF4-FFF2-40B4-BE49-F238E27FC236}">
                  <a16:creationId xmlns:a16="http://schemas.microsoft.com/office/drawing/2014/main" id="{886AC2D1-5046-45B8-BCC2-7A7630C20E65}"/>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Tree>
    <p:extLst>
      <p:ext uri="{BB962C8B-B14F-4D97-AF65-F5344CB8AC3E}">
        <p14:creationId xmlns:p14="http://schemas.microsoft.com/office/powerpoint/2010/main" val="69046381"/>
      </p:ext>
    </p:extLst>
  </p:cSld>
  <p:clrMapOvr>
    <a:masterClrMapping/>
  </p:clrMapOvr>
  <p:transition spd="med">
    <p:pull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4759" y="875863"/>
            <a:ext cx="4248150" cy="571755"/>
          </a:xfrm>
        </p:spPr>
        <p:txBody>
          <a:bodyPr>
            <a:noAutofit/>
          </a:bodyPr>
          <a:lstStyle/>
          <a:p>
            <a:r>
              <a:rPr kumimoji="1" lang="zh-CN" altLang="en-US" sz="2800" b="1" dirty="0">
                <a:latin typeface="宋体" panose="02010600030101010101" pitchFamily="2" charset="-122"/>
                <a:ea typeface="宋体" panose="02010600030101010101" pitchFamily="2" charset="-122"/>
              </a:rPr>
              <a:t>利用区块链的好处</a:t>
            </a:r>
          </a:p>
        </p:txBody>
      </p:sp>
      <p:sp>
        <p:nvSpPr>
          <p:cNvPr id="3" name="内容占位符 2"/>
          <p:cNvSpPr>
            <a:spLocks noGrp="1"/>
          </p:cNvSpPr>
          <p:nvPr>
            <p:ph idx="1"/>
          </p:nvPr>
        </p:nvSpPr>
        <p:spPr>
          <a:xfrm>
            <a:off x="680445" y="1636814"/>
            <a:ext cx="7886700" cy="3787124"/>
          </a:xfrm>
        </p:spPr>
        <p:txBody>
          <a:bodyPr>
            <a:normAutofit/>
          </a:bodyPr>
          <a:lstStyle/>
          <a:p>
            <a:pPr marL="0" indent="0">
              <a:buNone/>
            </a:pPr>
            <a:r>
              <a:rPr lang="zh-CN" altLang="en-US" sz="2400" dirty="0">
                <a:latin typeface="宋体" panose="02010600030101010101" pitchFamily="2" charset="-122"/>
                <a:ea typeface="宋体" panose="02010600030101010101" pitchFamily="2" charset="-122"/>
              </a:rPr>
              <a:t>降低物联网的运营成本：区块链技术为物联网提供了点对点直接互联的方式进行数据传输，整个物联网解决方案不需要引入大型数据中心进行数据同步和管理控制，包括数据采集、指令发送和软件更新等操作都可以通过区块链的网络进行传输。 </a:t>
            </a:r>
          </a:p>
          <a:p>
            <a:pPr marL="0" indent="0">
              <a:buNone/>
            </a:pPr>
            <a:r>
              <a:rPr lang="zh-CN" altLang="en-US" sz="2400" dirty="0">
                <a:latin typeface="宋体" panose="02010600030101010101" pitchFamily="2" charset="-122"/>
                <a:ea typeface="宋体" panose="02010600030101010101" pitchFamily="2" charset="-122"/>
              </a:rPr>
              <a:t>解决物联网的隐私保护问题：数据不是被单一的云服务提供商控制，并且所有传输的数据都经过严格的加密处理，那么用户的数据和隐私将会更加的安全。 </a:t>
            </a:r>
          </a:p>
          <a:p>
            <a:pPr marL="0" indent="0">
              <a:buNone/>
            </a:pPr>
            <a:r>
              <a:rPr lang="zh-CN" altLang="en-US" sz="2400" dirty="0">
                <a:latin typeface="宋体" panose="02010600030101010101" pitchFamily="2" charset="-122"/>
                <a:ea typeface="宋体" panose="02010600030101010101" pitchFamily="2" charset="-122"/>
              </a:rPr>
              <a:t>利用区块链建立新的商业模式：区块链技术能够提供去信任中介的直接交易 </a:t>
            </a:r>
          </a:p>
          <a:p>
            <a:endParaRPr lang="zh-CN" altLang="en-US" sz="2400" dirty="0">
              <a:latin typeface="宋体" panose="02010600030101010101" pitchFamily="2" charset="-122"/>
              <a:ea typeface="宋体" panose="02010600030101010101" pitchFamily="2" charset="-122"/>
            </a:endParaRPr>
          </a:p>
          <a:p>
            <a:endParaRPr kumimoji="1" lang="zh-CN" altLang="en-US" dirty="0"/>
          </a:p>
        </p:txBody>
      </p:sp>
      <p:sp>
        <p:nvSpPr>
          <p:cNvPr id="4" name="矩形 3">
            <a:extLst>
              <a:ext uri="{FF2B5EF4-FFF2-40B4-BE49-F238E27FC236}">
                <a16:creationId xmlns:a16="http://schemas.microsoft.com/office/drawing/2014/main" id="{DFC21262-4A46-4692-81E8-27076169EE0B}"/>
              </a:ext>
            </a:extLst>
          </p:cNvPr>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矩形 4">
            <a:extLst>
              <a:ext uri="{FF2B5EF4-FFF2-40B4-BE49-F238E27FC236}">
                <a16:creationId xmlns:a16="http://schemas.microsoft.com/office/drawing/2014/main" id="{605D93EC-4823-478D-99CD-BFD5A19288B2}"/>
              </a:ext>
            </a:extLst>
          </p:cNvPr>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6" name="文本框 5">
            <a:extLst>
              <a:ext uri="{FF2B5EF4-FFF2-40B4-BE49-F238E27FC236}">
                <a16:creationId xmlns:a16="http://schemas.microsoft.com/office/drawing/2014/main" id="{946D7925-7263-44F3-BF44-8D0A21FECEF8}"/>
              </a:ext>
            </a:extLst>
          </p:cNvPr>
          <p:cNvSpPr txBox="1"/>
          <p:nvPr/>
        </p:nvSpPr>
        <p:spPr>
          <a:xfrm>
            <a:off x="355600" y="312856"/>
            <a:ext cx="1172116" cy="307777"/>
          </a:xfrm>
          <a:prstGeom prst="rect">
            <a:avLst/>
          </a:prstGeom>
          <a:noFill/>
        </p:spPr>
        <p:txBody>
          <a:bodyPr wrap="none" rtlCol="0">
            <a:spAutoFit/>
          </a:bodyPr>
          <a:lstStyle/>
          <a:p>
            <a:r>
              <a:rPr lang="zh-CN" altLang="en-US" sz="1400" dirty="0">
                <a:latin typeface="+mj-ea"/>
              </a:rPr>
              <a:t>应用</a:t>
            </a:r>
            <a:r>
              <a:rPr lang="en-US" altLang="zh-CN" sz="1400" dirty="0">
                <a:latin typeface="+mj-ea"/>
              </a:rPr>
              <a:t>-</a:t>
            </a:r>
            <a:r>
              <a:rPr lang="zh-CN" altLang="en-US" sz="1400" dirty="0">
                <a:latin typeface="+mj-ea"/>
              </a:rPr>
              <a:t>物联网</a:t>
            </a:r>
          </a:p>
        </p:txBody>
      </p:sp>
      <p:grpSp>
        <p:nvGrpSpPr>
          <p:cNvPr id="7" name="组 9">
            <a:extLst>
              <a:ext uri="{FF2B5EF4-FFF2-40B4-BE49-F238E27FC236}">
                <a16:creationId xmlns:a16="http://schemas.microsoft.com/office/drawing/2014/main" id="{C54FF01C-51F8-4049-83AF-49A0E18DC441}"/>
              </a:ext>
            </a:extLst>
          </p:cNvPr>
          <p:cNvGrpSpPr/>
          <p:nvPr/>
        </p:nvGrpSpPr>
        <p:grpSpPr>
          <a:xfrm>
            <a:off x="399877" y="3484196"/>
            <a:ext cx="244114" cy="244114"/>
            <a:chOff x="6728178" y="1941689"/>
            <a:chExt cx="1016000" cy="1016000"/>
          </a:xfrm>
        </p:grpSpPr>
        <p:sp>
          <p:nvSpPr>
            <p:cNvPr id="8" name="椭圆 7">
              <a:extLst>
                <a:ext uri="{FF2B5EF4-FFF2-40B4-BE49-F238E27FC236}">
                  <a16:creationId xmlns:a16="http://schemas.microsoft.com/office/drawing/2014/main" id="{8D152063-DD8E-4479-BF3B-1871E16EC30C}"/>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9" name="椭圆 8">
              <a:extLst>
                <a:ext uri="{FF2B5EF4-FFF2-40B4-BE49-F238E27FC236}">
                  <a16:creationId xmlns:a16="http://schemas.microsoft.com/office/drawing/2014/main" id="{5D1E5BD2-870D-4FD2-8F7C-D71127E4D9B8}"/>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0" name="组 9">
            <a:extLst>
              <a:ext uri="{FF2B5EF4-FFF2-40B4-BE49-F238E27FC236}">
                <a16:creationId xmlns:a16="http://schemas.microsoft.com/office/drawing/2014/main" id="{581D46E1-17C4-4AF6-BF16-B0C12D358684}"/>
              </a:ext>
            </a:extLst>
          </p:cNvPr>
          <p:cNvGrpSpPr/>
          <p:nvPr/>
        </p:nvGrpSpPr>
        <p:grpSpPr>
          <a:xfrm>
            <a:off x="403008" y="1764804"/>
            <a:ext cx="244114" cy="244114"/>
            <a:chOff x="6728178" y="1941689"/>
            <a:chExt cx="1016000" cy="1016000"/>
          </a:xfrm>
        </p:grpSpPr>
        <p:sp>
          <p:nvSpPr>
            <p:cNvPr id="11" name="椭圆 10">
              <a:extLst>
                <a:ext uri="{FF2B5EF4-FFF2-40B4-BE49-F238E27FC236}">
                  <a16:creationId xmlns:a16="http://schemas.microsoft.com/office/drawing/2014/main" id="{A3561D4A-0549-419F-BF21-D8534FCD1292}"/>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2" name="椭圆 11">
              <a:extLst>
                <a:ext uri="{FF2B5EF4-FFF2-40B4-BE49-F238E27FC236}">
                  <a16:creationId xmlns:a16="http://schemas.microsoft.com/office/drawing/2014/main" id="{28E0513F-6032-46FC-9793-CCD4CDB12CC9}"/>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grpSp>
        <p:nvGrpSpPr>
          <p:cNvPr id="13" name="组 9">
            <a:extLst>
              <a:ext uri="{FF2B5EF4-FFF2-40B4-BE49-F238E27FC236}">
                <a16:creationId xmlns:a16="http://schemas.microsoft.com/office/drawing/2014/main" id="{4F412850-4D4E-49B4-8497-3DF444959585}"/>
              </a:ext>
            </a:extLst>
          </p:cNvPr>
          <p:cNvGrpSpPr/>
          <p:nvPr/>
        </p:nvGrpSpPr>
        <p:grpSpPr>
          <a:xfrm>
            <a:off x="403704" y="4623817"/>
            <a:ext cx="244114" cy="244114"/>
            <a:chOff x="6728178" y="1941689"/>
            <a:chExt cx="1016000" cy="1016000"/>
          </a:xfrm>
        </p:grpSpPr>
        <p:sp>
          <p:nvSpPr>
            <p:cNvPr id="14" name="椭圆 13">
              <a:extLst>
                <a:ext uri="{FF2B5EF4-FFF2-40B4-BE49-F238E27FC236}">
                  <a16:creationId xmlns:a16="http://schemas.microsoft.com/office/drawing/2014/main" id="{379580B0-0236-4F3C-82BA-3A4F088F3D37}"/>
                </a:ext>
              </a:extLst>
            </p:cNvPr>
            <p:cNvSpPr/>
            <p:nvPr/>
          </p:nvSpPr>
          <p:spPr>
            <a:xfrm>
              <a:off x="6728178" y="1941689"/>
              <a:ext cx="1016000" cy="1016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sp>
          <p:nvSpPr>
            <p:cNvPr id="15" name="椭圆 14">
              <a:extLst>
                <a:ext uri="{FF2B5EF4-FFF2-40B4-BE49-F238E27FC236}">
                  <a16:creationId xmlns:a16="http://schemas.microsoft.com/office/drawing/2014/main" id="{0A666587-1AC6-4115-A343-99DF2BD80910}"/>
                </a:ext>
              </a:extLst>
            </p:cNvPr>
            <p:cNvSpPr/>
            <p:nvPr/>
          </p:nvSpPr>
          <p:spPr>
            <a:xfrm>
              <a:off x="6902411" y="2170290"/>
              <a:ext cx="558801" cy="55880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Heiti SC Light" charset="-122"/>
                <a:ea typeface="Heiti SC Light" charset="-122"/>
                <a:cs typeface="Heiti SC Light" charset="-122"/>
              </a:endParaRPr>
            </a:p>
          </p:txBody>
        </p:sp>
      </p:grpSp>
    </p:spTree>
    <p:extLst>
      <p:ext uri="{BB962C8B-B14F-4D97-AF65-F5344CB8AC3E}">
        <p14:creationId xmlns:p14="http://schemas.microsoft.com/office/powerpoint/2010/main" val="958411685"/>
      </p:ext>
    </p:extLst>
  </p:cSld>
  <p:clrMapOvr>
    <a:masterClrMapping/>
  </p:clrMapOvr>
  <p:transition spd="med">
    <p:pull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699310" y="2711506"/>
            <a:ext cx="2040944" cy="830997"/>
          </a:xfrm>
          <a:prstGeom prst="rect">
            <a:avLst/>
          </a:prstGeom>
          <a:noFill/>
        </p:spPr>
        <p:txBody>
          <a:bodyPr wrap="none" rtlCol="0">
            <a:spAutoFit/>
          </a:bodyPr>
          <a:lstStyle/>
          <a:p>
            <a:pPr algn="ctr"/>
            <a:r>
              <a:rPr kumimoji="1" lang="zh-CN" altLang="en-US" sz="4800" b="1" dirty="0">
                <a:latin typeface="黑体" charset="0"/>
                <a:ea typeface="黑体" charset="0"/>
                <a:cs typeface="Heiti SC Light" charset="-122"/>
              </a:rPr>
              <a:t>谢谢！</a:t>
            </a:r>
          </a:p>
        </p:txBody>
      </p:sp>
      <p:sp>
        <p:nvSpPr>
          <p:cNvPr id="7" name="矩形 6"/>
          <p:cNvSpPr/>
          <p:nvPr/>
        </p:nvSpPr>
        <p:spPr>
          <a:xfrm rot="2489354">
            <a:off x="464939" y="-522209"/>
            <a:ext cx="247577" cy="2953719"/>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矩形 7"/>
          <p:cNvSpPr/>
          <p:nvPr/>
        </p:nvSpPr>
        <p:spPr>
          <a:xfrm rot="2489354">
            <a:off x="282907" y="-695230"/>
            <a:ext cx="247577" cy="2953720"/>
          </a:xfrm>
          <a:prstGeom prst="rect">
            <a:avLst/>
          </a:prstGeom>
          <a:solidFill>
            <a:srgbClr val="76D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1" name="矩形 10"/>
          <p:cNvSpPr/>
          <p:nvPr/>
        </p:nvSpPr>
        <p:spPr>
          <a:xfrm rot="2489354">
            <a:off x="8783441" y="4615562"/>
            <a:ext cx="247577" cy="2953719"/>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2" name="矩形 11"/>
          <p:cNvSpPr/>
          <p:nvPr/>
        </p:nvSpPr>
        <p:spPr>
          <a:xfrm rot="2489354">
            <a:off x="8601409" y="4452543"/>
            <a:ext cx="247577" cy="2953720"/>
          </a:xfrm>
          <a:prstGeom prst="rect">
            <a:avLst/>
          </a:prstGeom>
          <a:solidFill>
            <a:srgbClr val="76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 name="文本框 1"/>
          <p:cNvSpPr txBox="1"/>
          <p:nvPr/>
        </p:nvSpPr>
        <p:spPr>
          <a:xfrm>
            <a:off x="3189478" y="3721263"/>
            <a:ext cx="3300904" cy="369332"/>
          </a:xfrm>
          <a:prstGeom prst="rect">
            <a:avLst/>
          </a:prstGeom>
          <a:noFill/>
        </p:spPr>
        <p:txBody>
          <a:bodyPr wrap="none" rtlCol="0">
            <a:spAutoFit/>
          </a:bodyPr>
          <a:lstStyle/>
          <a:p>
            <a:r>
              <a:rPr lang="zh-CN" altLang="en-US" i="1" dirty="0">
                <a:latin typeface="黑体" panose="02010609060101010101" pitchFamily="49" charset="-122"/>
                <a:ea typeface="黑体" panose="02010609060101010101" pitchFamily="49" charset="-122"/>
              </a:rPr>
              <a:t>王乃琪  黄雪茹 </a:t>
            </a:r>
            <a:r>
              <a:rPr lang="en-US" altLang="zh-CN" i="1" dirty="0">
                <a:latin typeface="黑体" panose="02010609060101010101" pitchFamily="49" charset="-122"/>
                <a:ea typeface="黑体" panose="02010609060101010101" pitchFamily="49" charset="-122"/>
              </a:rPr>
              <a:t>| 2018.12.22</a:t>
            </a:r>
            <a:endParaRPr lang="zh-CN" altLang="en-US" i="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7906448"/>
      </p:ext>
    </p:extLst>
  </p:cSld>
  <p:clrMapOvr>
    <a:masterClrMapping/>
  </p:clrMapOvr>
  <p:transition spd="med">
    <p:pull dir="u"/>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1227</TotalTime>
  <Words>1501</Words>
  <Application>Microsoft Office PowerPoint</Application>
  <PresentationFormat>全屏显示(4:3)</PresentationFormat>
  <Paragraphs>178</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Heiti SC Light</vt:lpstr>
      <vt:lpstr>等线</vt:lpstr>
      <vt:lpstr>等线 Light</vt:lpstr>
      <vt:lpstr>仿宋</vt:lpstr>
      <vt:lpstr>黑体</vt:lpstr>
      <vt:lpstr>宋体</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区块链应用 </vt:lpstr>
      <vt:lpstr>区块链安全性分析</vt:lpstr>
      <vt:lpstr>信息安全领域应用</vt:lpstr>
      <vt:lpstr>金融领域</vt:lpstr>
      <vt:lpstr>物联网存在的问题</vt:lpstr>
      <vt:lpstr>利用区块链的好处</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reeves Lee</dc:creator>
  <cp:lastModifiedBy>雪茹 黄</cp:lastModifiedBy>
  <cp:revision>403</cp:revision>
  <dcterms:created xsi:type="dcterms:W3CDTF">2016-06-09T22:46:00Z</dcterms:created>
  <dcterms:modified xsi:type="dcterms:W3CDTF">2018-12-22T02:26:32Z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2052-10.1.0.5601</vt:lpwstr>
  </property>
</Properties>
</file>